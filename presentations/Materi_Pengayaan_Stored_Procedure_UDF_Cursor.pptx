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Selamat datang di modul pengayaan Sistem Manajemen Basis Data Lanjut (SMBD Lanjut). Pada sesi ini mahasiswa akan mempelajari cara membangun logika bisnis di sisi RDBMS MySQL menggunakan Stored Procedure, UDF, Cursor, dan Error Handling pada basis data minimarket 3NF.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Tekankan kepada mahasiswa bahwa keuntungan terbesar Stored Routine terletak pada berkurangnya traffic bolak-balik antara server aplikasi dan database. Kasir cukup mengirim 'CALL sp_Checkout(...)' daripada 5 kueri terpisah.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Ingatkan aturan MySQL: Function tidak boleh melakukan INSERT/UPDATE/DELETE jika dipanggil dari SELECT. Jika butuh mengubah data tabel, wajib gunakan Stored Procedure.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Jelaskan pentingnya klausa DELIMITER $$ agar MySQL tidak mengartikan titik koma di dalam fungsi sebagai akhir kueri.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Tekankan bahwa variabel session di MySQL menggunakan simbol '@' (contoh: @total, @bonus). Parameter OUT dan INOUT wajib dipanggil menggunakan variabel session ini.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Ingatkan perbedaan END IF; dan END CASE; yang wajib diakhiri titik koma di blok BEGIN...END.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Jelaskan urutan deklarasi variabel di MySQL: variabel biasa dulu, lalu CURSOR, baru kemudian HANDLER. Urutan ini tidak boleh terbalik.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Tekankan bahwa penanganan galat terstruktur mencegah aplikasi crash tanpa pesan yang jelas saat terjadi kesalahan integritas data.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Jelaskan mengapa Nonota dan KodeProduk dijadikan Composite Primary Key pada itemnota untuk mencegah duplikasi item belanja di nota yang sama.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Tekankan prinsip ACID. Stored procedure adalah tempat ideal untuk membungkus transaksi bisnis agar tidak bocor ke sisi klien.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Mahasiswa wajib mengerjakan minimal Soal 1 s.d. Soal 8. Soal 9 dan 10 adalah nilai pengayaan khusus bagi praktikan yang ingin mendapatkan nilai sempurna 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Perhatikan apakah mahasiswa menggunakan SELECT INTO atau cursor. Jika hanya butuh kalkulasi agregat SUM, ingatkan bahwa kueri agregat murni jauh lebih cepat daripada membuat cursor loop.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B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914400"/>
            <a:ext cx="10728655" cy="4937760"/>
          </a:xfrm>
          <a:prstGeom prst="roundRect">
            <a:avLst/>
          </a:prstGeom>
          <a:solidFill>
            <a:srgbClr val="0C1324"/>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188720"/>
            <a:ext cx="8229600" cy="365760"/>
          </a:xfrm>
          <a:prstGeom prst="rect">
            <a:avLst/>
          </a:prstGeom>
          <a:noFill/>
        </p:spPr>
        <p:txBody>
          <a:bodyPr wrap="none">
            <a:spAutoFit/>
          </a:bodyPr>
          <a:lstStyle/>
          <a:p>
            <a:pPr>
              <a:defRPr sz="1050" b="1">
                <a:solidFill>
                  <a:srgbClr val="00E5FF"/>
                </a:solidFill>
                <a:latin typeface="JetBrains Mono"/>
              </a:defRPr>
            </a:pPr>
            <a:r>
              <a:t>SISTEM INFORMASI 2024/2025 · SMBD LANJUT · UNIVERSITAS AMIKOM YOGYAKARTA</a:t>
            </a:r>
          </a:p>
        </p:txBody>
      </p:sp>
      <p:sp>
        <p:nvSpPr>
          <p:cNvPr id="5" name="TextBox 4"/>
          <p:cNvSpPr txBox="1"/>
          <p:nvPr/>
        </p:nvSpPr>
        <p:spPr>
          <a:xfrm>
            <a:off x="1097280" y="1645920"/>
            <a:ext cx="9875520" cy="1463040"/>
          </a:xfrm>
          <a:prstGeom prst="rect">
            <a:avLst/>
          </a:prstGeom>
          <a:noFill/>
        </p:spPr>
        <p:txBody>
          <a:bodyPr wrap="square">
            <a:spAutoFit/>
          </a:bodyPr>
          <a:lstStyle/>
          <a:p>
            <a:pPr>
              <a:defRPr sz="3200" b="1">
                <a:solidFill>
                  <a:srgbClr val="FFFFFF"/>
                </a:solidFill>
                <a:latin typeface="Plus Jakarta Sans"/>
              </a:defRPr>
            </a:pPr>
            <a:r>
              <a:t>Pemrograman Prosedural Database:</a:t>
            </a:r>
            <a:br/>
            <a:r>
              <a:t>Stored Procedure, UDF &amp; Cursor</a:t>
            </a:r>
          </a:p>
        </p:txBody>
      </p:sp>
      <p:sp>
        <p:nvSpPr>
          <p:cNvPr id="6" name="TextBox 5"/>
          <p:cNvSpPr txBox="1"/>
          <p:nvPr/>
        </p:nvSpPr>
        <p:spPr>
          <a:xfrm>
            <a:off x="1097280" y="3291840"/>
            <a:ext cx="9601200" cy="822960"/>
          </a:xfrm>
          <a:prstGeom prst="rect">
            <a:avLst/>
          </a:prstGeom>
          <a:noFill/>
        </p:spPr>
        <p:txBody>
          <a:bodyPr wrap="square">
            <a:spAutoFit/>
          </a:bodyPr>
          <a:lstStyle/>
          <a:p>
            <a:pPr>
              <a:defRPr sz="1300">
                <a:solidFill>
                  <a:srgbClr val="D1DDF0"/>
                </a:solidFill>
                <a:latin typeface="Inter"/>
              </a:defRPr>
            </a:pPr>
            <a:r>
              <a:t>Penyusunan logika bisnis terpusat di sisi server (RDBMS): User Defined Function (UDF), Stored Procedure dengan parameter IN/OUT/INOUT, iterasi baris per baris dengan CURSOR, dan penanganan galat terstruktur (SIGNAL SQLSTATE &amp; HANDLER) pada kasus ritel minimarket 3NF.</a:t>
            </a:r>
          </a:p>
        </p:txBody>
      </p:sp>
      <p:sp>
        <p:nvSpPr>
          <p:cNvPr id="7" name="Rounded Rectangle 6"/>
          <p:cNvSpPr/>
          <p:nvPr/>
        </p:nvSpPr>
        <p:spPr>
          <a:xfrm>
            <a:off x="1097280" y="4297680"/>
            <a:ext cx="3108960" cy="822960"/>
          </a:xfrm>
          <a:prstGeom prst="roundRect">
            <a:avLst/>
          </a:prstGeom>
          <a:solidFill>
            <a:srgbClr val="121C36"/>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a:solidFill>
                  <a:srgbClr val="94A3B8"/>
                </a:solidFill>
                <a:latin typeface="JetBrains Mono"/>
              </a:defRPr>
            </a:pPr>
            <a:r>
              <a:t>MATERI PRAKTIKUM</a:t>
            </a:r>
          </a:p>
          <a:p>
            <a:pPr>
              <a:defRPr sz="1250" b="1">
                <a:solidFill>
                  <a:srgbClr val="FFFFFF"/>
                </a:solidFill>
                <a:latin typeface="Plus Jakarta Sans"/>
              </a:defRPr>
            </a:pPr>
            <a:r>
              <a:t>Pengayaan Praktikum 4</a:t>
            </a:r>
          </a:p>
        </p:txBody>
      </p:sp>
      <p:sp>
        <p:nvSpPr>
          <p:cNvPr id="8" name="Rounded Rectangle 7"/>
          <p:cNvSpPr/>
          <p:nvPr/>
        </p:nvSpPr>
        <p:spPr>
          <a:xfrm>
            <a:off x="4389120" y="4297680"/>
            <a:ext cx="3108960" cy="822960"/>
          </a:xfrm>
          <a:prstGeom prst="roundRect">
            <a:avLst/>
          </a:prstGeom>
          <a:solidFill>
            <a:srgbClr val="121C36"/>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a:solidFill>
                  <a:srgbClr val="94A3B8"/>
                </a:solidFill>
                <a:latin typeface="JetBrains Mono"/>
              </a:defRPr>
            </a:pPr>
            <a:r>
              <a:t>STUDI KASUS RITEL</a:t>
            </a:r>
          </a:p>
          <a:p>
            <a:pPr>
              <a:defRPr sz="1250" b="1">
                <a:solidFill>
                  <a:srgbClr val="FFFFFF"/>
                </a:solidFill>
                <a:latin typeface="Plus Jakarta Sans"/>
              </a:defRPr>
            </a:pPr>
            <a:r>
              <a:t>Otomasi Nota &amp; Stok 3NF</a:t>
            </a:r>
          </a:p>
        </p:txBody>
      </p:sp>
      <p:sp>
        <p:nvSpPr>
          <p:cNvPr id="9" name="Rounded Rectangle 8"/>
          <p:cNvSpPr/>
          <p:nvPr/>
        </p:nvSpPr>
        <p:spPr>
          <a:xfrm>
            <a:off x="7680960" y="4297680"/>
            <a:ext cx="3108960" cy="822960"/>
          </a:xfrm>
          <a:prstGeom prst="roundRect">
            <a:avLst/>
          </a:prstGeom>
          <a:solidFill>
            <a:srgbClr val="121C36"/>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a:solidFill>
                  <a:srgbClr val="94A3B8"/>
                </a:solidFill>
                <a:latin typeface="JetBrains Mono"/>
              </a:defRPr>
            </a:pPr>
            <a:r>
              <a:t>TANTANGAN TUGAS</a:t>
            </a:r>
          </a:p>
          <a:p>
            <a:pPr>
              <a:defRPr sz="1250" b="1">
                <a:solidFill>
                  <a:srgbClr val="FFFFFF"/>
                </a:solidFill>
                <a:latin typeface="Plus Jakarta Sans"/>
              </a:defRPr>
            </a:pPr>
            <a:r>
              <a:t>10 Soal Bertingkat + Kunci Solusi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B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329184"/>
          </a:xfrm>
          <a:prstGeom prst="roundRect">
            <a:avLst/>
          </a:prstGeom>
          <a:solidFill>
            <a:srgbClr val="0C1E3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0E5FF"/>
                </a:solidFill>
                <a:latin typeface="JetBrains Mono"/>
              </a:defRPr>
            </a:pPr>
            <a:r>
              <a:t>● 01 · ARSITEKTUR RUTIN</a:t>
            </a:r>
          </a:p>
        </p:txBody>
      </p:sp>
      <p:sp>
        <p:nvSpPr>
          <p:cNvPr id="4" name="TextBox 3"/>
          <p:cNvSpPr txBox="1"/>
          <p:nvPr/>
        </p:nvSpPr>
        <p:spPr>
          <a:xfrm>
            <a:off x="731520" y="713232"/>
            <a:ext cx="10698480" cy="640080"/>
          </a:xfrm>
          <a:prstGeom prst="rect">
            <a:avLst/>
          </a:prstGeom>
          <a:noFill/>
        </p:spPr>
        <p:txBody>
          <a:bodyPr wrap="square">
            <a:spAutoFit/>
          </a:bodyPr>
          <a:lstStyle/>
          <a:p>
            <a:pPr>
              <a:defRPr sz="2200" b="1">
                <a:solidFill>
                  <a:srgbClr val="FFFFFF"/>
                </a:solidFill>
                <a:latin typeface="Plus Jakarta Sans"/>
              </a:defRPr>
            </a:pPr>
            <a:r>
              <a:t>Mengapa Memindahkan Logika ke Sisi Server?</a:t>
            </a:r>
          </a:p>
        </p:txBody>
      </p:sp>
      <p:sp>
        <p:nvSpPr>
          <p:cNvPr id="5" name="TextBox 4"/>
          <p:cNvSpPr txBox="1"/>
          <p:nvPr/>
        </p:nvSpPr>
        <p:spPr>
          <a:xfrm>
            <a:off x="731520" y="1298448"/>
            <a:ext cx="10698480" cy="347472"/>
          </a:xfrm>
          <a:prstGeom prst="rect">
            <a:avLst/>
          </a:prstGeom>
          <a:noFill/>
        </p:spPr>
        <p:txBody>
          <a:bodyPr wrap="square">
            <a:spAutoFit/>
          </a:bodyPr>
          <a:lstStyle/>
          <a:p>
            <a:pPr>
              <a:defRPr sz="1150">
                <a:solidFill>
                  <a:srgbClr val="94A3B8"/>
                </a:solidFill>
                <a:latin typeface="Inter"/>
              </a:defRPr>
            </a:pPr>
            <a:r>
              <a:t>Stored Routine memindahkan beban eksekusi dari aplikasi klien langsung ke memori database engine.</a:t>
            </a:r>
          </a:p>
        </p:txBody>
      </p:sp>
      <p:sp>
        <p:nvSpPr>
          <p:cNvPr id="6" name="TextBox 5"/>
          <p:cNvSpPr txBox="1"/>
          <p:nvPr/>
        </p:nvSpPr>
        <p:spPr>
          <a:xfrm>
            <a:off x="731520" y="6400800"/>
            <a:ext cx="10698480" cy="292608"/>
          </a:xfrm>
          <a:prstGeom prst="rect">
            <a:avLst/>
          </a:prstGeom>
          <a:noFill/>
        </p:spPr>
        <p:txBody>
          <a:bodyPr wrap="none">
            <a:spAutoFit/>
          </a:bodyPr>
          <a:lstStyle/>
          <a:p>
            <a:pPr>
              <a:defRPr sz="950">
                <a:solidFill>
                  <a:srgbClr val="94A3B8"/>
                </a:solidFill>
                <a:latin typeface="Inter"/>
              </a:defRPr>
            </a:pPr>
            <a:r>
              <a:t>SMBD Lanjut · Laboratorium Sistem Informasi Universitas Amikom Yogyakarta</a:t>
            </a:r>
          </a:p>
        </p:txBody>
      </p:sp>
      <p:sp>
        <p:nvSpPr>
          <p:cNvPr id="7" name="Rounded Rectangle 6"/>
          <p:cNvSpPr/>
          <p:nvPr/>
        </p:nvSpPr>
        <p:spPr>
          <a:xfrm>
            <a:off x="731520" y="1828800"/>
            <a:ext cx="2542032" cy="411480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965960"/>
            <a:ext cx="2212848" cy="3840480"/>
          </a:xfrm>
          <a:prstGeom prst="rect">
            <a:avLst/>
          </a:prstGeom>
          <a:noFill/>
        </p:spPr>
        <p:txBody>
          <a:bodyPr wrap="square">
            <a:spAutoFit/>
          </a:bodyPr>
          <a:lstStyle/>
          <a:p>
            <a:r>
              <a:rPr sz="1100" b="1">
                <a:solidFill>
                  <a:srgbClr val="00E5FF"/>
                </a:solidFill>
                <a:latin typeface="JetBrains Mono"/>
              </a:rPr>
              <a:t>[01] </a:t>
            </a:r>
            <a:r>
              <a:rPr sz="1250" b="1">
                <a:solidFill>
                  <a:srgbClr val="FFFFFF"/>
                </a:solidFill>
                <a:latin typeface="Plus Jakarta Sans"/>
              </a:rPr>
              <a:t>Reduksi Latensi Jaringan</a:t>
            </a:r>
          </a:p>
          <a:p>
            <a:pPr>
              <a:spcBef>
                <a:spcPts val="800"/>
              </a:spcBef>
            </a:pPr>
            <a:r>
              <a:rPr sz="1000">
                <a:solidFill>
                  <a:srgbClr val="D1DDF0"/>
                </a:solidFill>
                <a:latin typeface="Inter"/>
              </a:rPr>
              <a:t>Menggantikan belasan kueri SELECT dan UPDATE bolak-balik jaringan menjadi satu perintah CALL, memangkas network latency secara drastis.</a:t>
            </a:r>
          </a:p>
        </p:txBody>
      </p:sp>
      <p:sp>
        <p:nvSpPr>
          <p:cNvPr id="9" name="Rounded Rectangle 8"/>
          <p:cNvSpPr/>
          <p:nvPr/>
        </p:nvSpPr>
        <p:spPr>
          <a:xfrm>
            <a:off x="3456432" y="1828800"/>
            <a:ext cx="2542032" cy="411480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21024" y="1965960"/>
            <a:ext cx="2212848" cy="3840480"/>
          </a:xfrm>
          <a:prstGeom prst="rect">
            <a:avLst/>
          </a:prstGeom>
          <a:noFill/>
        </p:spPr>
        <p:txBody>
          <a:bodyPr wrap="square">
            <a:spAutoFit/>
          </a:bodyPr>
          <a:lstStyle/>
          <a:p>
            <a:r>
              <a:rPr sz="1100" b="1">
                <a:solidFill>
                  <a:srgbClr val="00E5FF"/>
                </a:solidFill>
                <a:latin typeface="JetBrains Mono"/>
              </a:rPr>
              <a:t>[02] </a:t>
            </a:r>
            <a:r>
              <a:rPr sz="1250" b="1">
                <a:solidFill>
                  <a:srgbClr val="FFFFFF"/>
                </a:solidFill>
                <a:latin typeface="Plus Jakarta Sans"/>
              </a:rPr>
              <a:t>Logika Terpusat &amp; Konsisten</a:t>
            </a:r>
          </a:p>
          <a:p>
            <a:pPr>
              <a:spcBef>
                <a:spcPts val="800"/>
              </a:spcBef>
            </a:pPr>
            <a:r>
              <a:rPr sz="1000">
                <a:solidFill>
                  <a:srgbClr val="D1DDF0"/>
                </a:solidFill>
                <a:latin typeface="Inter"/>
              </a:rPr>
              <a:t>Formula bisnis (diskon, aturan poin member, batas stok) didefinisikan satu kali di database; seluruh aplikasi kasir (desktop/web/mobile) menggunakan aturan seragam.</a:t>
            </a:r>
          </a:p>
        </p:txBody>
      </p:sp>
      <p:sp>
        <p:nvSpPr>
          <p:cNvPr id="11" name="Rounded Rectangle 10"/>
          <p:cNvSpPr/>
          <p:nvPr/>
        </p:nvSpPr>
        <p:spPr>
          <a:xfrm>
            <a:off x="6181344" y="1828800"/>
            <a:ext cx="2542032" cy="411480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45936" y="1965960"/>
            <a:ext cx="2212848" cy="3840480"/>
          </a:xfrm>
          <a:prstGeom prst="rect">
            <a:avLst/>
          </a:prstGeom>
          <a:noFill/>
        </p:spPr>
        <p:txBody>
          <a:bodyPr wrap="square">
            <a:spAutoFit/>
          </a:bodyPr>
          <a:lstStyle/>
          <a:p>
            <a:r>
              <a:rPr sz="1100" b="1">
                <a:solidFill>
                  <a:srgbClr val="00E5FF"/>
                </a:solidFill>
                <a:latin typeface="JetBrains Mono"/>
              </a:rPr>
              <a:t>[03] </a:t>
            </a:r>
            <a:r>
              <a:rPr sz="1250" b="1">
                <a:solidFill>
                  <a:srgbClr val="FFFFFF"/>
                </a:solidFill>
                <a:latin typeface="Plus Jakarta Sans"/>
              </a:rPr>
              <a:t>Execution Plan Caching</a:t>
            </a:r>
          </a:p>
          <a:p>
            <a:pPr>
              <a:spcBef>
                <a:spcPts val="800"/>
              </a:spcBef>
            </a:pPr>
            <a:r>
              <a:rPr sz="1000">
                <a:solidFill>
                  <a:srgbClr val="D1DDF0"/>
                </a:solidFill>
                <a:latin typeface="Inter"/>
              </a:rPr>
              <a:t>Rencana eksekusi (*execution plan*) dikompilasi satu kali dan disimpan di memori buffer RDBMS. Eksekusi berikutnya berjalan instan tanpa parsing kueri ulang.</a:t>
            </a:r>
          </a:p>
        </p:txBody>
      </p:sp>
      <p:sp>
        <p:nvSpPr>
          <p:cNvPr id="13" name="Rounded Rectangle 12"/>
          <p:cNvSpPr/>
          <p:nvPr/>
        </p:nvSpPr>
        <p:spPr>
          <a:xfrm>
            <a:off x="8906256" y="1828800"/>
            <a:ext cx="2542032" cy="411480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70848" y="1965960"/>
            <a:ext cx="2212848" cy="3840480"/>
          </a:xfrm>
          <a:prstGeom prst="rect">
            <a:avLst/>
          </a:prstGeom>
          <a:noFill/>
        </p:spPr>
        <p:txBody>
          <a:bodyPr wrap="square">
            <a:spAutoFit/>
          </a:bodyPr>
          <a:lstStyle/>
          <a:p>
            <a:r>
              <a:rPr sz="1100" b="1">
                <a:solidFill>
                  <a:srgbClr val="00E5FF"/>
                </a:solidFill>
                <a:latin typeface="JetBrains Mono"/>
              </a:rPr>
              <a:t>[04] </a:t>
            </a:r>
            <a:r>
              <a:rPr sz="1250" b="1">
                <a:solidFill>
                  <a:srgbClr val="FFFFFF"/>
                </a:solidFill>
                <a:latin typeface="Plus Jakarta Sans"/>
              </a:rPr>
              <a:t>Isolasi Izin Akses &amp; Keamanan</a:t>
            </a:r>
          </a:p>
          <a:p>
            <a:pPr>
              <a:spcBef>
                <a:spcPts val="800"/>
              </a:spcBef>
            </a:pPr>
            <a:r>
              <a:rPr sz="1000">
                <a:solidFill>
                  <a:srgbClr val="D1DDF0"/>
                </a:solidFill>
                <a:latin typeface="Inter"/>
              </a:rPr>
              <a:t>Kasir cukup diberi izin EXECUTE pada procedure penjualan tanpa diberi izin langsung mengubah tabel master produk dan kasir fisik.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B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329184"/>
          </a:xfrm>
          <a:prstGeom prst="roundRect">
            <a:avLst/>
          </a:prstGeom>
          <a:solidFill>
            <a:srgbClr val="0C1E3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0E5FF"/>
                </a:solidFill>
                <a:latin typeface="JetBrains Mono"/>
              </a:defRPr>
            </a:pPr>
            <a:r>
              <a:t>● 02 · KOMPARASI HAKIKI</a:t>
            </a:r>
          </a:p>
        </p:txBody>
      </p:sp>
      <p:sp>
        <p:nvSpPr>
          <p:cNvPr id="4" name="TextBox 3"/>
          <p:cNvSpPr txBox="1"/>
          <p:nvPr/>
        </p:nvSpPr>
        <p:spPr>
          <a:xfrm>
            <a:off x="731520" y="713232"/>
            <a:ext cx="10698480" cy="640080"/>
          </a:xfrm>
          <a:prstGeom prst="rect">
            <a:avLst/>
          </a:prstGeom>
          <a:noFill/>
        </p:spPr>
        <p:txBody>
          <a:bodyPr wrap="square">
            <a:spAutoFit/>
          </a:bodyPr>
          <a:lstStyle/>
          <a:p>
            <a:pPr>
              <a:defRPr sz="2200" b="1">
                <a:solidFill>
                  <a:srgbClr val="FFFFFF"/>
                </a:solidFill>
                <a:latin typeface="Plus Jakarta Sans"/>
              </a:defRPr>
            </a:pPr>
            <a:r>
              <a:t>Perbedaan Hakiki: Function vs Procedure</a:t>
            </a:r>
          </a:p>
        </p:txBody>
      </p:sp>
      <p:sp>
        <p:nvSpPr>
          <p:cNvPr id="5" name="TextBox 4"/>
          <p:cNvSpPr txBox="1"/>
          <p:nvPr/>
        </p:nvSpPr>
        <p:spPr>
          <a:xfrm>
            <a:off x="731520" y="1298448"/>
            <a:ext cx="10698480" cy="347472"/>
          </a:xfrm>
          <a:prstGeom prst="rect">
            <a:avLst/>
          </a:prstGeom>
          <a:noFill/>
        </p:spPr>
        <p:txBody>
          <a:bodyPr wrap="square">
            <a:spAutoFit/>
          </a:bodyPr>
          <a:lstStyle/>
          <a:p>
            <a:pPr>
              <a:defRPr sz="1150">
                <a:solidFill>
                  <a:srgbClr val="94A3B8"/>
                </a:solidFill>
                <a:latin typeface="Inter"/>
              </a:defRPr>
            </a:pPr>
            <a:r>
              <a:t>Meskipun sama-sama blok kode terkompilasi, keduanya memiliki batasan arsitektural yang berbeda:</a:t>
            </a:r>
          </a:p>
        </p:txBody>
      </p:sp>
      <p:sp>
        <p:nvSpPr>
          <p:cNvPr id="6" name="TextBox 5"/>
          <p:cNvSpPr txBox="1"/>
          <p:nvPr/>
        </p:nvSpPr>
        <p:spPr>
          <a:xfrm>
            <a:off x="731520" y="6400800"/>
            <a:ext cx="10698480" cy="292608"/>
          </a:xfrm>
          <a:prstGeom prst="rect">
            <a:avLst/>
          </a:prstGeom>
          <a:noFill/>
        </p:spPr>
        <p:txBody>
          <a:bodyPr wrap="none">
            <a:spAutoFit/>
          </a:bodyPr>
          <a:lstStyle/>
          <a:p>
            <a:pPr>
              <a:defRPr sz="950">
                <a:solidFill>
                  <a:srgbClr val="94A3B8"/>
                </a:solidFill>
                <a:latin typeface="Inter"/>
              </a:defRPr>
            </a:pPr>
            <a:r>
              <a:t>SMBD Lanjut · Laboratorium Sistem Informasi Universitas Amikom Yogyakarta</a:t>
            </a:r>
          </a:p>
        </p:txBody>
      </p:sp>
      <p:graphicFrame>
        <p:nvGraphicFramePr>
          <p:cNvPr id="7" name="Table 6"/>
          <p:cNvGraphicFramePr>
            <a:graphicFrameLocks noGrp="1"/>
          </p:cNvGraphicFramePr>
          <p:nvPr/>
        </p:nvGraphicFramePr>
        <p:xfrm>
          <a:off x="731520" y="1828800"/>
          <a:ext cx="10716768" cy="4023360"/>
        </p:xfrm>
        <a:graphic>
          <a:graphicData uri="http://schemas.openxmlformats.org/drawingml/2006/table">
            <a:tbl>
              <a:tblPr firstRow="1" bandRow="1">
                <a:tableStyleId>{5C22544A-7EE6-4342-B048-85BDC9FD1C3A}</a:tableStyleId>
              </a:tblPr>
              <a:tblGrid>
                <a:gridCol w="2560320"/>
                <a:gridCol w="4078224"/>
                <a:gridCol w="4078224"/>
              </a:tblGrid>
              <a:tr h="804672">
                <a:tc>
                  <a:txBody>
                    <a:bodyPr/>
                    <a:lstStyle/>
                    <a:p>
                      <a:pPr algn="l"/>
                      <a:r>
                        <a:rPr sz="1100" b="1">
                          <a:solidFill>
                            <a:srgbClr val="00E5FF"/>
                          </a:solidFill>
                          <a:latin typeface="Plus Jakarta Sans"/>
                        </a:rPr>
                        <a:t>Parameter Karakteristik</a:t>
                      </a:r>
                    </a:p>
                  </a:txBody>
                  <a:tcPr>
                    <a:solidFill>
                      <a:srgbClr val="182646"/>
                    </a:solidFill>
                  </a:tcPr>
                </a:tc>
                <a:tc>
                  <a:txBody>
                    <a:bodyPr/>
                    <a:lstStyle/>
                    <a:p>
                      <a:pPr algn="l"/>
                      <a:r>
                        <a:rPr sz="1100" b="1">
                          <a:solidFill>
                            <a:srgbClr val="00E5FF"/>
                          </a:solidFill>
                          <a:latin typeface="Plus Jakarta Sans"/>
                        </a:rPr>
                        <a:t>User Defined Function (UDF)</a:t>
                      </a:r>
                    </a:p>
                  </a:txBody>
                  <a:tcPr>
                    <a:solidFill>
                      <a:srgbClr val="182646"/>
                    </a:solidFill>
                  </a:tcPr>
                </a:tc>
                <a:tc>
                  <a:txBody>
                    <a:bodyPr/>
                    <a:lstStyle/>
                    <a:p>
                      <a:pPr algn="l"/>
                      <a:r>
                        <a:rPr sz="1100" b="1">
                          <a:solidFill>
                            <a:srgbClr val="00E5FF"/>
                          </a:solidFill>
                          <a:latin typeface="Plus Jakarta Sans"/>
                        </a:rPr>
                        <a:t>Stored Procedure</a:t>
                      </a:r>
                    </a:p>
                  </a:txBody>
                  <a:tcPr>
                    <a:solidFill>
                      <a:srgbClr val="182646"/>
                    </a:solidFill>
                  </a:tcPr>
                </a:tc>
              </a:tr>
              <a:tr h="804672">
                <a:tc>
                  <a:txBody>
                    <a:bodyPr/>
                    <a:lstStyle/>
                    <a:p>
                      <a:pPr algn="l"/>
                      <a:r>
                        <a:rPr sz="1000" b="1">
                          <a:solidFill>
                            <a:srgbClr val="FFFFFF"/>
                          </a:solidFill>
                          <a:latin typeface="Inter"/>
                        </a:rPr>
                        <a:t>Nilai Kembalian (Return)</a:t>
                      </a:r>
                    </a:p>
                  </a:txBody>
                  <a:tcPr>
                    <a:solidFill>
                      <a:srgbClr val="0F172A"/>
                    </a:solidFill>
                  </a:tcPr>
                </a:tc>
                <a:tc>
                  <a:txBody>
                    <a:bodyPr/>
                    <a:lstStyle/>
                    <a:p>
                      <a:pPr algn="l"/>
                      <a:r>
                        <a:rPr sz="1000">
                          <a:solidFill>
                            <a:srgbClr val="F1F5F9"/>
                          </a:solidFill>
                          <a:latin typeface="Inter"/>
                        </a:rPr>
                        <a:t>Wajib 1 nilai skalar via klausa RETURNS &amp; RETURN.</a:t>
                      </a:r>
                    </a:p>
                  </a:txBody>
                  <a:tcPr>
                    <a:solidFill>
                      <a:srgbClr val="0F172A"/>
                    </a:solidFill>
                  </a:tcPr>
                </a:tc>
                <a:tc>
                  <a:txBody>
                    <a:bodyPr/>
                    <a:lstStyle/>
                    <a:p>
                      <a:pPr algn="l"/>
                      <a:r>
                        <a:rPr sz="1000">
                          <a:solidFill>
                            <a:srgbClr val="F1F5F9"/>
                          </a:solidFill>
                          <a:latin typeface="Inter"/>
                        </a:rPr>
                        <a:t>Tidak memiliki return langsung; lewat parameter OUT / INOUT / result set.</a:t>
                      </a:r>
                    </a:p>
                  </a:txBody>
                  <a:tcPr>
                    <a:solidFill>
                      <a:srgbClr val="0F172A"/>
                    </a:solidFill>
                  </a:tcPr>
                </a:tc>
              </a:tr>
              <a:tr h="804672">
                <a:tc>
                  <a:txBody>
                    <a:bodyPr/>
                    <a:lstStyle/>
                    <a:p>
                      <a:pPr algn="l"/>
                      <a:r>
                        <a:rPr sz="1000" b="1">
                          <a:solidFill>
                            <a:srgbClr val="FFFFFF"/>
                          </a:solidFill>
                          <a:latin typeface="Inter"/>
                        </a:rPr>
                        <a:t>Metode Pemanggilan</a:t>
                      </a:r>
                    </a:p>
                  </a:txBody>
                  <a:tcPr>
                    <a:solidFill>
                      <a:srgbClr val="131D34"/>
                    </a:solidFill>
                  </a:tcPr>
                </a:tc>
                <a:tc>
                  <a:txBody>
                    <a:bodyPr/>
                    <a:lstStyle/>
                    <a:p>
                      <a:pPr algn="l"/>
                      <a:r>
                        <a:rPr sz="1000">
                          <a:solidFill>
                            <a:srgbClr val="F1F5F9"/>
                          </a:solidFill>
                          <a:latin typeface="Inter"/>
                        </a:rPr>
                        <a:t>Dipanggil di dalam ekspresi kueri SQL biasa (SELECT fc(), WHERE fc() &gt; 0).</a:t>
                      </a:r>
                    </a:p>
                  </a:txBody>
                  <a:tcPr>
                    <a:solidFill>
                      <a:srgbClr val="131D34"/>
                    </a:solidFill>
                  </a:tcPr>
                </a:tc>
                <a:tc>
                  <a:txBody>
                    <a:bodyPr/>
                    <a:lstStyle/>
                    <a:p>
                      <a:pPr algn="l"/>
                      <a:r>
                        <a:rPr sz="1000">
                          <a:solidFill>
                            <a:srgbClr val="F1F5F9"/>
                          </a:solidFill>
                          <a:latin typeface="Inter"/>
                        </a:rPr>
                        <a:t>Dipanggil secara mandiri sebagai perintah terpisah: CALL sp_name(argumen);.</a:t>
                      </a:r>
                    </a:p>
                  </a:txBody>
                  <a:tcPr>
                    <a:solidFill>
                      <a:srgbClr val="131D34"/>
                    </a:solidFill>
                  </a:tcPr>
                </a:tc>
              </a:tr>
              <a:tr h="804672">
                <a:tc>
                  <a:txBody>
                    <a:bodyPr/>
                    <a:lstStyle/>
                    <a:p>
                      <a:pPr algn="l"/>
                      <a:r>
                        <a:rPr sz="1000" b="1">
                          <a:solidFill>
                            <a:srgbClr val="FFFFFF"/>
                          </a:solidFill>
                          <a:latin typeface="Inter"/>
                        </a:rPr>
                        <a:t>Manipulasi Fisik (DML)</a:t>
                      </a:r>
                    </a:p>
                  </a:txBody>
                  <a:tcPr>
                    <a:solidFill>
                      <a:srgbClr val="0F172A"/>
                    </a:solidFill>
                  </a:tcPr>
                </a:tc>
                <a:tc>
                  <a:txBody>
                    <a:bodyPr/>
                    <a:lstStyle/>
                    <a:p>
                      <a:pPr algn="l"/>
                      <a:r>
                        <a:rPr sz="1000">
                          <a:solidFill>
                            <a:srgbClr val="F1F5F9"/>
                          </a:solidFill>
                          <a:latin typeface="Inter"/>
                        </a:rPr>
                        <a:t>Sangat dibatasi; dilarang mengubah state tabel (INSERT/UPDATE/DELETE) pada kueri baca.</a:t>
                      </a:r>
                    </a:p>
                  </a:txBody>
                  <a:tcPr>
                    <a:solidFill>
                      <a:srgbClr val="0F172A"/>
                    </a:solidFill>
                  </a:tcPr>
                </a:tc>
                <a:tc>
                  <a:txBody>
                    <a:bodyPr/>
                    <a:lstStyle/>
                    <a:p>
                      <a:pPr algn="l"/>
                      <a:r>
                        <a:rPr sz="1000">
                          <a:solidFill>
                            <a:srgbClr val="F1F5F9"/>
                          </a:solidFill>
                          <a:latin typeface="Inter"/>
                        </a:rPr>
                        <a:t>Bebas DML penuh; dapat memutasi data, transaksi COMMIT/ROLLBACK, dan dynamic SQL.</a:t>
                      </a:r>
                    </a:p>
                  </a:txBody>
                  <a:tcPr>
                    <a:solidFill>
                      <a:srgbClr val="0F172A"/>
                    </a:solidFill>
                  </a:tcPr>
                </a:tc>
              </a:tr>
              <a:tr h="804672">
                <a:tc>
                  <a:txBody>
                    <a:bodyPr/>
                    <a:lstStyle/>
                    <a:p>
                      <a:pPr algn="l"/>
                      <a:r>
                        <a:rPr sz="1000" b="1">
                          <a:solidFill>
                            <a:srgbClr val="FFFFFF"/>
                          </a:solidFill>
                          <a:latin typeface="Inter"/>
                        </a:rPr>
                        <a:t>Fokus Penggunaan</a:t>
                      </a:r>
                    </a:p>
                  </a:txBody>
                  <a:tcPr>
                    <a:solidFill>
                      <a:srgbClr val="131D34"/>
                    </a:solidFill>
                  </a:tcPr>
                </a:tc>
                <a:tc>
                  <a:txBody>
                    <a:bodyPr/>
                    <a:lstStyle/>
                    <a:p>
                      <a:pPr algn="l"/>
                      <a:r>
                        <a:rPr sz="1000">
                          <a:solidFill>
                            <a:srgbClr val="F1F5F9"/>
                          </a:solidFill>
                          <a:latin typeface="Inter"/>
                        </a:rPr>
                        <a:t>Kalkulasi skalar, format teks, konversi mata uang, atau generator kode unik.</a:t>
                      </a:r>
                    </a:p>
                  </a:txBody>
                  <a:tcPr>
                    <a:solidFill>
                      <a:srgbClr val="131D34"/>
                    </a:solidFill>
                  </a:tcPr>
                </a:tc>
                <a:tc>
                  <a:txBody>
                    <a:bodyPr/>
                    <a:lstStyle/>
                    <a:p>
                      <a:pPr algn="l"/>
                      <a:r>
                        <a:rPr sz="1000">
                          <a:solidFill>
                            <a:srgbClr val="F1F5F9"/>
                          </a:solidFill>
                          <a:latin typeface="Inter"/>
                        </a:rPr>
                        <a:t>Alur kerja transaksi multi-tabel, batch processing berkala, dan otomasi checkout kasir.</a:t>
                      </a:r>
                    </a:p>
                  </a:txBody>
                  <a:tcPr>
                    <a:solidFill>
                      <a:srgbClr val="131D34"/>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B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329184"/>
          </a:xfrm>
          <a:prstGeom prst="roundRect">
            <a:avLst/>
          </a:prstGeom>
          <a:solidFill>
            <a:srgbClr val="0C1E3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0E5FF"/>
                </a:solidFill>
                <a:latin typeface="JetBrains Mono"/>
              </a:defRPr>
            </a:pPr>
            <a:r>
              <a:t>● 03 · FUNCTION (UDF)</a:t>
            </a:r>
          </a:p>
        </p:txBody>
      </p:sp>
      <p:sp>
        <p:nvSpPr>
          <p:cNvPr id="4" name="TextBox 3"/>
          <p:cNvSpPr txBox="1"/>
          <p:nvPr/>
        </p:nvSpPr>
        <p:spPr>
          <a:xfrm>
            <a:off x="731520" y="713232"/>
            <a:ext cx="10698480" cy="640080"/>
          </a:xfrm>
          <a:prstGeom prst="rect">
            <a:avLst/>
          </a:prstGeom>
          <a:noFill/>
        </p:spPr>
        <p:txBody>
          <a:bodyPr wrap="square">
            <a:spAutoFit/>
          </a:bodyPr>
          <a:lstStyle/>
          <a:p>
            <a:pPr>
              <a:defRPr sz="2200" b="1">
                <a:solidFill>
                  <a:srgbClr val="FFFFFF"/>
                </a:solidFill>
                <a:latin typeface="Plus Jakarta Sans"/>
              </a:defRPr>
            </a:pPr>
            <a:r>
              <a:t>Anatomi &amp; Karakteristik User Defined Function</a:t>
            </a:r>
          </a:p>
        </p:txBody>
      </p:sp>
      <p:sp>
        <p:nvSpPr>
          <p:cNvPr id="5" name="TextBox 4"/>
          <p:cNvSpPr txBox="1"/>
          <p:nvPr/>
        </p:nvSpPr>
        <p:spPr>
          <a:xfrm>
            <a:off x="731520" y="1298448"/>
            <a:ext cx="10698480" cy="347472"/>
          </a:xfrm>
          <a:prstGeom prst="rect">
            <a:avLst/>
          </a:prstGeom>
          <a:noFill/>
        </p:spPr>
        <p:txBody>
          <a:bodyPr wrap="square">
            <a:spAutoFit/>
          </a:bodyPr>
          <a:lstStyle/>
          <a:p>
            <a:pPr>
              <a:defRPr sz="1150">
                <a:solidFill>
                  <a:srgbClr val="94A3B8"/>
                </a:solidFill>
                <a:latin typeface="Inter"/>
              </a:defRPr>
            </a:pPr>
            <a:r>
              <a:t>Fungsi skalar mengolah nilai input dan menghasilkan tepat satu nilai keluaran.</a:t>
            </a:r>
          </a:p>
        </p:txBody>
      </p:sp>
      <p:sp>
        <p:nvSpPr>
          <p:cNvPr id="6" name="TextBox 5"/>
          <p:cNvSpPr txBox="1"/>
          <p:nvPr/>
        </p:nvSpPr>
        <p:spPr>
          <a:xfrm>
            <a:off x="731520" y="6400800"/>
            <a:ext cx="10698480" cy="292608"/>
          </a:xfrm>
          <a:prstGeom prst="rect">
            <a:avLst/>
          </a:prstGeom>
          <a:noFill/>
        </p:spPr>
        <p:txBody>
          <a:bodyPr wrap="none">
            <a:spAutoFit/>
          </a:bodyPr>
          <a:lstStyle/>
          <a:p>
            <a:pPr>
              <a:defRPr sz="950">
                <a:solidFill>
                  <a:srgbClr val="94A3B8"/>
                </a:solidFill>
                <a:latin typeface="Inter"/>
              </a:defRPr>
            </a:pPr>
            <a:r>
              <a:t>SMBD Lanjut · Laboratorium Sistem Informasi Universitas Amikom Yogyakarta</a:t>
            </a:r>
          </a:p>
        </p:txBody>
      </p:sp>
      <p:sp>
        <p:nvSpPr>
          <p:cNvPr id="7" name="Rounded Rectangle 6"/>
          <p:cNvSpPr/>
          <p:nvPr/>
        </p:nvSpPr>
        <p:spPr>
          <a:xfrm>
            <a:off x="731520" y="1828800"/>
            <a:ext cx="6217920" cy="4114800"/>
          </a:xfrm>
          <a:prstGeom prst="roundRect">
            <a:avLst/>
          </a:prstGeom>
          <a:solidFill>
            <a:srgbClr val="03071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83664"/>
            <a:ext cx="5943600" cy="256032"/>
          </a:xfrm>
          <a:prstGeom prst="rect">
            <a:avLst/>
          </a:prstGeom>
          <a:noFill/>
        </p:spPr>
        <p:txBody>
          <a:bodyPr wrap="none">
            <a:spAutoFit/>
          </a:bodyPr>
          <a:lstStyle/>
          <a:p>
            <a:pPr>
              <a:defRPr sz="950" b="1">
                <a:solidFill>
                  <a:srgbClr val="00E5FF"/>
                </a:solidFill>
                <a:latin typeface="JetBrains Mono"/>
              </a:defRPr>
            </a:pPr>
            <a:r>
              <a:t>Terminal / SQL: fcHitungDiskon.sql</a:t>
            </a:r>
          </a:p>
        </p:txBody>
      </p:sp>
      <p:sp>
        <p:nvSpPr>
          <p:cNvPr id="9" name="TextBox 8"/>
          <p:cNvSpPr txBox="1"/>
          <p:nvPr/>
        </p:nvSpPr>
        <p:spPr>
          <a:xfrm>
            <a:off x="868680" y="2148840"/>
            <a:ext cx="5943600" cy="3749040"/>
          </a:xfrm>
          <a:prstGeom prst="rect">
            <a:avLst/>
          </a:prstGeom>
          <a:noFill/>
        </p:spPr>
        <p:txBody>
          <a:bodyPr wrap="square">
            <a:spAutoFit/>
          </a:bodyPr>
          <a:lstStyle/>
          <a:p>
            <a:r>
              <a:rPr sz="850">
                <a:solidFill>
                  <a:srgbClr val="E2E8F0"/>
                </a:solidFill>
                <a:latin typeface="JetBrains Mono"/>
              </a:rPr>
              <a:t>DELIMITER $$
CREATE FUNCTION fcHitungDiskon(
    p_total INT,
    p_poin  INT
)
RETURNS DECIMAL(10,2)
DETERMINISTIC
NO SQL
BEGIN
    DECLARE v_diskon DECIMAL(10,2) DEFAULT 0.00;
    IF p_poin &gt;= 50 THEN
        SET v_diskon = p_total * 0.10; -- Diskon 10%
    ELSEIF p_poin &gt;= 20 THEN
        SET v_diskon = p_total * 0.05; -- Diskon 5%
    END IF;
    RETURN v_diskon;
END$$
DELIMITER ;
-- Pemanggilan UDF dalam Kueri SQL Biasa:
SELECT Nonota, fcHitungDiskon(150000, 35) AS diskon FROM nota;</a:t>
            </a:r>
          </a:p>
        </p:txBody>
      </p:sp>
      <p:sp>
        <p:nvSpPr>
          <p:cNvPr id="10" name="Rounded Rectangle 9"/>
          <p:cNvSpPr/>
          <p:nvPr/>
        </p:nvSpPr>
        <p:spPr>
          <a:xfrm>
            <a:off x="7132320" y="1828800"/>
            <a:ext cx="4297680" cy="192024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96912" y="1965960"/>
            <a:ext cx="3968496" cy="1645920"/>
          </a:xfrm>
          <a:prstGeom prst="rect">
            <a:avLst/>
          </a:prstGeom>
          <a:noFill/>
        </p:spPr>
        <p:txBody>
          <a:bodyPr wrap="square">
            <a:spAutoFit/>
          </a:bodyPr>
          <a:lstStyle/>
          <a:p>
            <a:r>
              <a:rPr sz="1250" b="1">
                <a:solidFill>
                  <a:srgbClr val="FFFFFF"/>
                </a:solidFill>
                <a:latin typeface="Plus Jakarta Sans"/>
              </a:rPr>
              <a:t>Klausa DETERMINISTIC</a:t>
            </a:r>
          </a:p>
          <a:p>
            <a:pPr>
              <a:spcBef>
                <a:spcPts val="800"/>
              </a:spcBef>
            </a:pPr>
            <a:r>
              <a:rPr sz="1000">
                <a:solidFill>
                  <a:srgbClr val="D1DDF0"/>
                </a:solidFill>
                <a:latin typeface="Inter"/>
              </a:rPr>
              <a:t>Wajib dideklarasikan pada sistem dengan replikasi binlog aktif. DETERMINISTIC menyatakan bahwa input yang sama selalu menghasilkan output yang sama persis.</a:t>
            </a:r>
          </a:p>
        </p:txBody>
      </p:sp>
      <p:sp>
        <p:nvSpPr>
          <p:cNvPr id="12" name="Rounded Rectangle 11"/>
          <p:cNvSpPr/>
          <p:nvPr/>
        </p:nvSpPr>
        <p:spPr>
          <a:xfrm>
            <a:off x="7132320" y="3931920"/>
            <a:ext cx="4297680" cy="201168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96912" y="4069080"/>
            <a:ext cx="3968496" cy="1737360"/>
          </a:xfrm>
          <a:prstGeom prst="rect">
            <a:avLst/>
          </a:prstGeom>
          <a:noFill/>
        </p:spPr>
        <p:txBody>
          <a:bodyPr wrap="square">
            <a:spAutoFit/>
          </a:bodyPr>
          <a:lstStyle/>
          <a:p>
            <a:r>
              <a:rPr sz="1250" b="1">
                <a:solidFill>
                  <a:srgbClr val="FFFFFF"/>
                </a:solidFill>
                <a:latin typeface="Plus Jakarta Sans"/>
              </a:rPr>
              <a:t>Kategori Akses SQL</a:t>
            </a:r>
          </a:p>
          <a:p>
            <a:pPr>
              <a:spcBef>
                <a:spcPts val="800"/>
              </a:spcBef>
            </a:pPr>
            <a:r>
              <a:rPr sz="1000">
                <a:solidFill>
                  <a:srgbClr val="D1DDF0"/>
                </a:solidFill>
                <a:latin typeface="Inter"/>
              </a:rPr>
              <a:t>• NO SQL: fungsi murni tanpa akses data tabel.
• READS SQL DATA: fungsi membaca data tabel via SELECT INTO.
• MODIFIES SQL DATA: memodifikasi data (hanya diizinkan di procedure).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B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329184"/>
          </a:xfrm>
          <a:prstGeom prst="roundRect">
            <a:avLst/>
          </a:prstGeom>
          <a:solidFill>
            <a:srgbClr val="0C1E3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0E5FF"/>
                </a:solidFill>
                <a:latin typeface="JetBrains Mono"/>
              </a:defRPr>
            </a:pPr>
            <a:r>
              <a:t>● 04 · PARAMETER SP</a:t>
            </a:r>
          </a:p>
        </p:txBody>
      </p:sp>
      <p:sp>
        <p:nvSpPr>
          <p:cNvPr id="4" name="TextBox 3"/>
          <p:cNvSpPr txBox="1"/>
          <p:nvPr/>
        </p:nvSpPr>
        <p:spPr>
          <a:xfrm>
            <a:off x="731520" y="713232"/>
            <a:ext cx="10698480" cy="640080"/>
          </a:xfrm>
          <a:prstGeom prst="rect">
            <a:avLst/>
          </a:prstGeom>
          <a:noFill/>
        </p:spPr>
        <p:txBody>
          <a:bodyPr wrap="square">
            <a:spAutoFit/>
          </a:bodyPr>
          <a:lstStyle/>
          <a:p>
            <a:pPr>
              <a:defRPr sz="2200" b="1">
                <a:solidFill>
                  <a:srgbClr val="FFFFFF"/>
                </a:solidFill>
                <a:latin typeface="Plus Jakarta Sans"/>
              </a:defRPr>
            </a:pPr>
            <a:r>
              <a:t>Mode Parameter Stored Procedure: IN, OUT &amp; INOUT</a:t>
            </a:r>
          </a:p>
        </p:txBody>
      </p:sp>
      <p:sp>
        <p:nvSpPr>
          <p:cNvPr id="5" name="TextBox 4"/>
          <p:cNvSpPr txBox="1"/>
          <p:nvPr/>
        </p:nvSpPr>
        <p:spPr>
          <a:xfrm>
            <a:off x="731520" y="1298448"/>
            <a:ext cx="10698480" cy="347472"/>
          </a:xfrm>
          <a:prstGeom prst="rect">
            <a:avLst/>
          </a:prstGeom>
          <a:noFill/>
        </p:spPr>
        <p:txBody>
          <a:bodyPr wrap="square">
            <a:spAutoFit/>
          </a:bodyPr>
          <a:lstStyle/>
          <a:p>
            <a:pPr>
              <a:defRPr sz="1150">
                <a:solidFill>
                  <a:srgbClr val="94A3B8"/>
                </a:solidFill>
                <a:latin typeface="Inter"/>
              </a:defRPr>
            </a:pPr>
            <a:r>
              <a:t>Mekanisme pertukaran data antara pemanggil (caller) dan server prosedur database.</a:t>
            </a:r>
          </a:p>
        </p:txBody>
      </p:sp>
      <p:sp>
        <p:nvSpPr>
          <p:cNvPr id="6" name="TextBox 5"/>
          <p:cNvSpPr txBox="1"/>
          <p:nvPr/>
        </p:nvSpPr>
        <p:spPr>
          <a:xfrm>
            <a:off x="731520" y="6400800"/>
            <a:ext cx="10698480" cy="292608"/>
          </a:xfrm>
          <a:prstGeom prst="rect">
            <a:avLst/>
          </a:prstGeom>
          <a:noFill/>
        </p:spPr>
        <p:txBody>
          <a:bodyPr wrap="none">
            <a:spAutoFit/>
          </a:bodyPr>
          <a:lstStyle/>
          <a:p>
            <a:pPr>
              <a:defRPr sz="950">
                <a:solidFill>
                  <a:srgbClr val="94A3B8"/>
                </a:solidFill>
                <a:latin typeface="Inter"/>
              </a:defRPr>
            </a:pPr>
            <a:r>
              <a:t>SMBD Lanjut · Laboratorium Sistem Informasi Universitas Amikom Yogyakarta</a:t>
            </a:r>
          </a:p>
        </p:txBody>
      </p:sp>
      <p:sp>
        <p:nvSpPr>
          <p:cNvPr id="7" name="Rounded Rectangle 6"/>
          <p:cNvSpPr/>
          <p:nvPr/>
        </p:nvSpPr>
        <p:spPr>
          <a:xfrm>
            <a:off x="731520" y="1828800"/>
            <a:ext cx="3456432" cy="201168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965960"/>
            <a:ext cx="3127248" cy="1737360"/>
          </a:xfrm>
          <a:prstGeom prst="rect">
            <a:avLst/>
          </a:prstGeom>
          <a:noFill/>
        </p:spPr>
        <p:txBody>
          <a:bodyPr wrap="square">
            <a:spAutoFit/>
          </a:bodyPr>
          <a:lstStyle/>
          <a:p>
            <a:r>
              <a:rPr sz="1100" b="1">
                <a:solidFill>
                  <a:srgbClr val="00E5FF"/>
                </a:solidFill>
                <a:latin typeface="JetBrains Mono"/>
              </a:rPr>
              <a:t>[IN] </a:t>
            </a:r>
            <a:r>
              <a:rPr sz="1250" b="1">
                <a:solidFill>
                  <a:srgbClr val="FFFFFF"/>
                </a:solidFill>
                <a:latin typeface="Plus Jakarta Sans"/>
              </a:rPr>
              <a:t>IN (Input Param)</a:t>
            </a:r>
          </a:p>
          <a:p>
            <a:pPr>
              <a:spcBef>
                <a:spcPts val="800"/>
              </a:spcBef>
            </a:pPr>
            <a:r>
              <a:rPr sz="1000">
                <a:solidFill>
                  <a:srgbClr val="D1DDF0"/>
                </a:solidFill>
                <a:latin typeface="Inter"/>
              </a:rPr>
              <a:t>Bersifat Pass-by-Value (read-only). Nilai dikirim oleh caller ke dalam prosedur. Prosedur dapat mengubah variabel lokalnya, tetapi nilai variabel pemanggil di luar tidak berubah.</a:t>
            </a:r>
          </a:p>
        </p:txBody>
      </p:sp>
      <p:sp>
        <p:nvSpPr>
          <p:cNvPr id="9" name="Rounded Rectangle 8"/>
          <p:cNvSpPr/>
          <p:nvPr/>
        </p:nvSpPr>
        <p:spPr>
          <a:xfrm>
            <a:off x="4370832" y="1828800"/>
            <a:ext cx="3456432" cy="201168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35424" y="1965960"/>
            <a:ext cx="3127248" cy="1737360"/>
          </a:xfrm>
          <a:prstGeom prst="rect">
            <a:avLst/>
          </a:prstGeom>
          <a:noFill/>
        </p:spPr>
        <p:txBody>
          <a:bodyPr wrap="square">
            <a:spAutoFit/>
          </a:bodyPr>
          <a:lstStyle/>
          <a:p>
            <a:r>
              <a:rPr sz="1100" b="1">
                <a:solidFill>
                  <a:srgbClr val="00E5FF"/>
                </a:solidFill>
                <a:latin typeface="JetBrains Mono"/>
              </a:rPr>
              <a:t>[OUT] </a:t>
            </a:r>
            <a:r>
              <a:rPr sz="1250" b="1">
                <a:solidFill>
                  <a:srgbClr val="FFFFFF"/>
                </a:solidFill>
                <a:latin typeface="Plus Jakarta Sans"/>
              </a:rPr>
              <a:t>OUT (Output Param)</a:t>
            </a:r>
          </a:p>
          <a:p>
            <a:pPr>
              <a:spcBef>
                <a:spcPts val="800"/>
              </a:spcBef>
            </a:pPr>
            <a:r>
              <a:rPr sz="1000">
                <a:solidFill>
                  <a:srgbClr val="D1DDF0"/>
                </a:solidFill>
                <a:latin typeface="Inter"/>
              </a:rPr>
              <a:t>Bersifat Pass-by-Reference (write-only). Nilai awal saat masuk diabaikan (NULL). Prosedur mengisi nilai ke parameter ini, dan nilainya dapat dibaca oleh caller setelah selesai.</a:t>
            </a:r>
          </a:p>
        </p:txBody>
      </p:sp>
      <p:sp>
        <p:nvSpPr>
          <p:cNvPr id="11" name="Rounded Rectangle 10"/>
          <p:cNvSpPr/>
          <p:nvPr/>
        </p:nvSpPr>
        <p:spPr>
          <a:xfrm>
            <a:off x="8010144" y="1828800"/>
            <a:ext cx="3456432" cy="201168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74736" y="1965960"/>
            <a:ext cx="3127248" cy="1737360"/>
          </a:xfrm>
          <a:prstGeom prst="rect">
            <a:avLst/>
          </a:prstGeom>
          <a:noFill/>
        </p:spPr>
        <p:txBody>
          <a:bodyPr wrap="square">
            <a:spAutoFit/>
          </a:bodyPr>
          <a:lstStyle/>
          <a:p>
            <a:r>
              <a:rPr sz="1100" b="1">
                <a:solidFill>
                  <a:srgbClr val="00E5FF"/>
                </a:solidFill>
                <a:latin typeface="JetBrains Mono"/>
              </a:rPr>
              <a:t>[INOUT] </a:t>
            </a:r>
            <a:r>
              <a:rPr sz="1250" b="1">
                <a:solidFill>
                  <a:srgbClr val="FFFFFF"/>
                </a:solidFill>
                <a:latin typeface="Plus Jakarta Sans"/>
              </a:rPr>
              <a:t>INOUT (Dual Param)</a:t>
            </a:r>
          </a:p>
          <a:p>
            <a:pPr>
              <a:spcBef>
                <a:spcPts val="800"/>
              </a:spcBef>
            </a:pPr>
            <a:r>
              <a:rPr sz="1000">
                <a:solidFill>
                  <a:srgbClr val="D1DDF0"/>
                </a:solidFill>
                <a:latin typeface="Inter"/>
              </a:rPr>
              <a:t>Bersifat Dua Arah (read-write). Caller mengirimkan nilai awal ke prosedur, kemudian prosedur memproses dan mengubah nilai tersebut kembali ke caller.</a:t>
            </a:r>
          </a:p>
        </p:txBody>
      </p:sp>
      <p:sp>
        <p:nvSpPr>
          <p:cNvPr id="13" name="Rounded Rectangle 12"/>
          <p:cNvSpPr/>
          <p:nvPr/>
        </p:nvSpPr>
        <p:spPr>
          <a:xfrm>
            <a:off x="731520" y="4023360"/>
            <a:ext cx="10728655" cy="2011680"/>
          </a:xfrm>
          <a:prstGeom prst="roundRect">
            <a:avLst/>
          </a:prstGeom>
          <a:solidFill>
            <a:srgbClr val="03071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78224"/>
            <a:ext cx="10454335" cy="256032"/>
          </a:xfrm>
          <a:prstGeom prst="rect">
            <a:avLst/>
          </a:prstGeom>
          <a:noFill/>
        </p:spPr>
        <p:txBody>
          <a:bodyPr wrap="none">
            <a:spAutoFit/>
          </a:bodyPr>
          <a:lstStyle/>
          <a:p>
            <a:pPr>
              <a:defRPr sz="950" b="1">
                <a:solidFill>
                  <a:srgbClr val="00E5FF"/>
                </a:solidFill>
                <a:latin typeface="JetBrains Mono"/>
              </a:defRPr>
            </a:pPr>
            <a:r>
              <a:t>Terminal / SQL: Sintaks Parameter IN, OUT, INOUT</a:t>
            </a:r>
          </a:p>
        </p:txBody>
      </p:sp>
      <p:sp>
        <p:nvSpPr>
          <p:cNvPr id="15" name="TextBox 14"/>
          <p:cNvSpPr txBox="1"/>
          <p:nvPr/>
        </p:nvSpPr>
        <p:spPr>
          <a:xfrm>
            <a:off x="868680" y="4343400"/>
            <a:ext cx="10454335" cy="1645920"/>
          </a:xfrm>
          <a:prstGeom prst="rect">
            <a:avLst/>
          </a:prstGeom>
          <a:noFill/>
        </p:spPr>
        <p:txBody>
          <a:bodyPr wrap="square">
            <a:spAutoFit/>
          </a:bodyPr>
          <a:lstStyle/>
          <a:p>
            <a:r>
              <a:rPr sz="950">
                <a:solidFill>
                  <a:srgbClr val="E2E8F0"/>
                </a:solidFill>
                <a:latin typeface="JetBrains Mono"/>
              </a:rPr>
              <a:t>DELIMITER $$
CREATE PROCEDURE sp_HitungBonusKasir(
    IN  p_KodeKasir VARCHAR(3),      -- Input: kode kasir
    OUT p_TotalNota INT,             -- Output: jumlah nota ditangani
    INOUT p_SaldoBonus DECIMAL(12,2) -- Input &amp; Output: saldo bonus
)
BEGIN
    SELECT COUNT(*) INTO p_TotalNota FROM nota WHERE KodeKasir = p_KodeKasir;
    SET p_SaldoBonus = p_SaldoBonus + (p_TotalNota * 2500);
END$$
DELIMITER ;
-- Eksekusi: SET @b = 50000; CALL sp_HitungBonusKasir('001', @nota, @b); SELECT @nota, @b;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B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329184"/>
          </a:xfrm>
          <a:prstGeom prst="roundRect">
            <a:avLst/>
          </a:prstGeom>
          <a:solidFill>
            <a:srgbClr val="0C1E3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0E5FF"/>
                </a:solidFill>
                <a:latin typeface="JetBrains Mono"/>
              </a:defRPr>
            </a:pPr>
            <a:r>
              <a:t>● 05 · CONTROL FLOW</a:t>
            </a:r>
          </a:p>
        </p:txBody>
      </p:sp>
      <p:sp>
        <p:nvSpPr>
          <p:cNvPr id="4" name="TextBox 3"/>
          <p:cNvSpPr txBox="1"/>
          <p:nvPr/>
        </p:nvSpPr>
        <p:spPr>
          <a:xfrm>
            <a:off x="731520" y="713232"/>
            <a:ext cx="10698480" cy="640080"/>
          </a:xfrm>
          <a:prstGeom prst="rect">
            <a:avLst/>
          </a:prstGeom>
          <a:noFill/>
        </p:spPr>
        <p:txBody>
          <a:bodyPr wrap="square">
            <a:spAutoFit/>
          </a:bodyPr>
          <a:lstStyle/>
          <a:p>
            <a:pPr>
              <a:defRPr sz="2200" b="1">
                <a:solidFill>
                  <a:srgbClr val="FFFFFF"/>
                </a:solidFill>
                <a:latin typeface="Plus Jakarta Sans"/>
              </a:defRPr>
            </a:pPr>
            <a:r>
              <a:t>Struktur Kontrol Alur Logika di MySQL</a:t>
            </a:r>
          </a:p>
        </p:txBody>
      </p:sp>
      <p:sp>
        <p:nvSpPr>
          <p:cNvPr id="5" name="TextBox 4"/>
          <p:cNvSpPr txBox="1"/>
          <p:nvPr/>
        </p:nvSpPr>
        <p:spPr>
          <a:xfrm>
            <a:off x="731520" y="1298448"/>
            <a:ext cx="10698480" cy="347472"/>
          </a:xfrm>
          <a:prstGeom prst="rect">
            <a:avLst/>
          </a:prstGeom>
          <a:noFill/>
        </p:spPr>
        <p:txBody>
          <a:bodyPr wrap="square">
            <a:spAutoFit/>
          </a:bodyPr>
          <a:lstStyle/>
          <a:p>
            <a:pPr>
              <a:defRPr sz="1150">
                <a:solidFill>
                  <a:srgbClr val="94A3B8"/>
                </a:solidFill>
                <a:latin typeface="Inter"/>
              </a:defRPr>
            </a:pPr>
            <a:r>
              <a:t>Membangun percabangan keputusan dan iterasi algoritmik di sisi database engine.</a:t>
            </a:r>
          </a:p>
        </p:txBody>
      </p:sp>
      <p:sp>
        <p:nvSpPr>
          <p:cNvPr id="6" name="TextBox 5"/>
          <p:cNvSpPr txBox="1"/>
          <p:nvPr/>
        </p:nvSpPr>
        <p:spPr>
          <a:xfrm>
            <a:off x="731520" y="6400800"/>
            <a:ext cx="10698480" cy="292608"/>
          </a:xfrm>
          <a:prstGeom prst="rect">
            <a:avLst/>
          </a:prstGeom>
          <a:noFill/>
        </p:spPr>
        <p:txBody>
          <a:bodyPr wrap="none">
            <a:spAutoFit/>
          </a:bodyPr>
          <a:lstStyle/>
          <a:p>
            <a:pPr>
              <a:defRPr sz="950">
                <a:solidFill>
                  <a:srgbClr val="94A3B8"/>
                </a:solidFill>
                <a:latin typeface="Inter"/>
              </a:defRPr>
            </a:pPr>
            <a:r>
              <a:t>SMBD Lanjut · Laboratorium Sistem Informasi Universitas Amikom Yogyakarta</a:t>
            </a:r>
          </a:p>
        </p:txBody>
      </p:sp>
      <p:sp>
        <p:nvSpPr>
          <p:cNvPr id="7" name="Rounded Rectangle 6"/>
          <p:cNvSpPr/>
          <p:nvPr/>
        </p:nvSpPr>
        <p:spPr>
          <a:xfrm>
            <a:off x="731520" y="1828800"/>
            <a:ext cx="5212080" cy="4114800"/>
          </a:xfrm>
          <a:prstGeom prst="roundRect">
            <a:avLst/>
          </a:prstGeom>
          <a:solidFill>
            <a:srgbClr val="03071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83664"/>
            <a:ext cx="4937760" cy="256032"/>
          </a:xfrm>
          <a:prstGeom prst="rect">
            <a:avLst/>
          </a:prstGeom>
          <a:noFill/>
        </p:spPr>
        <p:txBody>
          <a:bodyPr wrap="none">
            <a:spAutoFit/>
          </a:bodyPr>
          <a:lstStyle/>
          <a:p>
            <a:pPr>
              <a:defRPr sz="950" b="1">
                <a:solidFill>
                  <a:srgbClr val="00E5FF"/>
                </a:solidFill>
                <a:latin typeface="JetBrains Mono"/>
              </a:defRPr>
            </a:pPr>
            <a:r>
              <a:t>Terminal / SQL: Percabangan (IF &amp; CASE)</a:t>
            </a:r>
          </a:p>
        </p:txBody>
      </p:sp>
      <p:sp>
        <p:nvSpPr>
          <p:cNvPr id="9" name="TextBox 8"/>
          <p:cNvSpPr txBox="1"/>
          <p:nvPr/>
        </p:nvSpPr>
        <p:spPr>
          <a:xfrm>
            <a:off x="868680" y="2148840"/>
            <a:ext cx="4937760" cy="3749040"/>
          </a:xfrm>
          <a:prstGeom prst="rect">
            <a:avLst/>
          </a:prstGeom>
          <a:noFill/>
        </p:spPr>
        <p:txBody>
          <a:bodyPr wrap="square">
            <a:spAutoFit/>
          </a:bodyPr>
          <a:lstStyle/>
          <a:p>
            <a:r>
              <a:rPr sz="950">
                <a:solidFill>
                  <a:srgbClr val="E2E8F0"/>
                </a:solidFill>
                <a:latin typeface="JetBrains Mono"/>
              </a:rPr>
              <a:t>-- 1. PERCABANGAN IF-ELSEIF-ELSE
IF v_stok &lt;= 0 THEN
    SET v_status = 'HABIS';
ELSEIF v_stok &lt;= 5 THEN
    SET v_status = 'KRITIS';
ELSE
    SET v_status = 'AMAN';
END IF;
-- 2. PERCABANGAN CASE
CASE p_grade
    WHEN 'A' THEN SET v_diskon = 0.20;
    WHEN 'B' THEN SET v_diskon = 0.10;
    ELSE SET v_diskon = 0.00;
END CASE;</a:t>
            </a:r>
          </a:p>
        </p:txBody>
      </p:sp>
      <p:sp>
        <p:nvSpPr>
          <p:cNvPr id="10" name="Rounded Rectangle 9"/>
          <p:cNvSpPr/>
          <p:nvPr/>
        </p:nvSpPr>
        <p:spPr>
          <a:xfrm>
            <a:off x="6217920" y="1828800"/>
            <a:ext cx="5212080" cy="4114800"/>
          </a:xfrm>
          <a:prstGeom prst="roundRect">
            <a:avLst/>
          </a:prstGeom>
          <a:solidFill>
            <a:srgbClr val="03071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883664"/>
            <a:ext cx="4937760" cy="256032"/>
          </a:xfrm>
          <a:prstGeom prst="rect">
            <a:avLst/>
          </a:prstGeom>
          <a:noFill/>
        </p:spPr>
        <p:txBody>
          <a:bodyPr wrap="none">
            <a:spAutoFit/>
          </a:bodyPr>
          <a:lstStyle/>
          <a:p>
            <a:pPr>
              <a:defRPr sz="950" b="1">
                <a:solidFill>
                  <a:srgbClr val="00E5FF"/>
                </a:solidFill>
                <a:latin typeface="JetBrains Mono"/>
              </a:defRPr>
            </a:pPr>
            <a:r>
              <a:t>Terminal / SQL: Pengulangan (WHILE &amp; LOOP)</a:t>
            </a:r>
          </a:p>
        </p:txBody>
      </p:sp>
      <p:sp>
        <p:nvSpPr>
          <p:cNvPr id="12" name="TextBox 11"/>
          <p:cNvSpPr txBox="1"/>
          <p:nvPr/>
        </p:nvSpPr>
        <p:spPr>
          <a:xfrm>
            <a:off x="6355080" y="2148840"/>
            <a:ext cx="4937760" cy="3749040"/>
          </a:xfrm>
          <a:prstGeom prst="rect">
            <a:avLst/>
          </a:prstGeom>
          <a:noFill/>
        </p:spPr>
        <p:txBody>
          <a:bodyPr wrap="square">
            <a:spAutoFit/>
          </a:bodyPr>
          <a:lstStyle/>
          <a:p>
            <a:r>
              <a:rPr sz="950">
                <a:solidFill>
                  <a:srgbClr val="E2E8F0"/>
                </a:solidFill>
                <a:latin typeface="JetBrains Mono"/>
              </a:rPr>
              <a:t>-- 3. PENGULANGAN WHILE LOOP
WHILE v_counter &lt; 10 DO
    SET v_total = v_total + v_counter;
    SET v_counter = v_counter + 1;
END WHILE;
-- 4. LOOP &amp; LEAVE (BREAK)
baca_loop: LOOP
    FETCH cur_produk INTO v_kode, v_stok;
    IF v_selesai = 1 THEN
        LEAVE baca_loop; -- Keluar loop
    END IF;
    -- Proses data baris...
END LOOP baca_loop;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B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329184"/>
          </a:xfrm>
          <a:prstGeom prst="roundRect">
            <a:avLst/>
          </a:prstGeom>
          <a:solidFill>
            <a:srgbClr val="0C1E3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0E5FF"/>
                </a:solidFill>
                <a:latin typeface="JetBrains Mono"/>
              </a:defRPr>
            </a:pPr>
            <a:r>
              <a:t>● 06 · CURSOR &amp; ITERASI</a:t>
            </a:r>
          </a:p>
        </p:txBody>
      </p:sp>
      <p:sp>
        <p:nvSpPr>
          <p:cNvPr id="4" name="TextBox 3"/>
          <p:cNvSpPr txBox="1"/>
          <p:nvPr/>
        </p:nvSpPr>
        <p:spPr>
          <a:xfrm>
            <a:off x="731520" y="713232"/>
            <a:ext cx="10698480" cy="640080"/>
          </a:xfrm>
          <a:prstGeom prst="rect">
            <a:avLst/>
          </a:prstGeom>
          <a:noFill/>
        </p:spPr>
        <p:txBody>
          <a:bodyPr wrap="square">
            <a:spAutoFit/>
          </a:bodyPr>
          <a:lstStyle/>
          <a:p>
            <a:pPr>
              <a:defRPr sz="2200" b="1">
                <a:solidFill>
                  <a:srgbClr val="FFFFFF"/>
                </a:solidFill>
                <a:latin typeface="Plus Jakarta Sans"/>
              </a:defRPr>
            </a:pPr>
            <a:r>
              <a:t>Pengolahan Baris Tunggal Menggunakan CURSOR</a:t>
            </a:r>
          </a:p>
        </p:txBody>
      </p:sp>
      <p:sp>
        <p:nvSpPr>
          <p:cNvPr id="5" name="TextBox 4"/>
          <p:cNvSpPr txBox="1"/>
          <p:nvPr/>
        </p:nvSpPr>
        <p:spPr>
          <a:xfrm>
            <a:off x="731520" y="1298448"/>
            <a:ext cx="10698480" cy="347472"/>
          </a:xfrm>
          <a:prstGeom prst="rect">
            <a:avLst/>
          </a:prstGeom>
          <a:noFill/>
        </p:spPr>
        <p:txBody>
          <a:bodyPr wrap="square">
            <a:spAutoFit/>
          </a:bodyPr>
          <a:lstStyle/>
          <a:p>
            <a:pPr>
              <a:defRPr sz="1150">
                <a:solidFill>
                  <a:srgbClr val="94A3B8"/>
                </a:solidFill>
                <a:latin typeface="Inter"/>
              </a:defRPr>
            </a:pPr>
            <a:r>
              <a:t>Mekanisme membaca result set baris per baris secara berurutan (*read-only, non-scrollable*).</a:t>
            </a:r>
          </a:p>
        </p:txBody>
      </p:sp>
      <p:sp>
        <p:nvSpPr>
          <p:cNvPr id="6" name="TextBox 5"/>
          <p:cNvSpPr txBox="1"/>
          <p:nvPr/>
        </p:nvSpPr>
        <p:spPr>
          <a:xfrm>
            <a:off x="731520" y="6400800"/>
            <a:ext cx="10698480" cy="292608"/>
          </a:xfrm>
          <a:prstGeom prst="rect">
            <a:avLst/>
          </a:prstGeom>
          <a:noFill/>
        </p:spPr>
        <p:txBody>
          <a:bodyPr wrap="none">
            <a:spAutoFit/>
          </a:bodyPr>
          <a:lstStyle/>
          <a:p>
            <a:pPr>
              <a:defRPr sz="950">
                <a:solidFill>
                  <a:srgbClr val="94A3B8"/>
                </a:solidFill>
                <a:latin typeface="Inter"/>
              </a:defRPr>
            </a:pPr>
            <a:r>
              <a:t>SMBD Lanjut · Laboratorium Sistem Informasi Universitas Amikom Yogyakarta</a:t>
            </a:r>
          </a:p>
        </p:txBody>
      </p:sp>
      <p:sp>
        <p:nvSpPr>
          <p:cNvPr id="7" name="Rounded Rectangle 6"/>
          <p:cNvSpPr/>
          <p:nvPr/>
        </p:nvSpPr>
        <p:spPr>
          <a:xfrm>
            <a:off x="731520" y="1828800"/>
            <a:ext cx="2542032" cy="164592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965960"/>
            <a:ext cx="2212848" cy="1371600"/>
          </a:xfrm>
          <a:prstGeom prst="rect">
            <a:avLst/>
          </a:prstGeom>
          <a:noFill/>
        </p:spPr>
        <p:txBody>
          <a:bodyPr wrap="square">
            <a:spAutoFit/>
          </a:bodyPr>
          <a:lstStyle/>
          <a:p>
            <a:r>
              <a:rPr sz="1100" b="1">
                <a:solidFill>
                  <a:srgbClr val="00E5FF"/>
                </a:solidFill>
                <a:latin typeface="JetBrains Mono"/>
              </a:rPr>
              <a:t>[01] </a:t>
            </a:r>
            <a:r>
              <a:rPr sz="1250" b="1">
                <a:solidFill>
                  <a:srgbClr val="FFFFFF"/>
                </a:solidFill>
                <a:latin typeface="Plus Jakarta Sans"/>
              </a:rPr>
              <a:t>1. DECLARE</a:t>
            </a:r>
          </a:p>
          <a:p>
            <a:pPr>
              <a:spcBef>
                <a:spcPts val="800"/>
              </a:spcBef>
            </a:pPr>
            <a:r>
              <a:rPr sz="1000">
                <a:solidFill>
                  <a:srgbClr val="D1DDF0"/>
                </a:solidFill>
                <a:latin typeface="Inter"/>
              </a:rPr>
              <a:t>Mendeklarasikan nama kursor dan kueri SELECT yang akan ditampung.</a:t>
            </a:r>
          </a:p>
        </p:txBody>
      </p:sp>
      <p:sp>
        <p:nvSpPr>
          <p:cNvPr id="9" name="Rounded Rectangle 8"/>
          <p:cNvSpPr/>
          <p:nvPr/>
        </p:nvSpPr>
        <p:spPr>
          <a:xfrm>
            <a:off x="3456432" y="1828800"/>
            <a:ext cx="2542032" cy="164592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21024" y="1965960"/>
            <a:ext cx="2212848" cy="1371600"/>
          </a:xfrm>
          <a:prstGeom prst="rect">
            <a:avLst/>
          </a:prstGeom>
          <a:noFill/>
        </p:spPr>
        <p:txBody>
          <a:bodyPr wrap="square">
            <a:spAutoFit/>
          </a:bodyPr>
          <a:lstStyle/>
          <a:p>
            <a:r>
              <a:rPr sz="1100" b="1">
                <a:solidFill>
                  <a:srgbClr val="00E5FF"/>
                </a:solidFill>
                <a:latin typeface="JetBrains Mono"/>
              </a:rPr>
              <a:t>[02] </a:t>
            </a:r>
            <a:r>
              <a:rPr sz="1250" b="1">
                <a:solidFill>
                  <a:srgbClr val="FFFFFF"/>
                </a:solidFill>
                <a:latin typeface="Plus Jakarta Sans"/>
              </a:rPr>
              <a:t>2. OPEN</a:t>
            </a:r>
          </a:p>
          <a:p>
            <a:pPr>
              <a:spcBef>
                <a:spcPts val="800"/>
              </a:spcBef>
            </a:pPr>
            <a:r>
              <a:rPr sz="1000">
                <a:solidFill>
                  <a:srgbClr val="D1DDF0"/>
                </a:solidFill>
                <a:latin typeface="Inter"/>
              </a:rPr>
              <a:t>Mengeksekusi kueri SELECT dan menginisialisasi pointer data ke baris awal.</a:t>
            </a:r>
          </a:p>
        </p:txBody>
      </p:sp>
      <p:sp>
        <p:nvSpPr>
          <p:cNvPr id="11" name="Rounded Rectangle 10"/>
          <p:cNvSpPr/>
          <p:nvPr/>
        </p:nvSpPr>
        <p:spPr>
          <a:xfrm>
            <a:off x="6181344" y="1828800"/>
            <a:ext cx="2542032" cy="164592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45936" y="1965960"/>
            <a:ext cx="2212848" cy="1371600"/>
          </a:xfrm>
          <a:prstGeom prst="rect">
            <a:avLst/>
          </a:prstGeom>
          <a:noFill/>
        </p:spPr>
        <p:txBody>
          <a:bodyPr wrap="square">
            <a:spAutoFit/>
          </a:bodyPr>
          <a:lstStyle/>
          <a:p>
            <a:r>
              <a:rPr sz="1100" b="1">
                <a:solidFill>
                  <a:srgbClr val="00E5FF"/>
                </a:solidFill>
                <a:latin typeface="JetBrains Mono"/>
              </a:rPr>
              <a:t>[03] </a:t>
            </a:r>
            <a:r>
              <a:rPr sz="1250" b="1">
                <a:solidFill>
                  <a:srgbClr val="FFFFFF"/>
                </a:solidFill>
                <a:latin typeface="Plus Jakarta Sans"/>
              </a:rPr>
              <a:t>3. FETCH</a:t>
            </a:r>
          </a:p>
          <a:p>
            <a:pPr>
              <a:spcBef>
                <a:spcPts val="800"/>
              </a:spcBef>
            </a:pPr>
            <a:r>
              <a:rPr sz="1000">
                <a:solidFill>
                  <a:srgbClr val="D1DDF0"/>
                </a:solidFill>
                <a:latin typeface="Inter"/>
              </a:rPr>
              <a:t>Mengambil nilai kolom baris aktif ke variabel lokal dan menggeser pointer.</a:t>
            </a:r>
          </a:p>
        </p:txBody>
      </p:sp>
      <p:sp>
        <p:nvSpPr>
          <p:cNvPr id="13" name="Rounded Rectangle 12"/>
          <p:cNvSpPr/>
          <p:nvPr/>
        </p:nvSpPr>
        <p:spPr>
          <a:xfrm>
            <a:off x="8906256" y="1828800"/>
            <a:ext cx="2542032" cy="164592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70848" y="1965960"/>
            <a:ext cx="2212848" cy="1371600"/>
          </a:xfrm>
          <a:prstGeom prst="rect">
            <a:avLst/>
          </a:prstGeom>
          <a:noFill/>
        </p:spPr>
        <p:txBody>
          <a:bodyPr wrap="square">
            <a:spAutoFit/>
          </a:bodyPr>
          <a:lstStyle/>
          <a:p>
            <a:r>
              <a:rPr sz="1100" b="1">
                <a:solidFill>
                  <a:srgbClr val="00E5FF"/>
                </a:solidFill>
                <a:latin typeface="JetBrains Mono"/>
              </a:rPr>
              <a:t>[04] </a:t>
            </a:r>
            <a:r>
              <a:rPr sz="1250" b="1">
                <a:solidFill>
                  <a:srgbClr val="FFFFFF"/>
                </a:solidFill>
                <a:latin typeface="Plus Jakarta Sans"/>
              </a:rPr>
              <a:t>4. CLOSE</a:t>
            </a:r>
          </a:p>
          <a:p>
            <a:pPr>
              <a:spcBef>
                <a:spcPts val="800"/>
              </a:spcBef>
            </a:pPr>
            <a:r>
              <a:rPr sz="1000">
                <a:solidFill>
                  <a:srgbClr val="D1DDF0"/>
                </a:solidFill>
                <a:latin typeface="Inter"/>
              </a:rPr>
              <a:t>Menutup kursor dan membebaskan alokasi memori buffer RDBMS.</a:t>
            </a:r>
          </a:p>
        </p:txBody>
      </p:sp>
      <p:sp>
        <p:nvSpPr>
          <p:cNvPr id="15" name="Rounded Rectangle 14"/>
          <p:cNvSpPr/>
          <p:nvPr/>
        </p:nvSpPr>
        <p:spPr>
          <a:xfrm>
            <a:off x="731520" y="3657600"/>
            <a:ext cx="10728655" cy="2377440"/>
          </a:xfrm>
          <a:prstGeom prst="roundRect">
            <a:avLst/>
          </a:prstGeom>
          <a:solidFill>
            <a:srgbClr val="03071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712464"/>
            <a:ext cx="10454335" cy="256032"/>
          </a:xfrm>
          <a:prstGeom prst="rect">
            <a:avLst/>
          </a:prstGeom>
          <a:noFill/>
        </p:spPr>
        <p:txBody>
          <a:bodyPr wrap="none">
            <a:spAutoFit/>
          </a:bodyPr>
          <a:lstStyle/>
          <a:p>
            <a:pPr>
              <a:defRPr sz="950" b="1">
                <a:solidFill>
                  <a:srgbClr val="00E5FF"/>
                </a:solidFill>
                <a:latin typeface="JetBrains Mono"/>
              </a:defRPr>
            </a:pPr>
            <a:r>
              <a:t>Terminal / SQL: Alur Lengkap Implementasi CURSOR</a:t>
            </a:r>
          </a:p>
        </p:txBody>
      </p:sp>
      <p:sp>
        <p:nvSpPr>
          <p:cNvPr id="17" name="TextBox 16"/>
          <p:cNvSpPr txBox="1"/>
          <p:nvPr/>
        </p:nvSpPr>
        <p:spPr>
          <a:xfrm>
            <a:off x="868680" y="3977640"/>
            <a:ext cx="10454335" cy="2011680"/>
          </a:xfrm>
          <a:prstGeom prst="rect">
            <a:avLst/>
          </a:prstGeom>
          <a:noFill/>
        </p:spPr>
        <p:txBody>
          <a:bodyPr wrap="square">
            <a:spAutoFit/>
          </a:bodyPr>
          <a:lstStyle/>
          <a:p>
            <a:r>
              <a:rPr sz="950">
                <a:solidFill>
                  <a:srgbClr val="E2E8F0"/>
                </a:solidFill>
                <a:latin typeface="JetBrains Mono"/>
              </a:rPr>
              <a:t>DECLARE v_selesai INT DEFAULT 0;
DECLARE v_kode CHAR(4); DECLARE v_stok INT;
DECLARE cur_cek_stok CURSOR FOR SELECT KodeProduk, stok FROM produk WHERE stok &lt; 10;
DECLARE CONTINUE HANDLER FOR NOT FOUND SET v_selesai = 1;
OPEN cur_cek_stok;
ulang_loop: LOOP
    FETCH cur_cek_stok INTO v_kode, v_stok;
    IF v_selesai = 1 THEN LEAVE ulang_loop; END IF;
    -- Eksekusi logika otomasi restock produk...
END LOOP ulang_loop;
CLOSE cur_cek_stok;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B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329184"/>
          </a:xfrm>
          <a:prstGeom prst="roundRect">
            <a:avLst/>
          </a:prstGeom>
          <a:solidFill>
            <a:srgbClr val="0C1E3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0E5FF"/>
                </a:solidFill>
                <a:latin typeface="JetBrains Mono"/>
              </a:defRPr>
            </a:pPr>
            <a:r>
              <a:t>● 07 · ERROR HANDLING</a:t>
            </a:r>
          </a:p>
        </p:txBody>
      </p:sp>
      <p:sp>
        <p:nvSpPr>
          <p:cNvPr id="4" name="TextBox 3"/>
          <p:cNvSpPr txBox="1"/>
          <p:nvPr/>
        </p:nvSpPr>
        <p:spPr>
          <a:xfrm>
            <a:off x="731520" y="713232"/>
            <a:ext cx="10698480" cy="640080"/>
          </a:xfrm>
          <a:prstGeom prst="rect">
            <a:avLst/>
          </a:prstGeom>
          <a:noFill/>
        </p:spPr>
        <p:txBody>
          <a:bodyPr wrap="square">
            <a:spAutoFit/>
          </a:bodyPr>
          <a:lstStyle/>
          <a:p>
            <a:pPr>
              <a:defRPr sz="2200" b="1">
                <a:solidFill>
                  <a:srgbClr val="FFFFFF"/>
                </a:solidFill>
                <a:latin typeface="Plus Jakarta Sans"/>
              </a:defRPr>
            </a:pPr>
            <a:r>
              <a:t>Penanganan Galat Terstruktur &amp; Integritas Transaksi</a:t>
            </a:r>
          </a:p>
        </p:txBody>
      </p:sp>
      <p:sp>
        <p:nvSpPr>
          <p:cNvPr id="5" name="TextBox 4"/>
          <p:cNvSpPr txBox="1"/>
          <p:nvPr/>
        </p:nvSpPr>
        <p:spPr>
          <a:xfrm>
            <a:off x="731520" y="1298448"/>
            <a:ext cx="10698480" cy="347472"/>
          </a:xfrm>
          <a:prstGeom prst="rect">
            <a:avLst/>
          </a:prstGeom>
          <a:noFill/>
        </p:spPr>
        <p:txBody>
          <a:bodyPr wrap="square">
            <a:spAutoFit/>
          </a:bodyPr>
          <a:lstStyle/>
          <a:p>
            <a:pPr>
              <a:defRPr sz="1150">
                <a:solidFill>
                  <a:srgbClr val="94A3B8"/>
                </a:solidFill>
                <a:latin typeface="Inter"/>
              </a:defRPr>
            </a:pPr>
            <a:r>
              <a:t>Menjamin konsistensi database menggunakan DECLARE HANDLER dan SIGNAL kustom.</a:t>
            </a:r>
          </a:p>
        </p:txBody>
      </p:sp>
      <p:sp>
        <p:nvSpPr>
          <p:cNvPr id="6" name="TextBox 5"/>
          <p:cNvSpPr txBox="1"/>
          <p:nvPr/>
        </p:nvSpPr>
        <p:spPr>
          <a:xfrm>
            <a:off x="731520" y="6400800"/>
            <a:ext cx="10698480" cy="292608"/>
          </a:xfrm>
          <a:prstGeom prst="rect">
            <a:avLst/>
          </a:prstGeom>
          <a:noFill/>
        </p:spPr>
        <p:txBody>
          <a:bodyPr wrap="none">
            <a:spAutoFit/>
          </a:bodyPr>
          <a:lstStyle/>
          <a:p>
            <a:pPr>
              <a:defRPr sz="950">
                <a:solidFill>
                  <a:srgbClr val="94A3B8"/>
                </a:solidFill>
                <a:latin typeface="Inter"/>
              </a:defRPr>
            </a:pPr>
            <a:r>
              <a:t>SMBD Lanjut · Laboratorium Sistem Informasi Universitas Amikom Yogyakarta</a:t>
            </a:r>
          </a:p>
        </p:txBody>
      </p:sp>
      <p:sp>
        <p:nvSpPr>
          <p:cNvPr id="7" name="Rounded Rectangle 6"/>
          <p:cNvSpPr/>
          <p:nvPr/>
        </p:nvSpPr>
        <p:spPr>
          <a:xfrm>
            <a:off x="731520" y="1828800"/>
            <a:ext cx="6858000" cy="4114800"/>
          </a:xfrm>
          <a:prstGeom prst="roundRect">
            <a:avLst/>
          </a:prstGeom>
          <a:solidFill>
            <a:srgbClr val="03071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83664"/>
            <a:ext cx="6583680" cy="256032"/>
          </a:xfrm>
          <a:prstGeom prst="rect">
            <a:avLst/>
          </a:prstGeom>
          <a:noFill/>
        </p:spPr>
        <p:txBody>
          <a:bodyPr wrap="none">
            <a:spAutoFit/>
          </a:bodyPr>
          <a:lstStyle/>
          <a:p>
            <a:pPr>
              <a:defRPr sz="950" b="1">
                <a:solidFill>
                  <a:srgbClr val="00E5FF"/>
                </a:solidFill>
                <a:latin typeface="JetBrains Mono"/>
              </a:defRPr>
            </a:pPr>
            <a:r>
              <a:t>Terminal / SQL: sp_ValidasiTambahKasir.sql</a:t>
            </a:r>
          </a:p>
        </p:txBody>
      </p:sp>
      <p:sp>
        <p:nvSpPr>
          <p:cNvPr id="9" name="TextBox 8"/>
          <p:cNvSpPr txBox="1"/>
          <p:nvPr/>
        </p:nvSpPr>
        <p:spPr>
          <a:xfrm>
            <a:off x="868680" y="2148840"/>
            <a:ext cx="6583680" cy="3749040"/>
          </a:xfrm>
          <a:prstGeom prst="rect">
            <a:avLst/>
          </a:prstGeom>
          <a:noFill/>
        </p:spPr>
        <p:txBody>
          <a:bodyPr wrap="square">
            <a:spAutoFit/>
          </a:bodyPr>
          <a:lstStyle/>
          <a:p>
            <a:r>
              <a:rPr sz="850">
                <a:solidFill>
                  <a:srgbClr val="E2E8F0"/>
                </a:solidFill>
                <a:latin typeface="JetBrains Mono"/>
              </a:rPr>
              <a:t>DELIMITER $$
CREATE PROCEDURE sp_ValidasiTambahKasir(
    IN p_Kode CHAR(3), IN p_Nama VARCHAR(30), IN p_Pass CHAR(6)
)
BEGIN
    -- 1. Validasi Panjang Password Kasir Wajib Tepat 6 Karakter
    IF CHAR_LENGTH(p_Pass) &lt;&gt; 6 THEN
        SIGNAL SQLSTATE '45000'
            SET MESSAGE_TEXT = 'Gagal: Kata sandi kasir wajib tepat 6 karakter.';
    END IF;
    -- 2. Handler jika terjadi pelanggaran Duplicate Key Primary Key
    BEGIN
        DECLARE EXIT HANDLER FOR 1062
        BEGIN
            SIGNAL SQLSTATE '45000'
                SET MESSAGE_TEXT = 'Gagal: Kode kasir tersebut sudah terdaftar.';
        END;
        INSERT INTO kasir (KodeKasir, NamaKasir, Pass) VALUES (p_Kode, p_Nama, p_Pass);
    END;
END$$
DELIMITER ;</a:t>
            </a:r>
          </a:p>
        </p:txBody>
      </p:sp>
      <p:sp>
        <p:nvSpPr>
          <p:cNvPr id="10" name="Rounded Rectangle 9"/>
          <p:cNvSpPr/>
          <p:nvPr/>
        </p:nvSpPr>
        <p:spPr>
          <a:xfrm>
            <a:off x="7772400" y="1828800"/>
            <a:ext cx="3657600" cy="192024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36992" y="1965960"/>
            <a:ext cx="3328416" cy="1645920"/>
          </a:xfrm>
          <a:prstGeom prst="rect">
            <a:avLst/>
          </a:prstGeom>
          <a:noFill/>
        </p:spPr>
        <p:txBody>
          <a:bodyPr wrap="square">
            <a:spAutoFit/>
          </a:bodyPr>
          <a:lstStyle/>
          <a:p>
            <a:r>
              <a:rPr sz="1250" b="1">
                <a:solidFill>
                  <a:srgbClr val="FFFFFF"/>
                </a:solidFill>
                <a:latin typeface="Plus Jakarta Sans"/>
              </a:rPr>
              <a:t>SIGNAL SQLSTATE '45000'</a:t>
            </a:r>
          </a:p>
          <a:p>
            <a:pPr>
              <a:spcBef>
                <a:spcPts val="800"/>
              </a:spcBef>
            </a:pPr>
            <a:r>
              <a:rPr sz="1000">
                <a:solidFill>
                  <a:srgbClr val="D1DDF0"/>
                </a:solidFill>
                <a:latin typeface="Inter"/>
              </a:rPr>
              <a:t>SQLSTATE '45000' adalah kode standar ANSI SQL untuk mendefinisikan *unhandled user-defined exception*. Pesan galat kustom dikirim langsung ke aplikasi.</a:t>
            </a:r>
          </a:p>
        </p:txBody>
      </p:sp>
      <p:sp>
        <p:nvSpPr>
          <p:cNvPr id="12" name="Rounded Rectangle 11"/>
          <p:cNvSpPr/>
          <p:nvPr/>
        </p:nvSpPr>
        <p:spPr>
          <a:xfrm>
            <a:off x="7772400" y="3931920"/>
            <a:ext cx="3657600" cy="201168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36992" y="4069080"/>
            <a:ext cx="3328416" cy="1737360"/>
          </a:xfrm>
          <a:prstGeom prst="rect">
            <a:avLst/>
          </a:prstGeom>
          <a:noFill/>
        </p:spPr>
        <p:txBody>
          <a:bodyPr wrap="square">
            <a:spAutoFit/>
          </a:bodyPr>
          <a:lstStyle/>
          <a:p>
            <a:r>
              <a:rPr sz="1250" b="1">
                <a:solidFill>
                  <a:srgbClr val="FFFFFF"/>
                </a:solidFill>
                <a:latin typeface="Plus Jakarta Sans"/>
              </a:rPr>
              <a:t>CONTINUE vs EXIT HANDLER</a:t>
            </a:r>
          </a:p>
          <a:p>
            <a:pPr>
              <a:spcBef>
                <a:spcPts val="800"/>
              </a:spcBef>
            </a:pPr>
            <a:r>
              <a:rPr sz="1000">
                <a:solidFill>
                  <a:srgbClr val="D1DDF0"/>
                </a:solidFill>
                <a:latin typeface="Inter"/>
              </a:rPr>
              <a:t>• EXIT: Menyetop eksekusi blok kode dan langsung keluar dari compound statement.
• CONTINUE: Menjalankan aksi handler dan tetap melanjutkan baris instruksi berikutnya.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B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329184"/>
          </a:xfrm>
          <a:prstGeom prst="roundRect">
            <a:avLst/>
          </a:prstGeom>
          <a:solidFill>
            <a:srgbClr val="0C1E3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0E5FF"/>
                </a:solidFill>
                <a:latin typeface="JetBrains Mono"/>
              </a:defRPr>
            </a:pPr>
            <a:r>
              <a:t>● 08 · STUDI KASUS 3NF</a:t>
            </a:r>
          </a:p>
        </p:txBody>
      </p:sp>
      <p:sp>
        <p:nvSpPr>
          <p:cNvPr id="4" name="TextBox 3"/>
          <p:cNvSpPr txBox="1"/>
          <p:nvPr/>
        </p:nvSpPr>
        <p:spPr>
          <a:xfrm>
            <a:off x="731520" y="713232"/>
            <a:ext cx="10698480" cy="640080"/>
          </a:xfrm>
          <a:prstGeom prst="rect">
            <a:avLst/>
          </a:prstGeom>
          <a:noFill/>
        </p:spPr>
        <p:txBody>
          <a:bodyPr wrap="square">
            <a:spAutoFit/>
          </a:bodyPr>
          <a:lstStyle/>
          <a:p>
            <a:pPr>
              <a:defRPr sz="2200" b="1">
                <a:solidFill>
                  <a:srgbClr val="FFFFFF"/>
                </a:solidFill>
                <a:latin typeface="Plus Jakarta Sans"/>
              </a:defRPr>
            </a:pPr>
            <a:r>
              <a:t>Skema Fisik 5 Tabel Basis Data Minimarket</a:t>
            </a:r>
          </a:p>
        </p:txBody>
      </p:sp>
      <p:sp>
        <p:nvSpPr>
          <p:cNvPr id="5" name="TextBox 4"/>
          <p:cNvSpPr txBox="1"/>
          <p:nvPr/>
        </p:nvSpPr>
        <p:spPr>
          <a:xfrm>
            <a:off x="731520" y="1298448"/>
            <a:ext cx="10698480" cy="347472"/>
          </a:xfrm>
          <a:prstGeom prst="rect">
            <a:avLst/>
          </a:prstGeom>
          <a:noFill/>
        </p:spPr>
        <p:txBody>
          <a:bodyPr wrap="square">
            <a:spAutoFit/>
          </a:bodyPr>
          <a:lstStyle/>
          <a:p>
            <a:pPr>
              <a:defRPr sz="1150">
                <a:solidFill>
                  <a:srgbClr val="94A3B8"/>
                </a:solidFill>
                <a:latin typeface="Inter"/>
              </a:defRPr>
            </a:pPr>
            <a:r>
              <a:t>Hasil normalisasi Third Normal Form (3NF) kasus ritel kelompok 7 Amikom:</a:t>
            </a:r>
          </a:p>
        </p:txBody>
      </p:sp>
      <p:sp>
        <p:nvSpPr>
          <p:cNvPr id="6" name="TextBox 5"/>
          <p:cNvSpPr txBox="1"/>
          <p:nvPr/>
        </p:nvSpPr>
        <p:spPr>
          <a:xfrm>
            <a:off x="731520" y="6400800"/>
            <a:ext cx="10698480" cy="292608"/>
          </a:xfrm>
          <a:prstGeom prst="rect">
            <a:avLst/>
          </a:prstGeom>
          <a:noFill/>
        </p:spPr>
        <p:txBody>
          <a:bodyPr wrap="none">
            <a:spAutoFit/>
          </a:bodyPr>
          <a:lstStyle/>
          <a:p>
            <a:pPr>
              <a:defRPr sz="950">
                <a:solidFill>
                  <a:srgbClr val="94A3B8"/>
                </a:solidFill>
                <a:latin typeface="Inter"/>
              </a:defRPr>
            </a:pPr>
            <a:r>
              <a:t>SMBD Lanjut · Laboratorium Sistem Informasi Universitas Amikom Yogyakarta</a:t>
            </a:r>
          </a:p>
        </p:txBody>
      </p:sp>
      <p:sp>
        <p:nvSpPr>
          <p:cNvPr id="7" name="Rounded Rectangle 6"/>
          <p:cNvSpPr/>
          <p:nvPr/>
        </p:nvSpPr>
        <p:spPr>
          <a:xfrm>
            <a:off x="731520" y="1828800"/>
            <a:ext cx="2011680" cy="219456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965960"/>
            <a:ext cx="1682496" cy="1920240"/>
          </a:xfrm>
          <a:prstGeom prst="rect">
            <a:avLst/>
          </a:prstGeom>
          <a:noFill/>
        </p:spPr>
        <p:txBody>
          <a:bodyPr wrap="square">
            <a:spAutoFit/>
          </a:bodyPr>
          <a:lstStyle/>
          <a:p>
            <a:r>
              <a:rPr sz="1100" b="1">
                <a:solidFill>
                  <a:srgbClr val="00E5FF"/>
                </a:solidFill>
                <a:latin typeface="JetBrains Mono"/>
              </a:rPr>
              <a:t>[1] </a:t>
            </a:r>
            <a:r>
              <a:rPr sz="1250" b="1">
                <a:solidFill>
                  <a:srgbClr val="FFFFFF"/>
                </a:solidFill>
                <a:latin typeface="Plus Jakarta Sans"/>
              </a:rPr>
              <a:t>KASIR (Parent)</a:t>
            </a:r>
          </a:p>
          <a:p>
            <a:pPr>
              <a:spcBef>
                <a:spcPts val="800"/>
              </a:spcBef>
            </a:pPr>
            <a:r>
              <a:rPr sz="1000">
                <a:solidFill>
                  <a:srgbClr val="D1DDF0"/>
                </a:solidFill>
                <a:latin typeface="Inter"/>
              </a:rPr>
              <a:t>• KodeKasir: CHAR(3) [PK]
• NamaKasir: VARCHAR(30)
• Pass: CHAR(6) [CHK 6 char]</a:t>
            </a:r>
          </a:p>
        </p:txBody>
      </p:sp>
      <p:sp>
        <p:nvSpPr>
          <p:cNvPr id="9" name="Rounded Rectangle 8"/>
          <p:cNvSpPr/>
          <p:nvPr/>
        </p:nvSpPr>
        <p:spPr>
          <a:xfrm>
            <a:off x="2907791" y="1828800"/>
            <a:ext cx="2011680" cy="219456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72383" y="1965960"/>
            <a:ext cx="1682496" cy="1920240"/>
          </a:xfrm>
          <a:prstGeom prst="rect">
            <a:avLst/>
          </a:prstGeom>
          <a:noFill/>
        </p:spPr>
        <p:txBody>
          <a:bodyPr wrap="square">
            <a:spAutoFit/>
          </a:bodyPr>
          <a:lstStyle/>
          <a:p>
            <a:r>
              <a:rPr sz="1100" b="1">
                <a:solidFill>
                  <a:srgbClr val="00E5FF"/>
                </a:solidFill>
                <a:latin typeface="JetBrains Mono"/>
              </a:rPr>
              <a:t>[2] </a:t>
            </a:r>
            <a:r>
              <a:rPr sz="1250" b="1">
                <a:solidFill>
                  <a:srgbClr val="FFFFFF"/>
                </a:solidFill>
                <a:latin typeface="Plus Jakarta Sans"/>
              </a:rPr>
              <a:t>CUSTOMER (Parent)</a:t>
            </a:r>
          </a:p>
          <a:p>
            <a:pPr>
              <a:spcBef>
                <a:spcPts val="800"/>
              </a:spcBef>
            </a:pPr>
            <a:r>
              <a:rPr sz="1000">
                <a:solidFill>
                  <a:srgbClr val="D1DDF0"/>
                </a:solidFill>
                <a:latin typeface="Inter"/>
              </a:rPr>
              <a:t>• KodeCus: CHAR(5) [PK]
• NamaCus: VARCHAR(50)
• PointTerkumpul: INT</a:t>
            </a:r>
          </a:p>
        </p:txBody>
      </p:sp>
      <p:sp>
        <p:nvSpPr>
          <p:cNvPr id="11" name="Rounded Rectangle 10"/>
          <p:cNvSpPr/>
          <p:nvPr/>
        </p:nvSpPr>
        <p:spPr>
          <a:xfrm>
            <a:off x="5084064" y="1828800"/>
            <a:ext cx="2011680" cy="219456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48656" y="1965960"/>
            <a:ext cx="1682496" cy="1920240"/>
          </a:xfrm>
          <a:prstGeom prst="rect">
            <a:avLst/>
          </a:prstGeom>
          <a:noFill/>
        </p:spPr>
        <p:txBody>
          <a:bodyPr wrap="square">
            <a:spAutoFit/>
          </a:bodyPr>
          <a:lstStyle/>
          <a:p>
            <a:r>
              <a:rPr sz="1100" b="1">
                <a:solidFill>
                  <a:srgbClr val="00E5FF"/>
                </a:solidFill>
                <a:latin typeface="JetBrains Mono"/>
              </a:rPr>
              <a:t>[3] </a:t>
            </a:r>
            <a:r>
              <a:rPr sz="1250" b="1">
                <a:solidFill>
                  <a:srgbClr val="FFFFFF"/>
                </a:solidFill>
                <a:latin typeface="Plus Jakarta Sans"/>
              </a:rPr>
              <a:t>PRODUK (Parent)</a:t>
            </a:r>
          </a:p>
          <a:p>
            <a:pPr>
              <a:spcBef>
                <a:spcPts val="800"/>
              </a:spcBef>
            </a:pPr>
            <a:r>
              <a:rPr sz="1000">
                <a:solidFill>
                  <a:srgbClr val="D1DDF0"/>
                </a:solidFill>
                <a:latin typeface="Inter"/>
              </a:rPr>
              <a:t>• KodeProduk: CHAR(4) [PK]
• NamaProduk: VARCHAR(50)
• Harga: INT, stok: INT</a:t>
            </a:r>
          </a:p>
        </p:txBody>
      </p:sp>
      <p:sp>
        <p:nvSpPr>
          <p:cNvPr id="13" name="Rounded Rectangle 12"/>
          <p:cNvSpPr/>
          <p:nvPr/>
        </p:nvSpPr>
        <p:spPr>
          <a:xfrm>
            <a:off x="7260336" y="1828800"/>
            <a:ext cx="2011680" cy="219456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24928" y="1965960"/>
            <a:ext cx="1682496" cy="1920240"/>
          </a:xfrm>
          <a:prstGeom prst="rect">
            <a:avLst/>
          </a:prstGeom>
          <a:noFill/>
        </p:spPr>
        <p:txBody>
          <a:bodyPr wrap="square">
            <a:spAutoFit/>
          </a:bodyPr>
          <a:lstStyle/>
          <a:p>
            <a:r>
              <a:rPr sz="1100" b="1">
                <a:solidFill>
                  <a:srgbClr val="00E5FF"/>
                </a:solidFill>
                <a:latin typeface="JetBrains Mono"/>
              </a:rPr>
              <a:t>[4] </a:t>
            </a:r>
            <a:r>
              <a:rPr sz="1250" b="1">
                <a:solidFill>
                  <a:srgbClr val="FFFFFF"/>
                </a:solidFill>
                <a:latin typeface="Plus Jakarta Sans"/>
              </a:rPr>
              <a:t>NOTA (Child / Header)</a:t>
            </a:r>
          </a:p>
          <a:p>
            <a:pPr>
              <a:spcBef>
                <a:spcPts val="800"/>
              </a:spcBef>
            </a:pPr>
            <a:r>
              <a:rPr sz="1000">
                <a:solidFill>
                  <a:srgbClr val="D1DDF0"/>
                </a:solidFill>
                <a:latin typeface="Inter"/>
              </a:rPr>
              <a:t>• Nonota: CHAR(10) [PK]
• KodeKasir: FK kasir
• KodeCus: FK customer</a:t>
            </a:r>
          </a:p>
        </p:txBody>
      </p:sp>
      <p:sp>
        <p:nvSpPr>
          <p:cNvPr id="15" name="Rounded Rectangle 14"/>
          <p:cNvSpPr/>
          <p:nvPr/>
        </p:nvSpPr>
        <p:spPr>
          <a:xfrm>
            <a:off x="9436608" y="1828800"/>
            <a:ext cx="2011680" cy="219456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0" y="1965960"/>
            <a:ext cx="1682496" cy="1920240"/>
          </a:xfrm>
          <a:prstGeom prst="rect">
            <a:avLst/>
          </a:prstGeom>
          <a:noFill/>
        </p:spPr>
        <p:txBody>
          <a:bodyPr wrap="square">
            <a:spAutoFit/>
          </a:bodyPr>
          <a:lstStyle/>
          <a:p>
            <a:r>
              <a:rPr sz="1100" b="1">
                <a:solidFill>
                  <a:srgbClr val="00E5FF"/>
                </a:solidFill>
                <a:latin typeface="JetBrains Mono"/>
              </a:rPr>
              <a:t>[5] </a:t>
            </a:r>
            <a:r>
              <a:rPr sz="1250" b="1">
                <a:solidFill>
                  <a:srgbClr val="FFFFFF"/>
                </a:solidFill>
                <a:latin typeface="Plus Jakarta Sans"/>
              </a:rPr>
              <a:t>ITEMNOTA (Bridge N:M)</a:t>
            </a:r>
          </a:p>
          <a:p>
            <a:pPr>
              <a:spcBef>
                <a:spcPts val="800"/>
              </a:spcBef>
            </a:pPr>
            <a:r>
              <a:rPr sz="1000">
                <a:solidFill>
                  <a:srgbClr val="D1DDF0"/>
                </a:solidFill>
                <a:latin typeface="Inter"/>
              </a:rPr>
              <a:t>• Nonota: CHAR(10) [PK, FK]
• KodeProduk: CHAR(4) [PK, FK]
• banyak: INT, hargajual: INT</a:t>
            </a:r>
          </a:p>
        </p:txBody>
      </p:sp>
      <p:sp>
        <p:nvSpPr>
          <p:cNvPr id="17" name="Rounded Rectangle 16"/>
          <p:cNvSpPr/>
          <p:nvPr/>
        </p:nvSpPr>
        <p:spPr>
          <a:xfrm>
            <a:off x="731520" y="4206240"/>
            <a:ext cx="10728655" cy="1828800"/>
          </a:xfrm>
          <a:prstGeom prst="roundRect">
            <a:avLst/>
          </a:prstGeom>
          <a:solidFill>
            <a:srgbClr val="03071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261104"/>
            <a:ext cx="10454335" cy="256032"/>
          </a:xfrm>
          <a:prstGeom prst="rect">
            <a:avLst/>
          </a:prstGeom>
          <a:noFill/>
        </p:spPr>
        <p:txBody>
          <a:bodyPr wrap="none">
            <a:spAutoFit/>
          </a:bodyPr>
          <a:lstStyle/>
          <a:p>
            <a:pPr>
              <a:defRPr sz="950" b="1">
                <a:solidFill>
                  <a:srgbClr val="00E5FF"/>
                </a:solidFill>
                <a:latin typeface="JetBrains Mono"/>
              </a:defRPr>
            </a:pPr>
            <a:r>
              <a:t>Terminal / SQL: DDL Tabel Jembatan (Bridge Table ITEMNOTA)</a:t>
            </a:r>
          </a:p>
        </p:txBody>
      </p:sp>
      <p:sp>
        <p:nvSpPr>
          <p:cNvPr id="19" name="TextBox 18"/>
          <p:cNvSpPr txBox="1"/>
          <p:nvPr/>
        </p:nvSpPr>
        <p:spPr>
          <a:xfrm>
            <a:off x="868680" y="4526280"/>
            <a:ext cx="10454335" cy="1463040"/>
          </a:xfrm>
          <a:prstGeom prst="rect">
            <a:avLst/>
          </a:prstGeom>
          <a:noFill/>
        </p:spPr>
        <p:txBody>
          <a:bodyPr wrap="square">
            <a:spAutoFit/>
          </a:bodyPr>
          <a:lstStyle/>
          <a:p>
            <a:r>
              <a:rPr sz="950">
                <a:solidFill>
                  <a:srgbClr val="E2E8F0"/>
                </a:solidFill>
                <a:latin typeface="JetBrains Mono"/>
              </a:rPr>
              <a:t>-- Relasi Many-to-Many antara NOTA dan PRODUK dipecah pada ITEMNOTA:
CREATE TABLE itemnota (
    Nonota CHAR(10) NOT NULL,
    KodeProduk CHAR(4) NOT NULL,
    banyak INT NOT NULL DEFAULT 1,
    hargajual INT NOT NULL,
    PRIMARY KEY (Nonota, KodeProduk),
    CONSTRAINT fk_itemnota_nota FOREIGN KEY (Nonota) REFERENCES nota(Nonota) ON DELETE CASCADE,
    CONSTRAINT fk_itemnota_produk FOREIGN KEY (KodeProduk) REFERENCES produk(KodeProduk)
) ENGINE=InnoDB;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B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329184"/>
          </a:xfrm>
          <a:prstGeom prst="roundRect">
            <a:avLst/>
          </a:prstGeom>
          <a:solidFill>
            <a:srgbClr val="0C1E3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0E5FF"/>
                </a:solidFill>
                <a:latin typeface="JetBrains Mono"/>
              </a:defRPr>
            </a:pPr>
            <a:r>
              <a:t>● 09 · PROSEDUR TRANSAKSI</a:t>
            </a:r>
          </a:p>
        </p:txBody>
      </p:sp>
      <p:sp>
        <p:nvSpPr>
          <p:cNvPr id="4" name="TextBox 3"/>
          <p:cNvSpPr txBox="1"/>
          <p:nvPr/>
        </p:nvSpPr>
        <p:spPr>
          <a:xfrm>
            <a:off x="731520" y="713232"/>
            <a:ext cx="10698480" cy="640080"/>
          </a:xfrm>
          <a:prstGeom prst="rect">
            <a:avLst/>
          </a:prstGeom>
          <a:noFill/>
        </p:spPr>
        <p:txBody>
          <a:bodyPr wrap="square">
            <a:spAutoFit/>
          </a:bodyPr>
          <a:lstStyle/>
          <a:p>
            <a:pPr>
              <a:defRPr sz="2200" b="1">
                <a:solidFill>
                  <a:srgbClr val="FFFFFF"/>
                </a:solidFill>
                <a:latin typeface="Plus Jakarta Sans"/>
              </a:defRPr>
            </a:pPr>
            <a:r>
              <a:t>Studi Kasus: Checkout Kasir &amp; Auto-Deduct Stok</a:t>
            </a:r>
          </a:p>
        </p:txBody>
      </p:sp>
      <p:sp>
        <p:nvSpPr>
          <p:cNvPr id="5" name="TextBox 4"/>
          <p:cNvSpPr txBox="1"/>
          <p:nvPr/>
        </p:nvSpPr>
        <p:spPr>
          <a:xfrm>
            <a:off x="731520" y="1298448"/>
            <a:ext cx="10698480" cy="347472"/>
          </a:xfrm>
          <a:prstGeom prst="rect">
            <a:avLst/>
          </a:prstGeom>
          <a:noFill/>
        </p:spPr>
        <p:txBody>
          <a:bodyPr wrap="square">
            <a:spAutoFit/>
          </a:bodyPr>
          <a:lstStyle/>
          <a:p>
            <a:pPr>
              <a:defRPr sz="1150">
                <a:solidFill>
                  <a:srgbClr val="94A3B8"/>
                </a:solidFill>
                <a:latin typeface="Inter"/>
              </a:defRPr>
            </a:pPr>
            <a:r>
              <a:t>Otomasi transaksi kasir dengan proteksi atomisitas (ACID Transactions):</a:t>
            </a:r>
          </a:p>
        </p:txBody>
      </p:sp>
      <p:sp>
        <p:nvSpPr>
          <p:cNvPr id="6" name="TextBox 5"/>
          <p:cNvSpPr txBox="1"/>
          <p:nvPr/>
        </p:nvSpPr>
        <p:spPr>
          <a:xfrm>
            <a:off x="731520" y="6400800"/>
            <a:ext cx="10698480" cy="292608"/>
          </a:xfrm>
          <a:prstGeom prst="rect">
            <a:avLst/>
          </a:prstGeom>
          <a:noFill/>
        </p:spPr>
        <p:txBody>
          <a:bodyPr wrap="none">
            <a:spAutoFit/>
          </a:bodyPr>
          <a:lstStyle/>
          <a:p>
            <a:pPr>
              <a:defRPr sz="950">
                <a:solidFill>
                  <a:srgbClr val="94A3B8"/>
                </a:solidFill>
                <a:latin typeface="Inter"/>
              </a:defRPr>
            </a:pPr>
            <a:r>
              <a:t>SMBD Lanjut · Laboratorium Sistem Informasi Universitas Amikom Yogyakarta</a:t>
            </a:r>
          </a:p>
        </p:txBody>
      </p:sp>
      <p:sp>
        <p:nvSpPr>
          <p:cNvPr id="7" name="Rounded Rectangle 6"/>
          <p:cNvSpPr/>
          <p:nvPr/>
        </p:nvSpPr>
        <p:spPr>
          <a:xfrm>
            <a:off x="731520" y="1828800"/>
            <a:ext cx="6858000" cy="4114800"/>
          </a:xfrm>
          <a:prstGeom prst="roundRect">
            <a:avLst/>
          </a:prstGeom>
          <a:solidFill>
            <a:srgbClr val="03071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83664"/>
            <a:ext cx="6583680" cy="256032"/>
          </a:xfrm>
          <a:prstGeom prst="rect">
            <a:avLst/>
          </a:prstGeom>
          <a:noFill/>
        </p:spPr>
        <p:txBody>
          <a:bodyPr wrap="none">
            <a:spAutoFit/>
          </a:bodyPr>
          <a:lstStyle/>
          <a:p>
            <a:pPr>
              <a:defRPr sz="950" b="1">
                <a:solidFill>
                  <a:srgbClr val="00E5FF"/>
                </a:solidFill>
                <a:latin typeface="JetBrains Mono"/>
              </a:defRPr>
            </a:pPr>
            <a:r>
              <a:t>Terminal / SQL: sp_CheckoutItem.sql (Transaction + Lock)</a:t>
            </a:r>
          </a:p>
        </p:txBody>
      </p:sp>
      <p:sp>
        <p:nvSpPr>
          <p:cNvPr id="9" name="TextBox 8"/>
          <p:cNvSpPr txBox="1"/>
          <p:nvPr/>
        </p:nvSpPr>
        <p:spPr>
          <a:xfrm>
            <a:off x="868680" y="2148840"/>
            <a:ext cx="6583680" cy="3749040"/>
          </a:xfrm>
          <a:prstGeom prst="rect">
            <a:avLst/>
          </a:prstGeom>
          <a:noFill/>
        </p:spPr>
        <p:txBody>
          <a:bodyPr wrap="square">
            <a:spAutoFit/>
          </a:bodyPr>
          <a:lstStyle/>
          <a:p>
            <a:r>
              <a:rPr sz="850">
                <a:solidFill>
                  <a:srgbClr val="E2E8F0"/>
                </a:solidFill>
                <a:latin typeface="JetBrains Mono"/>
              </a:rPr>
              <a:t>DELIMITER $$
CREATE PROCEDURE sp_CheckoutItem(
    IN p_Nonota CHAR(10), IN p_KodeProduk CHAR(4), IN p_Qty INT
)
BEGIN
    DECLARE v_stok_saat_ini INT;
    DECLARE v_harga_produk INT;
    DECLARE EXIT HANDLER FOR SQLEXCEPTION
    BEGIN
        ROLLBACK; -- Batalkan seluruh perubahan jika terjadi galat
        SIGNAL SQLSTATE '45000' SET MESSAGE_TEXT = 'Transaksi kasir gagal. Rollback executed.';
    END;
    START TRANSACTION;
    -- 1. Validasi persediaan stok barang
    SELECT stok, Harga INTO v_stok_saat_ini, v_harga_produk FROM produk WHERE KodeProduk = p_KodeProduk FOR UPDATE;
    IF v_stok_saat_ini &lt; p_Qty THEN
        SIGNAL SQLSTATE '45000' SET MESSAGE_TEXT = 'Stok barang tidak mencukupi untuk checkout.';
    END IF;
    -- 2. Masukkan item transaksi &amp; kurangi stok fisik
    INSERT INTO itemnota (Nonota, KodeProduk, banyak, hargajual) VALUES (p_Nonota, p_KodeProduk, p_Qty, v_harga_produk);
    UPDATE produk SET stok = stok - p_Qty WHERE KodeProduk = p_KodeProduk;
    COMMIT; -- Simpan permanen perubahan transaksi
END$$
DELIMITER ;</a:t>
            </a:r>
          </a:p>
        </p:txBody>
      </p:sp>
      <p:sp>
        <p:nvSpPr>
          <p:cNvPr id="10" name="Rounded Rectangle 9"/>
          <p:cNvSpPr/>
          <p:nvPr/>
        </p:nvSpPr>
        <p:spPr>
          <a:xfrm>
            <a:off x="7772400" y="1828800"/>
            <a:ext cx="3657600" cy="192024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36992" y="1965960"/>
            <a:ext cx="3328416" cy="1645920"/>
          </a:xfrm>
          <a:prstGeom prst="rect">
            <a:avLst/>
          </a:prstGeom>
          <a:noFill/>
        </p:spPr>
        <p:txBody>
          <a:bodyPr wrap="square">
            <a:spAutoFit/>
          </a:bodyPr>
          <a:lstStyle/>
          <a:p>
            <a:r>
              <a:rPr sz="1250" b="1">
                <a:solidFill>
                  <a:srgbClr val="FFFFFF"/>
                </a:solidFill>
                <a:latin typeface="Plus Jakarta Sans"/>
              </a:rPr>
              <a:t>Pessimistic Locking (FOR UPDATE)</a:t>
            </a:r>
          </a:p>
          <a:p>
            <a:pPr>
              <a:spcBef>
                <a:spcPts val="800"/>
              </a:spcBef>
            </a:pPr>
            <a:r>
              <a:rPr sz="1000">
                <a:solidFill>
                  <a:srgbClr val="D1DDF0"/>
                </a:solidFill>
                <a:latin typeface="Inter"/>
              </a:rPr>
              <a:t>Klausa 'FOR UPDATE' mengunci baris produk yang sedang dibeli agar tidak dibaca/diubah transaksi lain secara bersamaan, mencegah masalah *race condition* stok negatif.</a:t>
            </a:r>
          </a:p>
        </p:txBody>
      </p:sp>
      <p:sp>
        <p:nvSpPr>
          <p:cNvPr id="12" name="Rounded Rectangle 11"/>
          <p:cNvSpPr/>
          <p:nvPr/>
        </p:nvSpPr>
        <p:spPr>
          <a:xfrm>
            <a:off x="7772400" y="3931920"/>
            <a:ext cx="3657600" cy="201168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36992" y="4069080"/>
            <a:ext cx="3328416" cy="1737360"/>
          </a:xfrm>
          <a:prstGeom prst="rect">
            <a:avLst/>
          </a:prstGeom>
          <a:noFill/>
        </p:spPr>
        <p:txBody>
          <a:bodyPr wrap="square">
            <a:spAutoFit/>
          </a:bodyPr>
          <a:lstStyle/>
          <a:p>
            <a:r>
              <a:rPr sz="1250" b="1">
                <a:solidFill>
                  <a:srgbClr val="FFFFFF"/>
                </a:solidFill>
                <a:latin typeface="Plus Jakarta Sans"/>
              </a:rPr>
              <a:t>ACID: START TRANSACTION &amp; ROLLBACK</a:t>
            </a:r>
          </a:p>
          <a:p>
            <a:pPr>
              <a:spcBef>
                <a:spcPts val="800"/>
              </a:spcBef>
            </a:pPr>
            <a:r>
              <a:rPr sz="1000">
                <a:solidFill>
                  <a:srgbClr val="D1DDF0"/>
                </a:solidFill>
                <a:latin typeface="Inter"/>
              </a:rPr>
              <a:t>Jika operasi insert ke itemnota berhasil namun update stok gagal, perintah ROLLBACK memastikan basis data kembali ke status awal yang bersih.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B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329184"/>
          </a:xfrm>
          <a:prstGeom prst="roundRect">
            <a:avLst/>
          </a:prstGeom>
          <a:solidFill>
            <a:srgbClr val="0C1E3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0E5FF"/>
                </a:solidFill>
                <a:latin typeface="JetBrains Mono"/>
              </a:defRPr>
            </a:pPr>
            <a:r>
              <a:t>● 10 · LEMBAR TUGAS</a:t>
            </a:r>
          </a:p>
        </p:txBody>
      </p:sp>
      <p:sp>
        <p:nvSpPr>
          <p:cNvPr id="4" name="TextBox 3"/>
          <p:cNvSpPr txBox="1"/>
          <p:nvPr/>
        </p:nvSpPr>
        <p:spPr>
          <a:xfrm>
            <a:off x="731520" y="713232"/>
            <a:ext cx="10698480" cy="640080"/>
          </a:xfrm>
          <a:prstGeom prst="rect">
            <a:avLst/>
          </a:prstGeom>
          <a:noFill/>
        </p:spPr>
        <p:txBody>
          <a:bodyPr wrap="square">
            <a:spAutoFit/>
          </a:bodyPr>
          <a:lstStyle/>
          <a:p>
            <a:pPr>
              <a:defRPr sz="2200" b="1">
                <a:solidFill>
                  <a:srgbClr val="FFFFFF"/>
                </a:solidFill>
                <a:latin typeface="Plus Jakarta Sans"/>
              </a:defRPr>
            </a:pPr>
            <a:r>
              <a:t>10 Soal Praktikum Mandiri Bertingkat</a:t>
            </a:r>
          </a:p>
        </p:txBody>
      </p:sp>
      <p:sp>
        <p:nvSpPr>
          <p:cNvPr id="5" name="TextBox 4"/>
          <p:cNvSpPr txBox="1"/>
          <p:nvPr/>
        </p:nvSpPr>
        <p:spPr>
          <a:xfrm>
            <a:off x="731520" y="1298448"/>
            <a:ext cx="10698480" cy="347472"/>
          </a:xfrm>
          <a:prstGeom prst="rect">
            <a:avLst/>
          </a:prstGeom>
          <a:noFill/>
        </p:spPr>
        <p:txBody>
          <a:bodyPr wrap="square">
            <a:spAutoFit/>
          </a:bodyPr>
          <a:lstStyle/>
          <a:p>
            <a:pPr>
              <a:defRPr sz="1150">
                <a:solidFill>
                  <a:srgbClr val="94A3B8"/>
                </a:solidFill>
                <a:latin typeface="Inter"/>
              </a:defRPr>
            </a:pPr>
            <a:r>
              <a:t>Latihan berjenjang 4 tingkat kesulitan untuk menguji penguasaan materi:</a:t>
            </a:r>
          </a:p>
        </p:txBody>
      </p:sp>
      <p:sp>
        <p:nvSpPr>
          <p:cNvPr id="6" name="TextBox 5"/>
          <p:cNvSpPr txBox="1"/>
          <p:nvPr/>
        </p:nvSpPr>
        <p:spPr>
          <a:xfrm>
            <a:off x="731520" y="6400800"/>
            <a:ext cx="10698480" cy="292608"/>
          </a:xfrm>
          <a:prstGeom prst="rect">
            <a:avLst/>
          </a:prstGeom>
          <a:noFill/>
        </p:spPr>
        <p:txBody>
          <a:bodyPr wrap="none">
            <a:spAutoFit/>
          </a:bodyPr>
          <a:lstStyle/>
          <a:p>
            <a:pPr>
              <a:defRPr sz="950">
                <a:solidFill>
                  <a:srgbClr val="94A3B8"/>
                </a:solidFill>
                <a:latin typeface="Inter"/>
              </a:defRPr>
            </a:pPr>
            <a:r>
              <a:t>SMBD Lanjut · Laboratorium Sistem Informasi Universitas Amikom Yogyakarta</a:t>
            </a:r>
          </a:p>
        </p:txBody>
      </p:sp>
      <p:sp>
        <p:nvSpPr>
          <p:cNvPr id="7" name="Rounded Rectangle 6"/>
          <p:cNvSpPr/>
          <p:nvPr/>
        </p:nvSpPr>
        <p:spPr>
          <a:xfrm>
            <a:off x="731520" y="1828800"/>
            <a:ext cx="2542032" cy="411480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965960"/>
            <a:ext cx="2212848" cy="3840480"/>
          </a:xfrm>
          <a:prstGeom prst="rect">
            <a:avLst/>
          </a:prstGeom>
          <a:noFill/>
        </p:spPr>
        <p:txBody>
          <a:bodyPr wrap="square">
            <a:spAutoFit/>
          </a:bodyPr>
          <a:lstStyle/>
          <a:p>
            <a:r>
              <a:rPr sz="1100" b="1">
                <a:solidFill>
                  <a:srgbClr val="00E5FF"/>
                </a:solidFill>
                <a:latin typeface="JetBrains Mono"/>
              </a:rPr>
              <a:t>[Level 1] </a:t>
            </a:r>
            <a:r>
              <a:rPr sz="1250" b="1">
                <a:solidFill>
                  <a:srgbClr val="FFFFFF"/>
                </a:solidFill>
                <a:latin typeface="Plus Jakarta Sans"/>
              </a:rPr>
              <a:t>Tingkat 1: UDF Skalar</a:t>
            </a:r>
          </a:p>
          <a:p>
            <a:pPr>
              <a:spcBef>
                <a:spcPts val="800"/>
              </a:spcBef>
            </a:pPr>
            <a:r>
              <a:rPr sz="1000">
                <a:solidFill>
                  <a:srgbClr val="D1DDF0"/>
                </a:solidFill>
                <a:latin typeface="Inter"/>
              </a:rPr>
              <a:t>• Soal 1: UDF fcCekStatusStok (KOSONG, KRITIS, TERSEDIA)
• Soal 2: UDF fcLevelLoyalitas (PLATINUM, GOLD, SILVER, BRONZE)
• Soal 3: UDF fcFormatRupiah ('Rp. 15.000')</a:t>
            </a:r>
          </a:p>
        </p:txBody>
      </p:sp>
      <p:sp>
        <p:nvSpPr>
          <p:cNvPr id="9" name="Rounded Rectangle 8"/>
          <p:cNvSpPr/>
          <p:nvPr/>
        </p:nvSpPr>
        <p:spPr>
          <a:xfrm>
            <a:off x="3456432" y="1828800"/>
            <a:ext cx="2542032" cy="411480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21024" y="1965960"/>
            <a:ext cx="2212848" cy="3840480"/>
          </a:xfrm>
          <a:prstGeom prst="rect">
            <a:avLst/>
          </a:prstGeom>
          <a:noFill/>
        </p:spPr>
        <p:txBody>
          <a:bodyPr wrap="square">
            <a:spAutoFit/>
          </a:bodyPr>
          <a:lstStyle/>
          <a:p>
            <a:r>
              <a:rPr sz="1100" b="1">
                <a:solidFill>
                  <a:srgbClr val="00E5FF"/>
                </a:solidFill>
                <a:latin typeface="JetBrains Mono"/>
              </a:rPr>
              <a:t>[Level 2] </a:t>
            </a:r>
            <a:r>
              <a:rPr sz="1250" b="1">
                <a:solidFill>
                  <a:srgbClr val="FFFFFF"/>
                </a:solidFill>
                <a:latin typeface="Plus Jakarta Sans"/>
              </a:rPr>
              <a:t>Tingkat 2: Stored Procedure</a:t>
            </a:r>
          </a:p>
          <a:p>
            <a:pPr>
              <a:spcBef>
                <a:spcPts val="800"/>
              </a:spcBef>
            </a:pPr>
            <a:r>
              <a:rPr sz="1000">
                <a:solidFill>
                  <a:srgbClr val="D1DDF0"/>
                </a:solidFill>
                <a:latin typeface="Inter"/>
              </a:rPr>
              <a:t>• Soal 4: SP sp_RegistrasiCustomer (Insert + auto cek umur)
• Soal 5: SP sp_GantiPasswordKasir (Validasi password lama &amp; 6 digit)
• Soal 6: SP sp_TotalBelanjaNota (Parameter OUT grand total belanja)</a:t>
            </a:r>
          </a:p>
        </p:txBody>
      </p:sp>
      <p:sp>
        <p:nvSpPr>
          <p:cNvPr id="11" name="Rounded Rectangle 10"/>
          <p:cNvSpPr/>
          <p:nvPr/>
        </p:nvSpPr>
        <p:spPr>
          <a:xfrm>
            <a:off x="6181344" y="1828800"/>
            <a:ext cx="2542032" cy="411480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45936" y="1965960"/>
            <a:ext cx="2212848" cy="3840480"/>
          </a:xfrm>
          <a:prstGeom prst="rect">
            <a:avLst/>
          </a:prstGeom>
          <a:noFill/>
        </p:spPr>
        <p:txBody>
          <a:bodyPr wrap="square">
            <a:spAutoFit/>
          </a:bodyPr>
          <a:lstStyle/>
          <a:p>
            <a:r>
              <a:rPr sz="1100" b="1">
                <a:solidFill>
                  <a:srgbClr val="00E5FF"/>
                </a:solidFill>
                <a:latin typeface="JetBrains Mono"/>
              </a:rPr>
              <a:t>[Level 3] </a:t>
            </a:r>
            <a:r>
              <a:rPr sz="1250" b="1">
                <a:solidFill>
                  <a:srgbClr val="FFFFFF"/>
                </a:solidFill>
                <a:latin typeface="Plus Jakarta Sans"/>
              </a:rPr>
              <a:t>Tingkat 3: CURSOR Loop</a:t>
            </a:r>
          </a:p>
          <a:p>
            <a:pPr>
              <a:spcBef>
                <a:spcPts val="800"/>
              </a:spcBef>
            </a:pPr>
            <a:r>
              <a:rPr sz="1000">
                <a:solidFill>
                  <a:srgbClr val="D1DDF0"/>
                </a:solidFill>
                <a:latin typeface="Inter"/>
              </a:rPr>
              <a:t>• Soal 7: SP sp_AkumulasiPoinNota (Loop baris nota per customer)
• Soal 8: SP sp_LaporanRestokOtomatis (Loop produk stok &lt; 10)</a:t>
            </a:r>
          </a:p>
        </p:txBody>
      </p:sp>
      <p:sp>
        <p:nvSpPr>
          <p:cNvPr id="13" name="Rounded Rectangle 12"/>
          <p:cNvSpPr/>
          <p:nvPr/>
        </p:nvSpPr>
        <p:spPr>
          <a:xfrm>
            <a:off x="8906256" y="1828800"/>
            <a:ext cx="2542032" cy="411480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70848" y="1965960"/>
            <a:ext cx="2212848" cy="3840480"/>
          </a:xfrm>
          <a:prstGeom prst="rect">
            <a:avLst/>
          </a:prstGeom>
          <a:noFill/>
        </p:spPr>
        <p:txBody>
          <a:bodyPr wrap="square">
            <a:spAutoFit/>
          </a:bodyPr>
          <a:lstStyle/>
          <a:p>
            <a:r>
              <a:rPr sz="1100" b="1">
                <a:solidFill>
                  <a:srgbClr val="00E5FF"/>
                </a:solidFill>
                <a:latin typeface="JetBrains Mono"/>
              </a:rPr>
              <a:t>[Level 4] </a:t>
            </a:r>
            <a:r>
              <a:rPr sz="1250" b="1">
                <a:solidFill>
                  <a:srgbClr val="FFFFFF"/>
                </a:solidFill>
                <a:latin typeface="Plus Jakarta Sans"/>
              </a:rPr>
              <a:t>Tingkat 4: Error Handling</a:t>
            </a:r>
          </a:p>
          <a:p>
            <a:pPr>
              <a:spcBef>
                <a:spcPts val="800"/>
              </a:spcBef>
            </a:pPr>
            <a:r>
              <a:rPr sz="1000">
                <a:solidFill>
                  <a:srgbClr val="D1DDF0"/>
                </a:solidFill>
                <a:latin typeface="Inter"/>
              </a:rPr>
              <a:t>• Soal 9: SP sp_BatalNotaTransaksi (Rollback stok + SIGNAL)
• Soal 10: SP sp_AuditKasirProteksi (Catat log ke tabel audit)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B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2560320" cy="329184"/>
          </a:xfrm>
          <a:prstGeom prst="roundRect">
            <a:avLst/>
          </a:prstGeom>
          <a:solidFill>
            <a:srgbClr val="0C1E3C"/>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0E5FF"/>
                </a:solidFill>
                <a:latin typeface="JetBrains Mono"/>
              </a:defRPr>
            </a:pPr>
            <a:r>
              <a:t>● 11 · PANDUAN ASPRAK</a:t>
            </a:r>
          </a:p>
        </p:txBody>
      </p:sp>
      <p:sp>
        <p:nvSpPr>
          <p:cNvPr id="4" name="TextBox 3"/>
          <p:cNvSpPr txBox="1"/>
          <p:nvPr/>
        </p:nvSpPr>
        <p:spPr>
          <a:xfrm>
            <a:off x="731520" y="713232"/>
            <a:ext cx="10698480" cy="640080"/>
          </a:xfrm>
          <a:prstGeom prst="rect">
            <a:avLst/>
          </a:prstGeom>
          <a:noFill/>
        </p:spPr>
        <p:txBody>
          <a:bodyPr wrap="square">
            <a:spAutoFit/>
          </a:bodyPr>
          <a:lstStyle/>
          <a:p>
            <a:pPr>
              <a:defRPr sz="2200" b="1">
                <a:solidFill>
                  <a:srgbClr val="FFFFFF"/>
                </a:solidFill>
                <a:latin typeface="Plus Jakarta Sans"/>
              </a:defRPr>
            </a:pPr>
            <a:r>
              <a:t>Kunci Jawaban &amp; Panduan Pengujian Teknis</a:t>
            </a:r>
          </a:p>
        </p:txBody>
      </p:sp>
      <p:sp>
        <p:nvSpPr>
          <p:cNvPr id="5" name="TextBox 4"/>
          <p:cNvSpPr txBox="1"/>
          <p:nvPr/>
        </p:nvSpPr>
        <p:spPr>
          <a:xfrm>
            <a:off x="731520" y="1298448"/>
            <a:ext cx="10698480" cy="347472"/>
          </a:xfrm>
          <a:prstGeom prst="rect">
            <a:avLst/>
          </a:prstGeom>
          <a:noFill/>
        </p:spPr>
        <p:txBody>
          <a:bodyPr wrap="square">
            <a:spAutoFit/>
          </a:bodyPr>
          <a:lstStyle/>
          <a:p>
            <a:pPr>
              <a:defRPr sz="1150">
                <a:solidFill>
                  <a:srgbClr val="94A3B8"/>
                </a:solidFill>
                <a:latin typeface="Inter"/>
              </a:defRPr>
            </a:pPr>
            <a:r>
              <a:t>Referensi kueri resmi asisten praktikum dalam menguji hasil pekerjaan praktikan:</a:t>
            </a:r>
          </a:p>
        </p:txBody>
      </p:sp>
      <p:sp>
        <p:nvSpPr>
          <p:cNvPr id="6" name="TextBox 5"/>
          <p:cNvSpPr txBox="1"/>
          <p:nvPr/>
        </p:nvSpPr>
        <p:spPr>
          <a:xfrm>
            <a:off x="731520" y="6400800"/>
            <a:ext cx="10698480" cy="292608"/>
          </a:xfrm>
          <a:prstGeom prst="rect">
            <a:avLst/>
          </a:prstGeom>
          <a:noFill/>
        </p:spPr>
        <p:txBody>
          <a:bodyPr wrap="none">
            <a:spAutoFit/>
          </a:bodyPr>
          <a:lstStyle/>
          <a:p>
            <a:pPr>
              <a:defRPr sz="950">
                <a:solidFill>
                  <a:srgbClr val="94A3B8"/>
                </a:solidFill>
                <a:latin typeface="Inter"/>
              </a:defRPr>
            </a:pPr>
            <a:r>
              <a:t>SMBD Lanjut · Laboratorium Sistem Informasi Universitas Amikom Yogyakarta</a:t>
            </a:r>
          </a:p>
        </p:txBody>
      </p:sp>
      <p:sp>
        <p:nvSpPr>
          <p:cNvPr id="7" name="Rounded Rectangle 6"/>
          <p:cNvSpPr/>
          <p:nvPr/>
        </p:nvSpPr>
        <p:spPr>
          <a:xfrm>
            <a:off x="731520" y="1828800"/>
            <a:ext cx="6858000" cy="4114800"/>
          </a:xfrm>
          <a:prstGeom prst="roundRect">
            <a:avLst/>
          </a:prstGeom>
          <a:solidFill>
            <a:srgbClr val="03071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83664"/>
            <a:ext cx="6583680" cy="256032"/>
          </a:xfrm>
          <a:prstGeom prst="rect">
            <a:avLst/>
          </a:prstGeom>
          <a:noFill/>
        </p:spPr>
        <p:txBody>
          <a:bodyPr wrap="none">
            <a:spAutoFit/>
          </a:bodyPr>
          <a:lstStyle/>
          <a:p>
            <a:pPr>
              <a:defRPr sz="950" b="1">
                <a:solidFill>
                  <a:srgbClr val="00E5FF"/>
                </a:solidFill>
                <a:latin typeface="JetBrains Mono"/>
              </a:defRPr>
            </a:pPr>
            <a:r>
              <a:t>Terminal / SQL: Solusi Resmi Soal 1 &amp; 7</a:t>
            </a:r>
          </a:p>
        </p:txBody>
      </p:sp>
      <p:sp>
        <p:nvSpPr>
          <p:cNvPr id="9" name="TextBox 8"/>
          <p:cNvSpPr txBox="1"/>
          <p:nvPr/>
        </p:nvSpPr>
        <p:spPr>
          <a:xfrm>
            <a:off x="868680" y="2148840"/>
            <a:ext cx="6583680" cy="3749040"/>
          </a:xfrm>
          <a:prstGeom prst="rect">
            <a:avLst/>
          </a:prstGeom>
          <a:noFill/>
        </p:spPr>
        <p:txBody>
          <a:bodyPr wrap="square">
            <a:spAutoFit/>
          </a:bodyPr>
          <a:lstStyle/>
          <a:p>
            <a:r>
              <a:rPr sz="850">
                <a:solidFill>
                  <a:srgbClr val="E2E8F0"/>
                </a:solidFill>
                <a:latin typeface="JetBrains Mono"/>
              </a:rPr>
              <a:t>-- KUNCI SOAL 1: fcCekStatusStok
CREATE FUNCTION fcCekStatusStok(p_kodeproduk CHAR(4)) RETURNS VARCHAR(30) DETERMINISTIC READS SQL DATA
BEGIN
    DECLARE v_stok INT; DECLARE v_status VARCHAR(30);
    SELECT stok INTO v_stok FROM produk WHERE kodeproduk = p_kodeproduk;
    IF v_stok IS NULL THEN SET v_status = 'PRODUK TIDAK ADA';
    ELSEIF v_stok = 0 THEN SET v_status = 'KOSONG';
    ELSEIF v_stok &lt;= 5 THEN SET v_status = 'KRITIS';
    ELSE SET v_status = CONCAT('TERSEDIA (', v_stok, ' Unit)');
    END IF;
    RETURN v_status;
END;
-- KUNCI SOAL 7: sp_AkumulasiPoinNota (CURSOR)
CREATE PROCEDURE sp_HitungTotalBelanjaKasir(IN p_KodeKasir CHAR(3), OUT p_GrandTotal INT)
BEGIN
    SELECT COALESCE(SUM(i.banyak * i.hargajual), 0) INTO p_GrandTotal
    FROM nota n JOIN itemnota i ON n.Nonota = i.Nonota WHERE n.KodeKasir = p_KodeKasir;
END;</a:t>
            </a:r>
          </a:p>
        </p:txBody>
      </p:sp>
      <p:sp>
        <p:nvSpPr>
          <p:cNvPr id="10" name="Rounded Rectangle 9"/>
          <p:cNvSpPr/>
          <p:nvPr/>
        </p:nvSpPr>
        <p:spPr>
          <a:xfrm>
            <a:off x="7772400" y="1828800"/>
            <a:ext cx="3657600" cy="192024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36992" y="1965960"/>
            <a:ext cx="3328416" cy="1645920"/>
          </a:xfrm>
          <a:prstGeom prst="rect">
            <a:avLst/>
          </a:prstGeom>
          <a:noFill/>
        </p:spPr>
        <p:txBody>
          <a:bodyPr wrap="square">
            <a:spAutoFit/>
          </a:bodyPr>
          <a:lstStyle/>
          <a:p>
            <a:r>
              <a:rPr sz="1250" b="1">
                <a:solidFill>
                  <a:srgbClr val="FFFFFF"/>
                </a:solidFill>
                <a:latin typeface="Plus Jakarta Sans"/>
              </a:rPr>
              <a:t>Kriteria Penilaian</a:t>
            </a:r>
          </a:p>
          <a:p>
            <a:pPr>
              <a:spcBef>
                <a:spcPts val="800"/>
              </a:spcBef>
            </a:pPr>
            <a:r>
              <a:rPr sz="1000">
                <a:solidFill>
                  <a:srgbClr val="D1DDF0"/>
                </a:solidFill>
                <a:latin typeface="Inter"/>
              </a:rPr>
              <a:t>1. Fungsionalitas kueri (40%)
2. Penanganan kondisi batas NULL/0 (20%)
3. Struktur kontrol &amp; efisiensi kursor (20%)
4. Keamanan transaksi &amp; integritas DML (20%)</a:t>
            </a:r>
          </a:p>
        </p:txBody>
      </p:sp>
      <p:sp>
        <p:nvSpPr>
          <p:cNvPr id="12" name="Rounded Rectangle 11"/>
          <p:cNvSpPr/>
          <p:nvPr/>
        </p:nvSpPr>
        <p:spPr>
          <a:xfrm>
            <a:off x="7772400" y="3931920"/>
            <a:ext cx="3657600" cy="201168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36992" y="4069080"/>
            <a:ext cx="3328416" cy="1737360"/>
          </a:xfrm>
          <a:prstGeom prst="rect">
            <a:avLst/>
          </a:prstGeom>
          <a:noFill/>
        </p:spPr>
        <p:txBody>
          <a:bodyPr wrap="square">
            <a:spAutoFit/>
          </a:bodyPr>
          <a:lstStyle/>
          <a:p>
            <a:r>
              <a:rPr sz="1250" b="1">
                <a:solidFill>
                  <a:srgbClr val="FFFFFF"/>
                </a:solidFill>
                <a:latin typeface="Plus Jakarta Sans"/>
              </a:rPr>
              <a:t>Rubrik Pengujian Lab</a:t>
            </a:r>
          </a:p>
          <a:p>
            <a:pPr>
              <a:spcBef>
                <a:spcPts val="800"/>
              </a:spcBef>
            </a:pPr>
            <a:r>
              <a:rPr sz="1000">
                <a:solidFill>
                  <a:srgbClr val="D1DDF0"/>
                </a:solidFill>
                <a:latin typeface="Inter"/>
              </a:rPr>
              <a:t>Gunakan dataset 'minimarket_db.sql'. Lakukan pengujian dengan menginputkan produk dengan stok 0, stok 3, dan produk yang tidak terdaftar di tabel.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