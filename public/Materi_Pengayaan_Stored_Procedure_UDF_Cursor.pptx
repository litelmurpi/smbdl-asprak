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di modul pengayaan Sistem Manajemen Basis Data Lanjut (SMBD Lanjut). Pada sesi ini mahasiswa akan mempelajari cara membangun logika bisnis di sisi RDBMS MySQL menggunakan Stored Procedure, UDF, Cursor, dan Error Handling pada basis data minimarket 3NF.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kepada mahasiswa bahwa keuntungan terbesar Stored Routine terletak pada berkurangnya traffic bolak-balik antara server aplikasi dan database.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Ingatkan aturan MySQL: Function tidak boleh melakukan INSERT/UPDATE/DELETE jika dipanggil dari SELECT.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pentingnya klausa DELIMITER $$ agar MySQL tidak mengartikan titik koma di dalam fungsi sebagai akhir kueri.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variabel session di MySQL menggunakan simbol '@' (contoh: @total, @bonus). Parameter OUT dan INOUT wajib dipanggil menggunakan variabel session ini.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Ingatkan perbedaan END IF; dan END CASE; yang wajib diakhiri titik koma di blok BEGIN...END.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urutan deklarasi variabel di MySQL: variabel biasa dulu, lalu CURSOR, baru kemudian HANDLER.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penanganan galat terstruktur mencegah aplikasi crash tanpa pesan yang jelas.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mengapa Nonota dan KodeProduk dijadikan Composite Primary Key pada itemnota.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prinsip ACID. Stored procedure adalah tempat ideal untuk membungkus transaksi bisnis agar tidak bocor ke sisi klien.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Mahasiswa wajib mengerjakan minimal Soal 1 s.d. Soal 8. Soal 9 dan 10 adalah nilai pengayaan khusus.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Perhatikan apakah mahasiswa menggunakan SELECT INTO atau cursor.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822960"/>
            <a:ext cx="10058400" cy="365760"/>
          </a:xfrm>
          <a:prstGeom prst="rect">
            <a:avLst/>
          </a:prstGeom>
          <a:noFill/>
        </p:spPr>
        <p:txBody>
          <a:bodyPr wrap="none">
            <a:spAutoFit/>
          </a:bodyPr>
          <a:lstStyle/>
          <a:p>
            <a:r>
              <a:rPr sz="1050" b="1">
                <a:solidFill>
                  <a:srgbClr val="00E5FF"/>
                </a:solidFill>
                <a:latin typeface="JetBrains Mono"/>
              </a:rPr>
              <a:t>● SISTEM INFORMASI 2024/2025 · SMBD LANJUT   </a:t>
            </a:r>
            <a:r>
              <a:rPr sz="1050">
                <a:solidFill>
                  <a:srgbClr val="94A3B8"/>
                </a:solidFill>
                <a:latin typeface="Inter"/>
              </a:rPr>
              <a:t>Universitas Amikom Yogyakarta</a:t>
            </a:r>
          </a:p>
        </p:txBody>
      </p:sp>
      <p:sp>
        <p:nvSpPr>
          <p:cNvPr id="5" name="TextBox 4"/>
          <p:cNvSpPr txBox="1"/>
          <p:nvPr/>
        </p:nvSpPr>
        <p:spPr>
          <a:xfrm>
            <a:off x="1005840" y="1371600"/>
            <a:ext cx="10058400" cy="1645920"/>
          </a:xfrm>
          <a:prstGeom prst="rect">
            <a:avLst/>
          </a:prstGeom>
          <a:noFill/>
        </p:spPr>
        <p:txBody>
          <a:bodyPr wrap="square">
            <a:spAutoFit/>
          </a:bodyPr>
          <a:lstStyle/>
          <a:p>
            <a:pPr>
              <a:defRPr sz="3200" b="1">
                <a:solidFill>
                  <a:srgbClr val="FFFFFF"/>
                </a:solidFill>
                <a:latin typeface="Plus Jakarta Sans"/>
              </a:defRPr>
            </a:pPr>
            <a:r>
              <a:t>Pemrograman Prosedural Database:</a:t>
            </a:r>
          </a:p>
          <a:p>
            <a:pPr>
              <a:defRPr sz="3200" b="1">
                <a:solidFill>
                  <a:srgbClr val="00E5FF"/>
                </a:solidFill>
                <a:latin typeface="Plus Jakarta Sans"/>
              </a:defRPr>
            </a:pPr>
            <a:r>
              <a:t>Stored Procedure, UDF &amp; Cursor</a:t>
            </a:r>
          </a:p>
        </p:txBody>
      </p:sp>
      <p:sp>
        <p:nvSpPr>
          <p:cNvPr id="6" name="TextBox 5"/>
          <p:cNvSpPr txBox="1"/>
          <p:nvPr/>
        </p:nvSpPr>
        <p:spPr>
          <a:xfrm>
            <a:off x="1005840" y="3154680"/>
            <a:ext cx="9875520" cy="822960"/>
          </a:xfrm>
          <a:prstGeom prst="rect">
            <a:avLst/>
          </a:prstGeom>
          <a:noFill/>
        </p:spPr>
        <p:txBody>
          <a:bodyPr wrap="square">
            <a:spAutoFit/>
          </a:bodyPr>
          <a:lstStyle/>
          <a:p>
            <a:pPr>
              <a:defRPr sz="1200">
                <a:solidFill>
                  <a:srgbClr val="CBD5E1"/>
                </a:solidFill>
                <a:latin typeface="Inter"/>
              </a:defRPr>
            </a:pPr>
            <a:r>
              <a:t>Penyusunan logika bisnis terpusat di sisi server (RDBMS): User Defined Function (UDF), Stored Procedure dengan parameter IN/OUT/INOUT, iterasi baris per baris dengan CURSOR, dan penanganan galat terstruktur (SIGNAL SQLSTATE &amp; HANDLER) pada kasus ritel minimarket 3NF.</a:t>
            </a:r>
          </a:p>
        </p:txBody>
      </p:sp>
      <p:sp>
        <p:nvSpPr>
          <p:cNvPr id="7" name="Rounded Rectangle 6"/>
          <p:cNvSpPr/>
          <p:nvPr/>
        </p:nvSpPr>
        <p:spPr>
          <a:xfrm>
            <a:off x="1005840" y="4206240"/>
            <a:ext cx="3200400" cy="822960"/>
          </a:xfrm>
          <a:prstGeom prst="roundRect">
            <a:avLst/>
          </a:prstGeom>
          <a:solidFill>
            <a:srgbClr val="101A34"/>
          </a:solidFill>
          <a:ln>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38BDF8"/>
                </a:solidFill>
                <a:latin typeface="JetBrains Mono"/>
              </a:defRPr>
            </a:pPr>
            <a:r>
              <a:t>MATERI PRAKTIKUM</a:t>
            </a:r>
          </a:p>
          <a:p>
            <a:pPr>
              <a:defRPr sz="1250" b="1">
                <a:solidFill>
                  <a:srgbClr val="FFFFFF"/>
                </a:solidFill>
                <a:latin typeface="Plus Jakarta Sans"/>
              </a:defRPr>
            </a:pPr>
            <a:r>
              <a:t>Pengayaan Praktikum 4</a:t>
            </a:r>
          </a:p>
        </p:txBody>
      </p:sp>
      <p:sp>
        <p:nvSpPr>
          <p:cNvPr id="8" name="Rounded Rectangle 7"/>
          <p:cNvSpPr/>
          <p:nvPr/>
        </p:nvSpPr>
        <p:spPr>
          <a:xfrm>
            <a:off x="4389120" y="4206240"/>
            <a:ext cx="3200400" cy="822960"/>
          </a:xfrm>
          <a:prstGeom prst="roundRect">
            <a:avLst/>
          </a:prstGeom>
          <a:solidFill>
            <a:srgbClr val="101A34"/>
          </a:solidFill>
          <a:ln>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38BDF8"/>
                </a:solidFill>
                <a:latin typeface="JetBrains Mono"/>
              </a:defRPr>
            </a:pPr>
            <a:r>
              <a:t>STUDI KASUS RITEL</a:t>
            </a:r>
          </a:p>
          <a:p>
            <a:pPr>
              <a:defRPr sz="1250" b="1">
                <a:solidFill>
                  <a:srgbClr val="FFFFFF"/>
                </a:solidFill>
                <a:latin typeface="Plus Jakarta Sans"/>
              </a:defRPr>
            </a:pPr>
            <a:r>
              <a:t>Otomasi Nota &amp; Stok 3NF</a:t>
            </a:r>
          </a:p>
        </p:txBody>
      </p:sp>
      <p:sp>
        <p:nvSpPr>
          <p:cNvPr id="9" name="Rounded Rectangle 8"/>
          <p:cNvSpPr/>
          <p:nvPr/>
        </p:nvSpPr>
        <p:spPr>
          <a:xfrm>
            <a:off x="7772400" y="4206240"/>
            <a:ext cx="3200400" cy="822960"/>
          </a:xfrm>
          <a:prstGeom prst="roundRect">
            <a:avLst/>
          </a:prstGeom>
          <a:solidFill>
            <a:srgbClr val="101A34"/>
          </a:solidFill>
          <a:ln>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38BDF8"/>
                </a:solidFill>
                <a:latin typeface="JetBrains Mono"/>
              </a:defRPr>
            </a:pPr>
            <a:r>
              <a:t>TANTANGAN TUGAS</a:t>
            </a:r>
          </a:p>
          <a:p>
            <a:pPr>
              <a:defRPr sz="1250" b="1">
                <a:solidFill>
                  <a:srgbClr val="FFFFFF"/>
                </a:solidFill>
                <a:latin typeface="Plus Jakarta Sans"/>
              </a:defRPr>
            </a:pPr>
            <a:r>
              <a:t>10 Soal Bertingkat + Solusi</a:t>
            </a:r>
          </a:p>
        </p:txBody>
      </p:sp>
      <p:sp>
        <p:nvSpPr>
          <p:cNvPr id="10" name="TextBox 9"/>
          <p:cNvSpPr txBox="1"/>
          <p:nvPr/>
        </p:nvSpPr>
        <p:spPr>
          <a:xfrm>
            <a:off x="1005840" y="5303520"/>
            <a:ext cx="9144000" cy="320040"/>
          </a:xfrm>
          <a:prstGeom prst="rect">
            <a:avLst/>
          </a:prstGeom>
          <a:noFill/>
        </p:spPr>
        <p:txBody>
          <a:bodyPr wrap="none">
            <a:spAutoFit/>
          </a:bodyPr>
          <a:lstStyle/>
          <a:p>
            <a:pPr>
              <a:defRPr sz="1000">
                <a:solidFill>
                  <a:srgbClr val="94A3B8"/>
                </a:solidFill>
                <a:latin typeface="JetBrains Mono"/>
              </a:defRPr>
            </a:pPr>
            <a:r>
              <a:t>Tekan Space atau Panah Kanan untuk navigasi · Didukung DeckCraft &amp; PowerPoint Native</a:t>
            </a:r>
          </a:p>
        </p:txBody>
      </p:sp>
      <p:sp>
        <p:nvSpPr>
          <p:cNvPr id="11" name="TextBox 10"/>
          <p:cNvSpPr txBox="1"/>
          <p:nvPr/>
        </p:nvSpPr>
        <p:spPr>
          <a:xfrm>
            <a:off x="1005840" y="6080760"/>
            <a:ext cx="10058400" cy="320040"/>
          </a:xfrm>
          <a:prstGeom prst="rect">
            <a:avLst/>
          </a:prstGeom>
          <a:noFill/>
        </p:spPr>
        <p:txBody>
          <a:bodyPr wrap="none">
            <a:spAutoFit/>
          </a:bodyPr>
          <a:lstStyle/>
          <a:p>
            <a:pPr>
              <a:defRPr sz="900">
                <a:solidFill>
                  <a:srgbClr val="94A3B8"/>
                </a:solidFill>
                <a:latin typeface="Inter"/>
              </a:defRPr>
            </a:pPr>
            <a:r>
              <a:t>Laboratorium Sistem Informasi · Pengayaan SMBD Lanjut · Slide 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01 · ARSITEKTUR RUTIN</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Efisiensi Jaringan &amp; Kompilasi RDBMS</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Mengapa Memindahkan Logika ke Sisi Server? </a:t>
            </a:r>
            <a:r>
              <a:rPr sz="2100" b="1">
                <a:solidFill>
                  <a:srgbClr val="00E5FF"/>
                </a:solidFill>
                <a:latin typeface="Plus Jakarta Sans"/>
              </a:rPr>
              <a:t>Efisiensi Jaringan &amp; Kompilasi RDBMS</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TextBox 7"/>
          <p:cNvSpPr txBox="1"/>
          <p:nvPr/>
        </p:nvSpPr>
        <p:spPr>
          <a:xfrm>
            <a:off x="914400" y="1463040"/>
            <a:ext cx="10332720" cy="365760"/>
          </a:xfrm>
          <a:prstGeom prst="rect">
            <a:avLst/>
          </a:prstGeom>
          <a:noFill/>
        </p:spPr>
        <p:txBody>
          <a:bodyPr wrap="none">
            <a:spAutoFit/>
          </a:bodyPr>
          <a:lstStyle/>
          <a:p>
            <a:pPr>
              <a:defRPr sz="1100">
                <a:solidFill>
                  <a:srgbClr val="CBD5E1"/>
                </a:solidFill>
                <a:latin typeface="Inter"/>
              </a:defRPr>
            </a:pPr>
            <a:r>
              <a:t>Stored Routine memindahkan beban eksekusi logika bisnis dari aplikasi klien langsung ke memori database engine, memberikan 4 keuntungan fundamental:</a:t>
            </a:r>
          </a:p>
        </p:txBody>
      </p:sp>
      <p:sp>
        <p:nvSpPr>
          <p:cNvPr id="9" name="Rounded Rectangle 8"/>
          <p:cNvSpPr/>
          <p:nvPr/>
        </p:nvSpPr>
        <p:spPr>
          <a:xfrm>
            <a:off x="914400" y="1920240"/>
            <a:ext cx="2450592" cy="3931920"/>
          </a:xfrm>
          <a:prstGeom prst="roundRect">
            <a:avLst/>
          </a:prstGeom>
          <a:solidFill>
            <a:srgbClr val="132040"/>
          </a:solidFill>
          <a:ln w="1587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048256"/>
            <a:ext cx="2121408" cy="3675888"/>
          </a:xfrm>
          <a:prstGeom prst="rect">
            <a:avLst/>
          </a:prstGeom>
          <a:noFill/>
        </p:spPr>
        <p:txBody>
          <a:bodyPr wrap="square">
            <a:spAutoFit/>
          </a:bodyPr>
          <a:lstStyle/>
          <a:p>
            <a:r>
              <a:rPr sz="1050" b="1">
                <a:solidFill>
                  <a:srgbClr val="00E5FF"/>
                </a:solidFill>
                <a:latin typeface="JetBrains Mono"/>
              </a:rPr>
              <a:t>[01] </a:t>
            </a:r>
            <a:r>
              <a:rPr sz="1200" b="1">
                <a:solidFill>
                  <a:srgbClr val="FFFFFF"/>
                </a:solidFill>
                <a:latin typeface="Plus Jakarta Sans"/>
              </a:rPr>
              <a:t>Reduksi Latensi</a:t>
            </a:r>
          </a:p>
          <a:p>
            <a:pPr>
              <a:spcBef>
                <a:spcPts val="600"/>
              </a:spcBef>
            </a:pPr>
            <a:r>
              <a:rPr sz="950">
                <a:solidFill>
                  <a:srgbClr val="CBD5E1"/>
                </a:solidFill>
                <a:latin typeface="Inter"/>
              </a:rPr>
              <a:t>Menggantikan belasan kueri SELECT dan UPDATE bolak-balik jaringan menjadi satu perintah CALL, memangkas network latency secara drastis.</a:t>
            </a:r>
          </a:p>
        </p:txBody>
      </p:sp>
      <p:sp>
        <p:nvSpPr>
          <p:cNvPr id="11" name="Rounded Rectangle 10"/>
          <p:cNvSpPr/>
          <p:nvPr/>
        </p:nvSpPr>
        <p:spPr>
          <a:xfrm>
            <a:off x="3547872" y="1920240"/>
            <a:ext cx="2450592" cy="3931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12464" y="2048256"/>
            <a:ext cx="2121408" cy="3675888"/>
          </a:xfrm>
          <a:prstGeom prst="rect">
            <a:avLst/>
          </a:prstGeom>
          <a:noFill/>
        </p:spPr>
        <p:txBody>
          <a:bodyPr wrap="square">
            <a:spAutoFit/>
          </a:bodyPr>
          <a:lstStyle/>
          <a:p>
            <a:r>
              <a:rPr sz="1050" b="1">
                <a:solidFill>
                  <a:srgbClr val="00E5FF"/>
                </a:solidFill>
                <a:latin typeface="JetBrains Mono"/>
              </a:rPr>
              <a:t>[02] </a:t>
            </a:r>
            <a:r>
              <a:rPr sz="1200" b="1">
                <a:solidFill>
                  <a:srgbClr val="FFFFFF"/>
                </a:solidFill>
                <a:latin typeface="Plus Jakarta Sans"/>
              </a:rPr>
              <a:t>Logika Terpusat</a:t>
            </a:r>
          </a:p>
          <a:p>
            <a:pPr>
              <a:spcBef>
                <a:spcPts val="600"/>
              </a:spcBef>
            </a:pPr>
            <a:r>
              <a:rPr sz="950">
                <a:solidFill>
                  <a:srgbClr val="CBD5E1"/>
                </a:solidFill>
                <a:latin typeface="Inter"/>
              </a:rPr>
              <a:t>Formula bisnis (diskon, aturan poin member, batas stok) didefinisikan satu kali di database; seluruh aplikasi kasir menggunakan aturan seragam.</a:t>
            </a:r>
          </a:p>
        </p:txBody>
      </p:sp>
      <p:sp>
        <p:nvSpPr>
          <p:cNvPr id="13" name="Rounded Rectangle 12"/>
          <p:cNvSpPr/>
          <p:nvPr/>
        </p:nvSpPr>
        <p:spPr>
          <a:xfrm>
            <a:off x="6181344" y="1920240"/>
            <a:ext cx="2450592" cy="3931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2048256"/>
            <a:ext cx="2121408" cy="3675888"/>
          </a:xfrm>
          <a:prstGeom prst="rect">
            <a:avLst/>
          </a:prstGeom>
          <a:noFill/>
        </p:spPr>
        <p:txBody>
          <a:bodyPr wrap="square">
            <a:spAutoFit/>
          </a:bodyPr>
          <a:lstStyle/>
          <a:p>
            <a:r>
              <a:rPr sz="1050" b="1">
                <a:solidFill>
                  <a:srgbClr val="00E5FF"/>
                </a:solidFill>
                <a:latin typeface="JetBrains Mono"/>
              </a:rPr>
              <a:t>[03] </a:t>
            </a:r>
            <a:r>
              <a:rPr sz="1200" b="1">
                <a:solidFill>
                  <a:srgbClr val="FFFFFF"/>
                </a:solidFill>
                <a:latin typeface="Plus Jakarta Sans"/>
              </a:rPr>
              <a:t>Execution Cache</a:t>
            </a:r>
          </a:p>
          <a:p>
            <a:pPr>
              <a:spcBef>
                <a:spcPts val="600"/>
              </a:spcBef>
            </a:pPr>
            <a:r>
              <a:rPr sz="950">
                <a:solidFill>
                  <a:srgbClr val="CBD5E1"/>
                </a:solidFill>
                <a:latin typeface="Inter"/>
              </a:rPr>
              <a:t>Rencana eksekusi (*execution plan*) dikompilasi satu kali dan disimpan di memori buffer RDBMS. Eksekusi berikutnya berjalan instan tanpa parsing kueri ulang.</a:t>
            </a:r>
          </a:p>
        </p:txBody>
      </p:sp>
      <p:sp>
        <p:nvSpPr>
          <p:cNvPr id="15" name="Rounded Rectangle 14"/>
          <p:cNvSpPr/>
          <p:nvPr/>
        </p:nvSpPr>
        <p:spPr>
          <a:xfrm>
            <a:off x="8814816" y="1920240"/>
            <a:ext cx="2450592" cy="3931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79408" y="2048256"/>
            <a:ext cx="2121408" cy="3675888"/>
          </a:xfrm>
          <a:prstGeom prst="rect">
            <a:avLst/>
          </a:prstGeom>
          <a:noFill/>
        </p:spPr>
        <p:txBody>
          <a:bodyPr wrap="square">
            <a:spAutoFit/>
          </a:bodyPr>
          <a:lstStyle/>
          <a:p>
            <a:r>
              <a:rPr sz="1050" b="1">
                <a:solidFill>
                  <a:srgbClr val="00E5FF"/>
                </a:solidFill>
                <a:latin typeface="JetBrains Mono"/>
              </a:rPr>
              <a:t>[04] </a:t>
            </a:r>
            <a:r>
              <a:rPr sz="1200" b="1">
                <a:solidFill>
                  <a:srgbClr val="FFFFFF"/>
                </a:solidFill>
                <a:latin typeface="Plus Jakarta Sans"/>
              </a:rPr>
              <a:t>Isolasi Izin Akses</a:t>
            </a:r>
          </a:p>
          <a:p>
            <a:pPr>
              <a:spcBef>
                <a:spcPts val="600"/>
              </a:spcBef>
            </a:pPr>
            <a:r>
              <a:rPr sz="950">
                <a:solidFill>
                  <a:srgbClr val="CBD5E1"/>
                </a:solidFill>
                <a:latin typeface="Inter"/>
              </a:rPr>
              <a:t>Kasir cukup diberi izin EXECUTE pada procedure penjualan tanpa diberi izin langsung mengubah tabel master produk dan kasir fisik.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02 · KOMPARASI HAKIKI</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Stored Function vs Stored Procedure</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Perbedaan Hakiki: Function vs Procedure </a:t>
            </a:r>
            <a:r>
              <a:rPr sz="2100" b="1">
                <a:solidFill>
                  <a:srgbClr val="00E5FF"/>
                </a:solidFill>
                <a:latin typeface="Plus Jakarta Sans"/>
              </a:rPr>
              <a:t>Batasan Arsitektural</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TextBox 7"/>
          <p:cNvSpPr txBox="1"/>
          <p:nvPr/>
        </p:nvSpPr>
        <p:spPr>
          <a:xfrm>
            <a:off x="914400" y="1463040"/>
            <a:ext cx="10332720" cy="365760"/>
          </a:xfrm>
          <a:prstGeom prst="rect">
            <a:avLst/>
          </a:prstGeom>
          <a:noFill/>
        </p:spPr>
        <p:txBody>
          <a:bodyPr wrap="none">
            <a:spAutoFit/>
          </a:bodyPr>
          <a:lstStyle/>
          <a:p>
            <a:pPr>
              <a:defRPr sz="1100">
                <a:solidFill>
                  <a:srgbClr val="CBD5E1"/>
                </a:solidFill>
                <a:latin typeface="Inter"/>
              </a:defRPr>
            </a:pPr>
            <a:r>
              <a:t>Meskipun sama-sama blok kode terkompilasi, keduanya memiliki batasan arsitektural dan tujuan penggunaan yang sangat berbeda:</a:t>
            </a:r>
          </a:p>
        </p:txBody>
      </p:sp>
      <p:graphicFrame>
        <p:nvGraphicFramePr>
          <p:cNvPr id="9" name="Table 8"/>
          <p:cNvGraphicFramePr>
            <a:graphicFrameLocks noGrp="1"/>
          </p:cNvGraphicFramePr>
          <p:nvPr/>
        </p:nvGraphicFramePr>
        <p:xfrm>
          <a:off x="914400" y="1920240"/>
          <a:ext cx="10332720" cy="3931920"/>
        </p:xfrm>
        <a:graphic>
          <a:graphicData uri="http://schemas.openxmlformats.org/drawingml/2006/table">
            <a:tbl>
              <a:tblPr firstRow="1" bandRow="1">
                <a:tableStyleId>{5C22544A-7EE6-4342-B048-85BDC9FD1C3A}</a:tableStyleId>
              </a:tblPr>
              <a:tblGrid>
                <a:gridCol w="2468880"/>
                <a:gridCol w="3931920"/>
                <a:gridCol w="3931920"/>
              </a:tblGrid>
              <a:tr h="786384">
                <a:tc>
                  <a:txBody>
                    <a:bodyPr/>
                    <a:lstStyle/>
                    <a:p>
                      <a:pPr algn="l"/>
                      <a:r>
                        <a:rPr sz="1050" b="1">
                          <a:solidFill>
                            <a:srgbClr val="00E5FF"/>
                          </a:solidFill>
                          <a:latin typeface="Plus Jakarta Sans"/>
                        </a:rPr>
                        <a:t>Parameter Karakteristik</a:t>
                      </a:r>
                    </a:p>
                  </a:txBody>
                  <a:tcPr>
                    <a:solidFill>
                      <a:srgbClr val="1A2D58"/>
                    </a:solidFill>
                  </a:tcPr>
                </a:tc>
                <a:tc>
                  <a:txBody>
                    <a:bodyPr/>
                    <a:lstStyle/>
                    <a:p>
                      <a:pPr algn="l"/>
                      <a:r>
                        <a:rPr sz="1050" b="1">
                          <a:solidFill>
                            <a:srgbClr val="00E5FF"/>
                          </a:solidFill>
                          <a:latin typeface="Plus Jakarta Sans"/>
                        </a:rPr>
                        <a:t>User Defined Function (UDF)</a:t>
                      </a:r>
                    </a:p>
                  </a:txBody>
                  <a:tcPr>
                    <a:solidFill>
                      <a:srgbClr val="1A2D58"/>
                    </a:solidFill>
                  </a:tcPr>
                </a:tc>
                <a:tc>
                  <a:txBody>
                    <a:bodyPr/>
                    <a:lstStyle/>
                    <a:p>
                      <a:pPr algn="l"/>
                      <a:r>
                        <a:rPr sz="1050" b="1">
                          <a:solidFill>
                            <a:srgbClr val="00E5FF"/>
                          </a:solidFill>
                          <a:latin typeface="Plus Jakarta Sans"/>
                        </a:rPr>
                        <a:t>Stored Procedure</a:t>
                      </a:r>
                    </a:p>
                  </a:txBody>
                  <a:tcPr>
                    <a:solidFill>
                      <a:srgbClr val="1A2D58"/>
                    </a:solidFill>
                  </a:tcPr>
                </a:tc>
              </a:tr>
              <a:tr h="786384">
                <a:tc>
                  <a:txBody>
                    <a:bodyPr/>
                    <a:lstStyle/>
                    <a:p>
                      <a:pPr algn="l"/>
                      <a:r>
                        <a:rPr sz="950" b="1">
                          <a:solidFill>
                            <a:srgbClr val="FFFFFF"/>
                          </a:solidFill>
                          <a:latin typeface="Inter"/>
                        </a:rPr>
                        <a:t>Nilai Kembalian (Return)</a:t>
                      </a:r>
                    </a:p>
                  </a:txBody>
                  <a:tcPr>
                    <a:solidFill>
                      <a:srgbClr val="101A34"/>
                    </a:solidFill>
                  </a:tcPr>
                </a:tc>
                <a:tc>
                  <a:txBody>
                    <a:bodyPr/>
                    <a:lstStyle/>
                    <a:p>
                      <a:pPr algn="l"/>
                      <a:r>
                        <a:rPr sz="950">
                          <a:solidFill>
                            <a:srgbClr val="F1F5F9"/>
                          </a:solidFill>
                          <a:latin typeface="Inter"/>
                        </a:rPr>
                        <a:t>Wajib 1 nilai skalar via klausa RETURNS &amp; RETURN.</a:t>
                      </a:r>
                    </a:p>
                  </a:txBody>
                  <a:tcPr>
                    <a:solidFill>
                      <a:srgbClr val="101A34"/>
                    </a:solidFill>
                  </a:tcPr>
                </a:tc>
                <a:tc>
                  <a:txBody>
                    <a:bodyPr/>
                    <a:lstStyle/>
                    <a:p>
                      <a:pPr algn="l"/>
                      <a:r>
                        <a:rPr sz="950">
                          <a:solidFill>
                            <a:srgbClr val="F1F5F9"/>
                          </a:solidFill>
                          <a:latin typeface="Inter"/>
                        </a:rPr>
                        <a:t>Tidak memiliki return langsung; lewat parameter OUT / INOUT / result set.</a:t>
                      </a:r>
                    </a:p>
                  </a:txBody>
                  <a:tcPr>
                    <a:solidFill>
                      <a:srgbClr val="101A34"/>
                    </a:solidFill>
                  </a:tcPr>
                </a:tc>
              </a:tr>
              <a:tr h="786384">
                <a:tc>
                  <a:txBody>
                    <a:bodyPr/>
                    <a:lstStyle/>
                    <a:p>
                      <a:pPr algn="l"/>
                      <a:r>
                        <a:rPr sz="950" b="1">
                          <a:solidFill>
                            <a:srgbClr val="FFFFFF"/>
                          </a:solidFill>
                          <a:latin typeface="Inter"/>
                        </a:rPr>
                        <a:t>Metode Pemanggilan</a:t>
                      </a:r>
                    </a:p>
                  </a:txBody>
                  <a:tcPr>
                    <a:solidFill>
                      <a:srgbClr val="0D152A"/>
                    </a:solidFill>
                  </a:tcPr>
                </a:tc>
                <a:tc>
                  <a:txBody>
                    <a:bodyPr/>
                    <a:lstStyle/>
                    <a:p>
                      <a:pPr algn="l"/>
                      <a:r>
                        <a:rPr sz="950">
                          <a:solidFill>
                            <a:srgbClr val="F1F5F9"/>
                          </a:solidFill>
                          <a:latin typeface="Inter"/>
                        </a:rPr>
                        <a:t>Dipanggil di dalam ekspresi kueri SQL biasa (SELECT fc(), WHERE fc() &gt; 0).</a:t>
                      </a:r>
                    </a:p>
                  </a:txBody>
                  <a:tcPr>
                    <a:solidFill>
                      <a:srgbClr val="0D152A"/>
                    </a:solidFill>
                  </a:tcPr>
                </a:tc>
                <a:tc>
                  <a:txBody>
                    <a:bodyPr/>
                    <a:lstStyle/>
                    <a:p>
                      <a:pPr algn="l"/>
                      <a:r>
                        <a:rPr sz="950">
                          <a:solidFill>
                            <a:srgbClr val="F1F5F9"/>
                          </a:solidFill>
                          <a:latin typeface="Inter"/>
                        </a:rPr>
                        <a:t>Dipanggil secara mandiri sebagai perintah terpisah: CALL sp_name(argumen);.</a:t>
                      </a:r>
                    </a:p>
                  </a:txBody>
                  <a:tcPr>
                    <a:solidFill>
                      <a:srgbClr val="0D152A"/>
                    </a:solidFill>
                  </a:tcPr>
                </a:tc>
              </a:tr>
              <a:tr h="786384">
                <a:tc>
                  <a:txBody>
                    <a:bodyPr/>
                    <a:lstStyle/>
                    <a:p>
                      <a:pPr algn="l"/>
                      <a:r>
                        <a:rPr sz="950" b="1">
                          <a:solidFill>
                            <a:srgbClr val="FFFFFF"/>
                          </a:solidFill>
                          <a:latin typeface="Inter"/>
                        </a:rPr>
                        <a:t>Manipulasi Fisik (DML)</a:t>
                      </a:r>
                    </a:p>
                  </a:txBody>
                  <a:tcPr>
                    <a:solidFill>
                      <a:srgbClr val="101A34"/>
                    </a:solidFill>
                  </a:tcPr>
                </a:tc>
                <a:tc>
                  <a:txBody>
                    <a:bodyPr/>
                    <a:lstStyle/>
                    <a:p>
                      <a:pPr algn="l"/>
                      <a:r>
                        <a:rPr sz="950">
                          <a:solidFill>
                            <a:srgbClr val="F1F5F9"/>
                          </a:solidFill>
                          <a:latin typeface="Inter"/>
                        </a:rPr>
                        <a:t>Sangat dibatasi; dilarang mengubah state tabel (INSERT/UPDATE/DELETE) pada kueri baca.</a:t>
                      </a:r>
                    </a:p>
                  </a:txBody>
                  <a:tcPr>
                    <a:solidFill>
                      <a:srgbClr val="101A34"/>
                    </a:solidFill>
                  </a:tcPr>
                </a:tc>
                <a:tc>
                  <a:txBody>
                    <a:bodyPr/>
                    <a:lstStyle/>
                    <a:p>
                      <a:pPr algn="l"/>
                      <a:r>
                        <a:rPr sz="950">
                          <a:solidFill>
                            <a:srgbClr val="F1F5F9"/>
                          </a:solidFill>
                          <a:latin typeface="Inter"/>
                        </a:rPr>
                        <a:t>Bebas DML penuh; dapat memutasi data, transaksi COMMIT/ROLLBACK, dan dynamic SQL.</a:t>
                      </a:r>
                    </a:p>
                  </a:txBody>
                  <a:tcPr>
                    <a:solidFill>
                      <a:srgbClr val="101A34"/>
                    </a:solidFill>
                  </a:tcPr>
                </a:tc>
              </a:tr>
              <a:tr h="786384">
                <a:tc>
                  <a:txBody>
                    <a:bodyPr/>
                    <a:lstStyle/>
                    <a:p>
                      <a:pPr algn="l"/>
                      <a:r>
                        <a:rPr sz="950" b="1">
                          <a:solidFill>
                            <a:srgbClr val="FFFFFF"/>
                          </a:solidFill>
                          <a:latin typeface="Inter"/>
                        </a:rPr>
                        <a:t>Fokus Penggunaan</a:t>
                      </a:r>
                    </a:p>
                  </a:txBody>
                  <a:tcPr>
                    <a:solidFill>
                      <a:srgbClr val="0D152A"/>
                    </a:solidFill>
                  </a:tcPr>
                </a:tc>
                <a:tc>
                  <a:txBody>
                    <a:bodyPr/>
                    <a:lstStyle/>
                    <a:p>
                      <a:pPr algn="l"/>
                      <a:r>
                        <a:rPr sz="950">
                          <a:solidFill>
                            <a:srgbClr val="F1F5F9"/>
                          </a:solidFill>
                          <a:latin typeface="Inter"/>
                        </a:rPr>
                        <a:t>Kalkulasi skalar, format teks, konversi mata uang, atau generator kode unik.</a:t>
                      </a:r>
                    </a:p>
                  </a:txBody>
                  <a:tcPr>
                    <a:solidFill>
                      <a:srgbClr val="0D152A"/>
                    </a:solidFill>
                  </a:tcPr>
                </a:tc>
                <a:tc>
                  <a:txBody>
                    <a:bodyPr/>
                    <a:lstStyle/>
                    <a:p>
                      <a:pPr algn="l"/>
                      <a:r>
                        <a:rPr sz="950">
                          <a:solidFill>
                            <a:srgbClr val="F1F5F9"/>
                          </a:solidFill>
                          <a:latin typeface="Inter"/>
                        </a:rPr>
                        <a:t>Alur kerja transaksi multi-tabel, batch processing berkala, dan otomasi checkout kasir.</a:t>
                      </a:r>
                    </a:p>
                  </a:txBody>
                  <a:tcPr>
                    <a:solidFill>
                      <a:srgbClr val="0D152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03 · FUNCTION (UDF)</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Fungsi Skalar Sisi Server</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Anatomi &amp; Karakteristik User Defined Function </a:t>
            </a:r>
            <a:r>
              <a:rPr sz="2100" b="1">
                <a:solidFill>
                  <a:srgbClr val="00E5FF"/>
                </a:solidFill>
                <a:latin typeface="Plus Jakarta Sans"/>
              </a:rPr>
              <a:t>Logika Skalar</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737360"/>
            <a:ext cx="6217920" cy="411480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4708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1" y="184708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84708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773936"/>
            <a:ext cx="4206240" cy="256032"/>
          </a:xfrm>
          <a:prstGeom prst="rect">
            <a:avLst/>
          </a:prstGeom>
          <a:noFill/>
        </p:spPr>
        <p:txBody>
          <a:bodyPr wrap="none">
            <a:spAutoFit/>
          </a:bodyPr>
          <a:lstStyle/>
          <a:p>
            <a:pPr>
              <a:defRPr sz="900">
                <a:solidFill>
                  <a:srgbClr val="38BDF8"/>
                </a:solidFill>
                <a:latin typeface="JetBrains Mono"/>
              </a:defRPr>
            </a:pPr>
            <a:r>
              <a:t>terminal · fcHitungDiskon.sql</a:t>
            </a:r>
          </a:p>
        </p:txBody>
      </p:sp>
      <p:sp>
        <p:nvSpPr>
          <p:cNvPr id="13" name="TextBox 12"/>
          <p:cNvSpPr txBox="1"/>
          <p:nvPr/>
        </p:nvSpPr>
        <p:spPr>
          <a:xfrm>
            <a:off x="1051560" y="2029968"/>
            <a:ext cx="5943600" cy="3749040"/>
          </a:xfrm>
          <a:prstGeom prst="rect">
            <a:avLst/>
          </a:prstGeom>
          <a:noFill/>
        </p:spPr>
        <p:txBody>
          <a:bodyPr wrap="square" tIns="18288" bIns="18288" lIns="45720" rIns="45720">
            <a:spAutoFit/>
          </a:bodyPr>
          <a:lstStyle/>
          <a:p>
            <a:pPr>
              <a:spcAft>
                <a:spcPts val="50"/>
              </a:spcAft>
            </a:pPr>
            <a:r>
              <a:rPr sz="800" b="1">
                <a:solidFill>
                  <a:srgbClr val="00E5FF"/>
                </a:solidFill>
                <a:latin typeface="JetBrains Mono"/>
              </a:rPr>
              <a:t>DELIMITER</a:t>
            </a:r>
            <a:r>
              <a:rPr sz="800">
                <a:solidFill>
                  <a:srgbClr val="F1F5F9"/>
                </a:solidFill>
                <a:latin typeface="JetBrains Mono"/>
              </a:rPr>
              <a:t> </a:t>
            </a:r>
            <a:r>
              <a:rPr sz="800">
                <a:solidFill>
                  <a:srgbClr val="F1F5F9"/>
                </a:solidFill>
                <a:latin typeface="JetBrains Mono"/>
              </a:rPr>
              <a:t>$$</a:t>
            </a:r>
          </a:p>
          <a:p>
            <a:pPr>
              <a:spcAft>
                <a:spcPts val="50"/>
              </a:spcAft>
            </a:pPr>
            <a:r>
              <a:rPr sz="800" b="1">
                <a:solidFill>
                  <a:srgbClr val="00E5FF"/>
                </a:solidFill>
                <a:latin typeface="JetBrains Mono"/>
              </a:rPr>
              <a:t>CREATE</a:t>
            </a:r>
            <a:r>
              <a:rPr sz="800">
                <a:solidFill>
                  <a:srgbClr val="F1F5F9"/>
                </a:solidFill>
                <a:latin typeface="JetBrains Mono"/>
              </a:rPr>
              <a:t> </a:t>
            </a:r>
            <a:r>
              <a:rPr sz="800" b="1">
                <a:solidFill>
                  <a:srgbClr val="00E5FF"/>
                </a:solidFill>
                <a:latin typeface="JetBrains Mono"/>
              </a:rPr>
              <a:t>FUNCTION</a:t>
            </a:r>
            <a:r>
              <a:rPr sz="800">
                <a:solidFill>
                  <a:srgbClr val="F1F5F9"/>
                </a:solidFill>
                <a:latin typeface="JetBrains Mono"/>
              </a:rPr>
              <a:t> </a:t>
            </a:r>
            <a:r>
              <a:rPr sz="800">
                <a:solidFill>
                  <a:srgbClr val="F1F5F9"/>
                </a:solidFill>
                <a:latin typeface="JetBrains Mono"/>
              </a:rPr>
              <a:t>fcHitungDiskon</a:t>
            </a:r>
            <a:r>
              <a:rPr sz="800">
                <a:solidFill>
                  <a:srgbClr val="F1F5F9"/>
                </a:solidFill>
                <a:latin typeface="JetBrains Mono"/>
              </a:rPr>
              <a:t>(</a:t>
            </a:r>
          </a:p>
          <a:p>
            <a:pPr>
              <a:spcAft>
                <a:spcPts val="50"/>
              </a:spcAft>
            </a:pPr>
            <a:r>
              <a:rPr sz="800">
                <a:solidFill>
                  <a:srgbClr val="F1F5F9"/>
                </a:solidFill>
                <a:latin typeface="JetBrains Mono"/>
              </a:rPr>
              <a:t>    </a:t>
            </a:r>
            <a:r>
              <a:rPr sz="800">
                <a:solidFill>
                  <a:srgbClr val="F59E0B"/>
                </a:solidFill>
                <a:latin typeface="JetBrains Mono"/>
              </a:rPr>
              <a:t>p_total</a:t>
            </a:r>
            <a:r>
              <a:rPr sz="800">
                <a:solidFill>
                  <a:srgbClr val="F1F5F9"/>
                </a:solidFill>
                <a:latin typeface="JetBrains Mono"/>
              </a:rPr>
              <a:t> </a:t>
            </a:r>
            <a:r>
              <a:rPr sz="800" b="1">
                <a:solidFill>
                  <a:srgbClr val="C084FC"/>
                </a:solidFill>
                <a:latin typeface="JetBrains Mono"/>
              </a:rPr>
              <a:t>INT</a:t>
            </a:r>
            <a:r>
              <a:rPr sz="800">
                <a:solidFill>
                  <a:srgbClr val="F1F5F9"/>
                </a:solidFill>
                <a:latin typeface="JetBrains Mono"/>
              </a:rPr>
              <a:t>,</a:t>
            </a:r>
          </a:p>
          <a:p>
            <a:pPr>
              <a:spcAft>
                <a:spcPts val="50"/>
              </a:spcAft>
            </a:pPr>
            <a:r>
              <a:rPr sz="800">
                <a:solidFill>
                  <a:srgbClr val="F1F5F9"/>
                </a:solidFill>
                <a:latin typeface="JetBrains Mono"/>
              </a:rPr>
              <a:t>    </a:t>
            </a:r>
            <a:r>
              <a:rPr sz="800">
                <a:solidFill>
                  <a:srgbClr val="F59E0B"/>
                </a:solidFill>
                <a:latin typeface="JetBrains Mono"/>
              </a:rPr>
              <a:t>p_poin</a:t>
            </a:r>
            <a:r>
              <a:rPr sz="800">
                <a:solidFill>
                  <a:srgbClr val="F1F5F9"/>
                </a:solidFill>
                <a:latin typeface="JetBrains Mono"/>
              </a:rPr>
              <a:t>  </a:t>
            </a:r>
            <a:r>
              <a:rPr sz="800" b="1">
                <a:solidFill>
                  <a:srgbClr val="C084FC"/>
                </a:solidFill>
                <a:latin typeface="JetBrains Mono"/>
              </a:rPr>
              <a:t>INT</a:t>
            </a:r>
          </a:p>
          <a:p>
            <a:pPr>
              <a:spcAft>
                <a:spcPts val="50"/>
              </a:spcAft>
            </a:pPr>
            <a:r>
              <a:rPr sz="800">
                <a:solidFill>
                  <a:srgbClr val="F1F5F9"/>
                </a:solidFill>
                <a:latin typeface="JetBrains Mono"/>
              </a:rPr>
              <a:t>)</a:t>
            </a:r>
          </a:p>
          <a:p>
            <a:pPr>
              <a:spcAft>
                <a:spcPts val="50"/>
              </a:spcAft>
            </a:pPr>
            <a:r>
              <a:rPr sz="800" b="1">
                <a:solidFill>
                  <a:srgbClr val="00E5FF"/>
                </a:solidFill>
                <a:latin typeface="JetBrains Mono"/>
              </a:rPr>
              <a:t>RETURNS</a:t>
            </a:r>
            <a:r>
              <a:rPr sz="800">
                <a:solidFill>
                  <a:srgbClr val="F1F5F9"/>
                </a:solidFill>
                <a:latin typeface="JetBrains Mono"/>
              </a:rPr>
              <a:t> </a:t>
            </a:r>
            <a:r>
              <a:rPr sz="800" b="1">
                <a:solidFill>
                  <a:srgbClr val="C084FC"/>
                </a:solidFill>
                <a:latin typeface="JetBrains Mono"/>
              </a:rPr>
              <a:t>DECIMAL</a:t>
            </a:r>
            <a:r>
              <a:rPr sz="800">
                <a:solidFill>
                  <a:srgbClr val="F1F5F9"/>
                </a:solidFill>
                <a:latin typeface="JetBrains Mono"/>
              </a:rPr>
              <a:t>(</a:t>
            </a:r>
            <a:r>
              <a:rPr sz="800">
                <a:solidFill>
                  <a:srgbClr val="F87171"/>
                </a:solidFill>
                <a:latin typeface="JetBrains Mono"/>
              </a:rPr>
              <a:t>10</a:t>
            </a:r>
            <a:r>
              <a:rPr sz="800">
                <a:solidFill>
                  <a:srgbClr val="F1F5F9"/>
                </a:solidFill>
                <a:latin typeface="JetBrains Mono"/>
              </a:rPr>
              <a:t>,</a:t>
            </a:r>
            <a:r>
              <a:rPr sz="800">
                <a:solidFill>
                  <a:srgbClr val="F87171"/>
                </a:solidFill>
                <a:latin typeface="JetBrains Mono"/>
              </a:rPr>
              <a:t>2</a:t>
            </a:r>
            <a:r>
              <a:rPr sz="800">
                <a:solidFill>
                  <a:srgbClr val="F1F5F9"/>
                </a:solidFill>
                <a:latin typeface="JetBrains Mono"/>
              </a:rPr>
              <a:t>)</a:t>
            </a:r>
          </a:p>
          <a:p>
            <a:pPr>
              <a:spcAft>
                <a:spcPts val="50"/>
              </a:spcAft>
            </a:pPr>
            <a:r>
              <a:rPr sz="800" b="1">
                <a:solidFill>
                  <a:srgbClr val="00E5FF"/>
                </a:solidFill>
                <a:latin typeface="JetBrains Mono"/>
              </a:rPr>
              <a:t>DETERMINISTIC</a:t>
            </a:r>
          </a:p>
          <a:p>
            <a:pPr>
              <a:spcAft>
                <a:spcPts val="50"/>
              </a:spcAft>
            </a:pPr>
            <a:r>
              <a:rPr sz="800" b="1">
                <a:solidFill>
                  <a:srgbClr val="00E5FF"/>
                </a:solidFill>
                <a:latin typeface="JetBrains Mono"/>
              </a:rPr>
              <a:t>NO</a:t>
            </a:r>
            <a:r>
              <a:rPr sz="800">
                <a:solidFill>
                  <a:srgbClr val="F1F5F9"/>
                </a:solidFill>
                <a:latin typeface="JetBrains Mono"/>
              </a:rPr>
              <a:t> </a:t>
            </a:r>
            <a:r>
              <a:rPr sz="800" b="1">
                <a:solidFill>
                  <a:srgbClr val="00E5FF"/>
                </a:solidFill>
                <a:latin typeface="JetBrains Mono"/>
              </a:rPr>
              <a:t>SQL</a:t>
            </a:r>
          </a:p>
          <a:p>
            <a:pPr>
              <a:spcAft>
                <a:spcPts val="50"/>
              </a:spcAft>
            </a:pPr>
            <a:r>
              <a:rPr sz="800" b="1">
                <a:solidFill>
                  <a:srgbClr val="00E5FF"/>
                </a:solidFill>
                <a:latin typeface="JetBrains Mono"/>
              </a:rPr>
              <a:t>BEGIN</a:t>
            </a:r>
          </a:p>
          <a:p>
            <a:pPr>
              <a:spcAft>
                <a:spcPts val="50"/>
              </a:spcAft>
            </a:pPr>
            <a:r>
              <a:rPr sz="800">
                <a:solidFill>
                  <a:srgbClr val="F1F5F9"/>
                </a:solidFill>
                <a:latin typeface="JetBrains Mono"/>
              </a:rPr>
              <a:t>    </a:t>
            </a:r>
            <a:r>
              <a:rPr sz="800" b="1">
                <a:solidFill>
                  <a:srgbClr val="00E5FF"/>
                </a:solidFill>
                <a:latin typeface="JetBrains Mono"/>
              </a:rPr>
              <a:t>DECLARE</a:t>
            </a:r>
            <a:r>
              <a:rPr sz="800">
                <a:solidFill>
                  <a:srgbClr val="F1F5F9"/>
                </a:solidFill>
                <a:latin typeface="JetBrains Mono"/>
              </a:rPr>
              <a:t> </a:t>
            </a:r>
            <a:r>
              <a:rPr sz="800">
                <a:solidFill>
                  <a:srgbClr val="F59E0B"/>
                </a:solidFill>
                <a:latin typeface="JetBrains Mono"/>
              </a:rPr>
              <a:t>v_diskon</a:t>
            </a:r>
            <a:r>
              <a:rPr sz="800">
                <a:solidFill>
                  <a:srgbClr val="F1F5F9"/>
                </a:solidFill>
                <a:latin typeface="JetBrains Mono"/>
              </a:rPr>
              <a:t> </a:t>
            </a:r>
            <a:r>
              <a:rPr sz="800" b="1">
                <a:solidFill>
                  <a:srgbClr val="C084FC"/>
                </a:solidFill>
                <a:latin typeface="JetBrains Mono"/>
              </a:rPr>
              <a:t>DECIMAL</a:t>
            </a:r>
            <a:r>
              <a:rPr sz="800">
                <a:solidFill>
                  <a:srgbClr val="F1F5F9"/>
                </a:solidFill>
                <a:latin typeface="JetBrains Mono"/>
              </a:rPr>
              <a:t>(</a:t>
            </a:r>
            <a:r>
              <a:rPr sz="800">
                <a:solidFill>
                  <a:srgbClr val="F87171"/>
                </a:solidFill>
                <a:latin typeface="JetBrains Mono"/>
              </a:rPr>
              <a:t>10</a:t>
            </a:r>
            <a:r>
              <a:rPr sz="800">
                <a:solidFill>
                  <a:srgbClr val="F1F5F9"/>
                </a:solidFill>
                <a:latin typeface="JetBrains Mono"/>
              </a:rPr>
              <a:t>,</a:t>
            </a:r>
            <a:r>
              <a:rPr sz="800">
                <a:solidFill>
                  <a:srgbClr val="F87171"/>
                </a:solidFill>
                <a:latin typeface="JetBrains Mono"/>
              </a:rPr>
              <a:t>2</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DEFAULT</a:t>
            </a:r>
            <a:r>
              <a:rPr sz="800">
                <a:solidFill>
                  <a:srgbClr val="F1F5F9"/>
                </a:solidFill>
                <a:latin typeface="JetBrains Mono"/>
              </a:rPr>
              <a:t> </a:t>
            </a:r>
            <a:r>
              <a:rPr sz="800">
                <a:solidFill>
                  <a:srgbClr val="F87171"/>
                </a:solidFill>
                <a:latin typeface="JetBrains Mono"/>
              </a:rPr>
              <a:t>0</a:t>
            </a:r>
            <a:r>
              <a:rPr sz="800">
                <a:solidFill>
                  <a:srgbClr val="F1F5F9"/>
                </a:solidFill>
                <a:latin typeface="JetBrains Mono"/>
              </a:rPr>
              <a:t>.</a:t>
            </a:r>
            <a:r>
              <a:rPr sz="800">
                <a:solidFill>
                  <a:srgbClr val="F87171"/>
                </a:solidFill>
                <a:latin typeface="JetBrains Mono"/>
              </a:rPr>
              <a:t>00</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IF</a:t>
            </a:r>
            <a:r>
              <a:rPr sz="800">
                <a:solidFill>
                  <a:srgbClr val="F1F5F9"/>
                </a:solidFill>
                <a:latin typeface="JetBrains Mono"/>
              </a:rPr>
              <a:t> </a:t>
            </a:r>
            <a:r>
              <a:rPr sz="800">
                <a:solidFill>
                  <a:srgbClr val="F59E0B"/>
                </a:solidFill>
                <a:latin typeface="JetBrains Mono"/>
              </a:rPr>
              <a:t>p_poin</a:t>
            </a:r>
            <a:r>
              <a:rPr sz="800">
                <a:solidFill>
                  <a:srgbClr val="F1F5F9"/>
                </a:solidFill>
                <a:latin typeface="JetBrains Mono"/>
              </a:rPr>
              <a:t> </a:t>
            </a:r>
            <a:r>
              <a:rPr sz="800">
                <a:solidFill>
                  <a:srgbClr val="F1F5F9"/>
                </a:solidFill>
                <a:latin typeface="JetBrains Mono"/>
              </a:rPr>
              <a:t>&gt;=</a:t>
            </a:r>
            <a:r>
              <a:rPr sz="800">
                <a:solidFill>
                  <a:srgbClr val="F1F5F9"/>
                </a:solidFill>
                <a:latin typeface="JetBrains Mono"/>
              </a:rPr>
              <a:t> </a:t>
            </a:r>
            <a:r>
              <a:rPr sz="800">
                <a:solidFill>
                  <a:srgbClr val="F87171"/>
                </a:solidFill>
                <a:latin typeface="JetBrains Mono"/>
              </a:rPr>
              <a:t>50</a:t>
            </a:r>
            <a:r>
              <a:rPr sz="800">
                <a:solidFill>
                  <a:srgbClr val="F1F5F9"/>
                </a:solidFill>
                <a:latin typeface="JetBrains Mono"/>
              </a:rPr>
              <a:t> </a:t>
            </a:r>
            <a:r>
              <a:rPr sz="800" b="1">
                <a:solidFill>
                  <a:srgbClr val="00E5FF"/>
                </a:solidFill>
                <a:latin typeface="JetBrains Mono"/>
              </a:rPr>
              <a:t>THEN</a:t>
            </a:r>
          </a:p>
          <a:p>
            <a:pPr>
              <a:spcAft>
                <a:spcPts val="50"/>
              </a:spcAft>
            </a:pP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59E0B"/>
                </a:solidFill>
                <a:latin typeface="JetBrains Mono"/>
              </a:rPr>
              <a:t>v_diskon</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p_total</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87171"/>
                </a:solidFill>
                <a:latin typeface="JetBrains Mono"/>
              </a:rPr>
              <a:t>0</a:t>
            </a:r>
            <a:r>
              <a:rPr sz="800">
                <a:solidFill>
                  <a:srgbClr val="F1F5F9"/>
                </a:solidFill>
                <a:latin typeface="JetBrains Mono"/>
              </a:rPr>
              <a:t>.</a:t>
            </a:r>
            <a:r>
              <a:rPr sz="800">
                <a:solidFill>
                  <a:srgbClr val="F87171"/>
                </a:solidFill>
                <a:latin typeface="JetBrains Mono"/>
              </a:rPr>
              <a:t>10</a:t>
            </a:r>
            <a:r>
              <a:rPr sz="800">
                <a:solidFill>
                  <a:srgbClr val="F1F5F9"/>
                </a:solidFill>
                <a:latin typeface="JetBrains Mono"/>
              </a:rPr>
              <a:t>;</a:t>
            </a:r>
            <a:r>
              <a:rPr sz="800">
                <a:solidFill>
                  <a:srgbClr val="F1F5F9"/>
                </a:solidFill>
                <a:latin typeface="JetBrains Mono"/>
              </a:rPr>
              <a:t> </a:t>
            </a:r>
            <a:r>
              <a:rPr sz="800" i="1">
                <a:solidFill>
                  <a:srgbClr val="94A3B8"/>
                </a:solidFill>
                <a:latin typeface="JetBrains Mono"/>
              </a:rPr>
              <a:t>-- Diskon 10%</a:t>
            </a:r>
          </a:p>
          <a:p>
            <a:pPr>
              <a:spcAft>
                <a:spcPts val="50"/>
              </a:spcAft>
            </a:pPr>
            <a:r>
              <a:rPr sz="800">
                <a:solidFill>
                  <a:srgbClr val="F1F5F9"/>
                </a:solidFill>
                <a:latin typeface="JetBrains Mono"/>
              </a:rPr>
              <a:t>    </a:t>
            </a:r>
            <a:r>
              <a:rPr sz="800" b="1">
                <a:solidFill>
                  <a:srgbClr val="00E5FF"/>
                </a:solidFill>
                <a:latin typeface="JetBrains Mono"/>
              </a:rPr>
              <a:t>ELSEIF</a:t>
            </a:r>
            <a:r>
              <a:rPr sz="800">
                <a:solidFill>
                  <a:srgbClr val="F1F5F9"/>
                </a:solidFill>
                <a:latin typeface="JetBrains Mono"/>
              </a:rPr>
              <a:t> </a:t>
            </a:r>
            <a:r>
              <a:rPr sz="800">
                <a:solidFill>
                  <a:srgbClr val="F59E0B"/>
                </a:solidFill>
                <a:latin typeface="JetBrains Mono"/>
              </a:rPr>
              <a:t>p_poin</a:t>
            </a:r>
            <a:r>
              <a:rPr sz="800">
                <a:solidFill>
                  <a:srgbClr val="F1F5F9"/>
                </a:solidFill>
                <a:latin typeface="JetBrains Mono"/>
              </a:rPr>
              <a:t> </a:t>
            </a:r>
            <a:r>
              <a:rPr sz="800">
                <a:solidFill>
                  <a:srgbClr val="F1F5F9"/>
                </a:solidFill>
                <a:latin typeface="JetBrains Mono"/>
              </a:rPr>
              <a:t>&gt;=</a:t>
            </a:r>
            <a:r>
              <a:rPr sz="800">
                <a:solidFill>
                  <a:srgbClr val="F1F5F9"/>
                </a:solidFill>
                <a:latin typeface="JetBrains Mono"/>
              </a:rPr>
              <a:t> </a:t>
            </a:r>
            <a:r>
              <a:rPr sz="800">
                <a:solidFill>
                  <a:srgbClr val="F87171"/>
                </a:solidFill>
                <a:latin typeface="JetBrains Mono"/>
              </a:rPr>
              <a:t>20</a:t>
            </a:r>
            <a:r>
              <a:rPr sz="800">
                <a:solidFill>
                  <a:srgbClr val="F1F5F9"/>
                </a:solidFill>
                <a:latin typeface="JetBrains Mono"/>
              </a:rPr>
              <a:t> </a:t>
            </a:r>
            <a:r>
              <a:rPr sz="800" b="1">
                <a:solidFill>
                  <a:srgbClr val="00E5FF"/>
                </a:solidFill>
                <a:latin typeface="JetBrains Mono"/>
              </a:rPr>
              <a:t>THEN</a:t>
            </a:r>
          </a:p>
          <a:p>
            <a:pPr>
              <a:spcAft>
                <a:spcPts val="50"/>
              </a:spcAft>
            </a:pP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59E0B"/>
                </a:solidFill>
                <a:latin typeface="JetBrains Mono"/>
              </a:rPr>
              <a:t>v_diskon</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p_total</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87171"/>
                </a:solidFill>
                <a:latin typeface="JetBrains Mono"/>
              </a:rPr>
              <a:t>0</a:t>
            </a:r>
            <a:r>
              <a:rPr sz="800">
                <a:solidFill>
                  <a:srgbClr val="F1F5F9"/>
                </a:solidFill>
                <a:latin typeface="JetBrains Mono"/>
              </a:rPr>
              <a:t>.</a:t>
            </a:r>
            <a:r>
              <a:rPr sz="800">
                <a:solidFill>
                  <a:srgbClr val="F87171"/>
                </a:solidFill>
                <a:latin typeface="JetBrains Mono"/>
              </a:rPr>
              <a:t>05</a:t>
            </a:r>
            <a:r>
              <a:rPr sz="800">
                <a:solidFill>
                  <a:srgbClr val="F1F5F9"/>
                </a:solidFill>
                <a:latin typeface="JetBrains Mono"/>
              </a:rPr>
              <a:t>;</a:t>
            </a:r>
            <a:r>
              <a:rPr sz="800">
                <a:solidFill>
                  <a:srgbClr val="F1F5F9"/>
                </a:solidFill>
                <a:latin typeface="JetBrains Mono"/>
              </a:rPr>
              <a:t> </a:t>
            </a:r>
            <a:r>
              <a:rPr sz="800" i="1">
                <a:solidFill>
                  <a:srgbClr val="94A3B8"/>
                </a:solidFill>
                <a:latin typeface="JetBrains Mono"/>
              </a:rPr>
              <a:t>-- Diskon 5%</a:t>
            </a:r>
          </a:p>
          <a:p>
            <a:pPr>
              <a:spcAft>
                <a:spcPts val="50"/>
              </a:spcAft>
            </a:pPr>
            <a:r>
              <a:rPr sz="800">
                <a:solidFill>
                  <a:srgbClr val="F1F5F9"/>
                </a:solidFill>
                <a:latin typeface="JetBrains Mono"/>
              </a:rPr>
              <a:t>    </a:t>
            </a:r>
            <a:r>
              <a:rPr sz="800" b="1">
                <a:solidFill>
                  <a:srgbClr val="00E5FF"/>
                </a:solidFill>
                <a:latin typeface="JetBrains Mono"/>
              </a:rPr>
              <a:t>END</a:t>
            </a:r>
            <a:r>
              <a:rPr sz="800">
                <a:solidFill>
                  <a:srgbClr val="F1F5F9"/>
                </a:solidFill>
                <a:latin typeface="JetBrains Mono"/>
              </a:rPr>
              <a:t> </a:t>
            </a:r>
            <a:r>
              <a:rPr sz="800" b="1">
                <a:solidFill>
                  <a:srgbClr val="00E5FF"/>
                </a:solidFill>
                <a:latin typeface="JetBrains Mono"/>
              </a:rPr>
              <a:t>IF</a:t>
            </a:r>
            <a:r>
              <a:rPr sz="800">
                <a:solidFill>
                  <a:srgbClr val="F1F5F9"/>
                </a:solidFill>
                <a:latin typeface="JetBrains Mono"/>
              </a:rPr>
              <a:t>;</a:t>
            </a:r>
          </a:p>
          <a:p>
            <a:pPr>
              <a:spcAft>
                <a:spcPts val="50"/>
              </a:spcAft>
            </a:pPr>
            <a:r>
              <a:rPr sz="800">
                <a:solidFill>
                  <a:srgbClr val="F1F5F9"/>
                </a:solidFill>
                <a:latin typeface="JetBrains Mono"/>
              </a:rPr>
              <a:t>    </a:t>
            </a:r>
            <a:r>
              <a:rPr sz="800">
                <a:solidFill>
                  <a:srgbClr val="F1F5F9"/>
                </a:solidFill>
                <a:latin typeface="JetBrains Mono"/>
              </a:rPr>
              <a:t>RETURN</a:t>
            </a:r>
            <a:r>
              <a:rPr sz="800">
                <a:solidFill>
                  <a:srgbClr val="F1F5F9"/>
                </a:solidFill>
                <a:latin typeface="JetBrains Mono"/>
              </a:rPr>
              <a:t> </a:t>
            </a:r>
            <a:r>
              <a:rPr sz="800">
                <a:solidFill>
                  <a:srgbClr val="F59E0B"/>
                </a:solidFill>
                <a:latin typeface="JetBrains Mono"/>
              </a:rPr>
              <a:t>v_diskon</a:t>
            </a:r>
            <a:r>
              <a:rPr sz="800">
                <a:solidFill>
                  <a:srgbClr val="F1F5F9"/>
                </a:solidFill>
                <a:latin typeface="JetBrains Mono"/>
              </a:rPr>
              <a:t>;</a:t>
            </a:r>
          </a:p>
          <a:p>
            <a:pPr>
              <a:spcAft>
                <a:spcPts val="50"/>
              </a:spcAft>
            </a:pPr>
            <a:r>
              <a:rPr sz="800" b="1">
                <a:solidFill>
                  <a:srgbClr val="00E5FF"/>
                </a:solidFill>
                <a:latin typeface="JetBrains Mono"/>
              </a:rPr>
              <a:t>END</a:t>
            </a:r>
            <a:r>
              <a:rPr sz="800">
                <a:solidFill>
                  <a:srgbClr val="F1F5F9"/>
                </a:solidFill>
                <a:latin typeface="JetBrains Mono"/>
              </a:rPr>
              <a:t>$$</a:t>
            </a:r>
          </a:p>
          <a:p>
            <a:pPr>
              <a:spcAft>
                <a:spcPts val="50"/>
              </a:spcAft>
            </a:pPr>
            <a:r>
              <a:rPr sz="800" b="1">
                <a:solidFill>
                  <a:srgbClr val="00E5FF"/>
                </a:solidFill>
                <a:latin typeface="JetBrains Mono"/>
              </a:rPr>
              <a:t>DELIMITER</a:t>
            </a:r>
            <a:r>
              <a:rPr sz="800">
                <a:solidFill>
                  <a:srgbClr val="F1F5F9"/>
                </a:solidFill>
                <a:latin typeface="JetBrains Mono"/>
              </a:rPr>
              <a:t> </a:t>
            </a:r>
            <a:r>
              <a:rPr sz="800">
                <a:solidFill>
                  <a:srgbClr val="F1F5F9"/>
                </a:solidFill>
                <a:latin typeface="JetBrains Mono"/>
              </a:rPr>
              <a:t>;</a:t>
            </a:r>
          </a:p>
          <a:p>
            <a:pPr>
              <a:spcAft>
                <a:spcPts val="50"/>
              </a:spcAft>
            </a:pPr>
            <a:r>
              <a:t> </a:t>
            </a:r>
          </a:p>
          <a:p>
            <a:pPr>
              <a:spcAft>
                <a:spcPts val="50"/>
              </a:spcAft>
            </a:pPr>
            <a:r>
              <a:rPr sz="800" i="1">
                <a:solidFill>
                  <a:srgbClr val="94A3B8"/>
                </a:solidFill>
                <a:latin typeface="JetBrains Mono"/>
              </a:rPr>
              <a:t>-- Pemanggilan UDF dalam Kueri SQL Biasa:</a:t>
            </a:r>
          </a:p>
          <a:p>
            <a:pPr>
              <a:spcAft>
                <a:spcPts val="50"/>
              </a:spcAft>
            </a:pPr>
            <a:r>
              <a:rPr sz="800" b="1">
                <a:solidFill>
                  <a:srgbClr val="00E5FF"/>
                </a:solidFill>
                <a:latin typeface="JetBrains Mono"/>
              </a:rPr>
              <a:t>SELECT</a:t>
            </a:r>
            <a:r>
              <a:rPr sz="800">
                <a:solidFill>
                  <a:srgbClr val="F1F5F9"/>
                </a:solidFill>
                <a:latin typeface="JetBrains Mono"/>
              </a:rPr>
              <a:t> </a:t>
            </a:r>
            <a:r>
              <a:rPr sz="800">
                <a:solidFill>
                  <a:srgbClr val="F1F5F9"/>
                </a:solidFill>
                <a:latin typeface="JetBrains Mono"/>
              </a:rPr>
              <a:t>Nonota</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fcHitungDiskon</a:t>
            </a:r>
            <a:r>
              <a:rPr sz="800">
                <a:solidFill>
                  <a:srgbClr val="F1F5F9"/>
                </a:solidFill>
                <a:latin typeface="JetBrains Mono"/>
              </a:rPr>
              <a:t>(</a:t>
            </a:r>
            <a:r>
              <a:rPr sz="800">
                <a:solidFill>
                  <a:srgbClr val="F87171"/>
                </a:solidFill>
                <a:latin typeface="JetBrains Mono"/>
              </a:rPr>
              <a:t>150000</a:t>
            </a:r>
            <a:r>
              <a:rPr sz="800">
                <a:solidFill>
                  <a:srgbClr val="F1F5F9"/>
                </a:solidFill>
                <a:latin typeface="JetBrains Mono"/>
              </a:rPr>
              <a:t>,</a:t>
            </a:r>
            <a:r>
              <a:rPr sz="800">
                <a:solidFill>
                  <a:srgbClr val="F1F5F9"/>
                </a:solidFill>
                <a:latin typeface="JetBrains Mono"/>
              </a:rPr>
              <a:t> </a:t>
            </a:r>
            <a:r>
              <a:rPr sz="800">
                <a:solidFill>
                  <a:srgbClr val="F87171"/>
                </a:solidFill>
                <a:latin typeface="JetBrains Mono"/>
              </a:rPr>
              <a:t>35</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AS</a:t>
            </a:r>
            <a:r>
              <a:rPr sz="800">
                <a:solidFill>
                  <a:srgbClr val="F1F5F9"/>
                </a:solidFill>
                <a:latin typeface="JetBrains Mono"/>
              </a:rPr>
              <a:t> </a:t>
            </a:r>
            <a:r>
              <a:rPr sz="800">
                <a:solidFill>
                  <a:srgbClr val="F1F5F9"/>
                </a:solidFill>
                <a:latin typeface="JetBrains Mono"/>
              </a:rPr>
              <a:t>diskon</a:t>
            </a:r>
            <a:r>
              <a:rPr sz="800">
                <a:solidFill>
                  <a:srgbClr val="F1F5F9"/>
                </a:solidFill>
                <a:latin typeface="JetBrains Mono"/>
              </a:rPr>
              <a:t> </a:t>
            </a:r>
            <a:r>
              <a:rPr sz="800" b="1">
                <a:solidFill>
                  <a:srgbClr val="00E5FF"/>
                </a:solidFill>
                <a:latin typeface="JetBrains Mono"/>
              </a:rPr>
              <a:t>FROM</a:t>
            </a:r>
            <a:r>
              <a:rPr sz="800">
                <a:solidFill>
                  <a:srgbClr val="F1F5F9"/>
                </a:solidFill>
                <a:latin typeface="JetBrains Mono"/>
              </a:rPr>
              <a:t> </a:t>
            </a:r>
            <a:r>
              <a:rPr sz="800">
                <a:solidFill>
                  <a:srgbClr val="F1F5F9"/>
                </a:solidFill>
                <a:latin typeface="JetBrains Mono"/>
              </a:rPr>
              <a:t>nota</a:t>
            </a:r>
            <a:r>
              <a:rPr sz="800">
                <a:solidFill>
                  <a:srgbClr val="F1F5F9"/>
                </a:solidFill>
                <a:latin typeface="JetBrains Mono"/>
              </a:rPr>
              <a:t>;</a:t>
            </a:r>
          </a:p>
        </p:txBody>
      </p:sp>
      <p:sp>
        <p:nvSpPr>
          <p:cNvPr id="14" name="Rounded Rectangle 13"/>
          <p:cNvSpPr/>
          <p:nvPr/>
        </p:nvSpPr>
        <p:spPr>
          <a:xfrm>
            <a:off x="7315200" y="1737360"/>
            <a:ext cx="3931920" cy="19659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9792" y="1865376"/>
            <a:ext cx="3602736" cy="1709928"/>
          </a:xfrm>
          <a:prstGeom prst="rect">
            <a:avLst/>
          </a:prstGeom>
          <a:noFill/>
        </p:spPr>
        <p:txBody>
          <a:bodyPr wrap="square">
            <a:spAutoFit/>
          </a:bodyPr>
          <a:lstStyle/>
          <a:p>
            <a:r>
              <a:rPr sz="1200" b="1">
                <a:solidFill>
                  <a:srgbClr val="FFFFFF"/>
                </a:solidFill>
                <a:latin typeface="Plus Jakarta Sans"/>
              </a:rPr>
              <a:t>Klausa DETERMINISTIC</a:t>
            </a:r>
          </a:p>
          <a:p>
            <a:pPr>
              <a:spcBef>
                <a:spcPts val="600"/>
              </a:spcBef>
            </a:pPr>
            <a:r>
              <a:rPr sz="950">
                <a:solidFill>
                  <a:srgbClr val="CBD5E1"/>
                </a:solidFill>
                <a:latin typeface="Inter"/>
              </a:rPr>
              <a:t>Wajib dideklarasikan pada sistem dengan replikasi binlog aktif. DETERMINISTIC menyatakan bahwa input yang sama selalu menghasilkan output yang sama persis.</a:t>
            </a:r>
          </a:p>
        </p:txBody>
      </p:sp>
      <p:sp>
        <p:nvSpPr>
          <p:cNvPr id="16" name="Rounded Rectangle 15"/>
          <p:cNvSpPr/>
          <p:nvPr/>
        </p:nvSpPr>
        <p:spPr>
          <a:xfrm>
            <a:off x="7315200" y="3886200"/>
            <a:ext cx="3931920" cy="19659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9792" y="4014216"/>
            <a:ext cx="3602736" cy="1709928"/>
          </a:xfrm>
          <a:prstGeom prst="rect">
            <a:avLst/>
          </a:prstGeom>
          <a:noFill/>
        </p:spPr>
        <p:txBody>
          <a:bodyPr wrap="square">
            <a:spAutoFit/>
          </a:bodyPr>
          <a:lstStyle/>
          <a:p>
            <a:r>
              <a:rPr sz="1200" b="1">
                <a:solidFill>
                  <a:srgbClr val="FFFFFF"/>
                </a:solidFill>
                <a:latin typeface="Plus Jakarta Sans"/>
              </a:rPr>
              <a:t>Kategori Akses SQL</a:t>
            </a:r>
          </a:p>
          <a:p>
            <a:pPr>
              <a:spcBef>
                <a:spcPts val="600"/>
              </a:spcBef>
            </a:pPr>
            <a:r>
              <a:rPr sz="950">
                <a:solidFill>
                  <a:srgbClr val="CBD5E1"/>
                </a:solidFill>
                <a:latin typeface="Inter"/>
              </a:rPr>
              <a:t>• NO SQL: fungsi murni tanpa akses data tabel.
• READS SQL DATA: fungsi membaca data tabel via SELECT INTO.
• MODIFIES SQL DATA: memodifikasi data (hanya diizinkan di procedure).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04 · PARAMETER SP</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Mekanisme Pertukaran Nilai</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Mode Parameter Stored Procedure: </a:t>
            </a:r>
            <a:r>
              <a:rPr sz="2100" b="1">
                <a:solidFill>
                  <a:srgbClr val="00E5FF"/>
                </a:solidFill>
                <a:latin typeface="Plus Jakarta Sans"/>
              </a:rPr>
              <a:t>IN, OUT &amp; INOUT</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3328416" cy="192024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819656"/>
            <a:ext cx="2999232" cy="1664208"/>
          </a:xfrm>
          <a:prstGeom prst="rect">
            <a:avLst/>
          </a:prstGeom>
          <a:noFill/>
        </p:spPr>
        <p:txBody>
          <a:bodyPr wrap="square">
            <a:spAutoFit/>
          </a:bodyPr>
          <a:lstStyle/>
          <a:p>
            <a:r>
              <a:rPr sz="1050" b="1">
                <a:solidFill>
                  <a:srgbClr val="00E5FF"/>
                </a:solidFill>
                <a:latin typeface="JetBrains Mono"/>
              </a:rPr>
              <a:t>[IN] </a:t>
            </a:r>
            <a:r>
              <a:rPr sz="1200" b="1">
                <a:solidFill>
                  <a:srgbClr val="FFFFFF"/>
                </a:solidFill>
                <a:latin typeface="Plus Jakarta Sans"/>
              </a:rPr>
              <a:t>IN (Input Param)</a:t>
            </a:r>
          </a:p>
          <a:p>
            <a:pPr>
              <a:spcBef>
                <a:spcPts val="600"/>
              </a:spcBef>
            </a:pPr>
            <a:r>
              <a:rPr sz="950">
                <a:solidFill>
                  <a:srgbClr val="CBD5E1"/>
                </a:solidFill>
                <a:latin typeface="Inter"/>
              </a:rPr>
              <a:t>Bersifat Pass-by-Value (read-only). Nilai dikirim oleh pemanggil ke dalam prosedur. Perubahan variabel lokal di dalam prosedur tidak mengubah nilai pemanggil.</a:t>
            </a:r>
          </a:p>
        </p:txBody>
      </p:sp>
      <p:sp>
        <p:nvSpPr>
          <p:cNvPr id="10" name="Rounded Rectangle 9"/>
          <p:cNvSpPr/>
          <p:nvPr/>
        </p:nvSpPr>
        <p:spPr>
          <a:xfrm>
            <a:off x="4425696" y="1691640"/>
            <a:ext cx="3328416" cy="192024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819656"/>
            <a:ext cx="2999232" cy="1664208"/>
          </a:xfrm>
          <a:prstGeom prst="rect">
            <a:avLst/>
          </a:prstGeom>
          <a:noFill/>
        </p:spPr>
        <p:txBody>
          <a:bodyPr wrap="square">
            <a:spAutoFit/>
          </a:bodyPr>
          <a:lstStyle/>
          <a:p>
            <a:r>
              <a:rPr sz="1050" b="1">
                <a:solidFill>
                  <a:srgbClr val="00E5FF"/>
                </a:solidFill>
                <a:latin typeface="JetBrains Mono"/>
              </a:rPr>
              <a:t>[OUT] </a:t>
            </a:r>
            <a:r>
              <a:rPr sz="1200" b="1">
                <a:solidFill>
                  <a:srgbClr val="FFFFFF"/>
                </a:solidFill>
                <a:latin typeface="Plus Jakarta Sans"/>
              </a:rPr>
              <a:t>OUT (Output Param)</a:t>
            </a:r>
          </a:p>
          <a:p>
            <a:pPr>
              <a:spcBef>
                <a:spcPts val="600"/>
              </a:spcBef>
            </a:pPr>
            <a:r>
              <a:rPr sz="950">
                <a:solidFill>
                  <a:srgbClr val="CBD5E1"/>
                </a:solidFill>
                <a:latin typeface="Inter"/>
              </a:rPr>
              <a:t>Bersifat Pass-by-Reference (write-only). Nilai awal diabaikan (NULL). Prosedur mengisi nilai, dan pemanggil dapat membacanya setelah prosedur selesai.</a:t>
            </a:r>
          </a:p>
        </p:txBody>
      </p:sp>
      <p:sp>
        <p:nvSpPr>
          <p:cNvPr id="12" name="Rounded Rectangle 11"/>
          <p:cNvSpPr/>
          <p:nvPr/>
        </p:nvSpPr>
        <p:spPr>
          <a:xfrm>
            <a:off x="7936992" y="1691640"/>
            <a:ext cx="3328416" cy="192024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1584" y="1819656"/>
            <a:ext cx="2999232" cy="1664208"/>
          </a:xfrm>
          <a:prstGeom prst="rect">
            <a:avLst/>
          </a:prstGeom>
          <a:noFill/>
        </p:spPr>
        <p:txBody>
          <a:bodyPr wrap="square">
            <a:spAutoFit/>
          </a:bodyPr>
          <a:lstStyle/>
          <a:p>
            <a:r>
              <a:rPr sz="1050" b="1">
                <a:solidFill>
                  <a:srgbClr val="00E5FF"/>
                </a:solidFill>
                <a:latin typeface="JetBrains Mono"/>
              </a:rPr>
              <a:t>[INOUT] </a:t>
            </a:r>
            <a:r>
              <a:rPr sz="1200" b="1">
                <a:solidFill>
                  <a:srgbClr val="FFFFFF"/>
                </a:solidFill>
                <a:latin typeface="Plus Jakarta Sans"/>
              </a:rPr>
              <a:t>INOUT (Dual Param)</a:t>
            </a:r>
          </a:p>
          <a:p>
            <a:pPr>
              <a:spcBef>
                <a:spcPts val="600"/>
              </a:spcBef>
            </a:pPr>
            <a:r>
              <a:rPr sz="950">
                <a:solidFill>
                  <a:srgbClr val="CBD5E1"/>
                </a:solidFill>
                <a:latin typeface="Inter"/>
              </a:rPr>
              <a:t>Bersifat Dua Arah (read-write). Pemanggil mengirimkan nilai awal, lalu prosedur memproses dan mengubah nilai tersebut kembali ke pemanggil.</a:t>
            </a:r>
          </a:p>
        </p:txBody>
      </p:sp>
      <p:sp>
        <p:nvSpPr>
          <p:cNvPr id="14" name="Rounded Rectangle 13"/>
          <p:cNvSpPr/>
          <p:nvPr/>
        </p:nvSpPr>
        <p:spPr>
          <a:xfrm>
            <a:off x="914400" y="3794760"/>
            <a:ext cx="10332720" cy="210312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560" y="390448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16151" y="390448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80744" y="390448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3831336"/>
            <a:ext cx="8321040" cy="256032"/>
          </a:xfrm>
          <a:prstGeom prst="rect">
            <a:avLst/>
          </a:prstGeom>
          <a:noFill/>
        </p:spPr>
        <p:txBody>
          <a:bodyPr wrap="none">
            <a:spAutoFit/>
          </a:bodyPr>
          <a:lstStyle/>
          <a:p>
            <a:pPr>
              <a:defRPr sz="900">
                <a:solidFill>
                  <a:srgbClr val="38BDF8"/>
                </a:solidFill>
                <a:latin typeface="JetBrains Mono"/>
              </a:defRPr>
            </a:pPr>
            <a:r>
              <a:t>terminal · sp_HitungBonusKasir.sql</a:t>
            </a:r>
          </a:p>
        </p:txBody>
      </p:sp>
      <p:sp>
        <p:nvSpPr>
          <p:cNvPr id="19" name="TextBox 18"/>
          <p:cNvSpPr txBox="1"/>
          <p:nvPr/>
        </p:nvSpPr>
        <p:spPr>
          <a:xfrm>
            <a:off x="1051560" y="4087368"/>
            <a:ext cx="10058400" cy="1737360"/>
          </a:xfrm>
          <a:prstGeom prst="rect">
            <a:avLst/>
          </a:prstGeom>
          <a:noFill/>
        </p:spPr>
        <p:txBody>
          <a:bodyPr wrap="square" tIns="18288" bIns="18288" lIns="45720" rIns="45720">
            <a:spAutoFit/>
          </a:bodyPr>
          <a:lstStyle/>
          <a:p>
            <a:pPr>
              <a:spcAft>
                <a:spcPts val="150"/>
              </a:spcAft>
            </a:pPr>
            <a:r>
              <a:rPr sz="900" b="1">
                <a:solidFill>
                  <a:srgbClr val="00E5FF"/>
                </a:solidFill>
                <a:latin typeface="JetBrains Mono"/>
              </a:rPr>
              <a:t>DELIMITER</a:t>
            </a:r>
            <a:r>
              <a:rPr sz="900">
                <a:solidFill>
                  <a:srgbClr val="F1F5F9"/>
                </a:solidFill>
                <a:latin typeface="JetBrains Mono"/>
              </a:rPr>
              <a:t> </a:t>
            </a:r>
            <a:r>
              <a:rPr sz="900">
                <a:solidFill>
                  <a:srgbClr val="F1F5F9"/>
                </a:solidFill>
                <a:latin typeface="JetBrains Mono"/>
              </a:rPr>
              <a:t>$$</a:t>
            </a:r>
          </a:p>
          <a:p>
            <a:pPr>
              <a:spcAft>
                <a:spcPts val="150"/>
              </a:spcAft>
            </a:pPr>
            <a:r>
              <a:rPr sz="900" b="1">
                <a:solidFill>
                  <a:srgbClr val="00E5FF"/>
                </a:solidFill>
                <a:latin typeface="JetBrains Mono"/>
              </a:rPr>
              <a:t>CREATE</a:t>
            </a:r>
            <a:r>
              <a:rPr sz="900">
                <a:solidFill>
                  <a:srgbClr val="F1F5F9"/>
                </a:solidFill>
                <a:latin typeface="JetBrains Mono"/>
              </a:rPr>
              <a:t> </a:t>
            </a:r>
            <a:r>
              <a:rPr sz="900" b="1">
                <a:solidFill>
                  <a:srgbClr val="00E5FF"/>
                </a:solidFill>
                <a:latin typeface="JetBrains Mono"/>
              </a:rPr>
              <a:t>PROCEDURE</a:t>
            </a:r>
            <a:r>
              <a:rPr sz="900">
                <a:solidFill>
                  <a:srgbClr val="F1F5F9"/>
                </a:solidFill>
                <a:latin typeface="JetBrains Mono"/>
              </a:rPr>
              <a:t> </a:t>
            </a:r>
            <a:r>
              <a:rPr sz="900">
                <a:solidFill>
                  <a:srgbClr val="F1F5F9"/>
                </a:solidFill>
                <a:latin typeface="JetBrains Mono"/>
              </a:rPr>
              <a:t>sp_HitungBonusKasir</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IN</a:t>
            </a:r>
            <a:r>
              <a:rPr sz="900">
                <a:solidFill>
                  <a:srgbClr val="F1F5F9"/>
                </a:solidFill>
                <a:latin typeface="JetBrains Mono"/>
              </a:rPr>
              <a:t>  </a:t>
            </a:r>
            <a:r>
              <a:rPr sz="900">
                <a:solidFill>
                  <a:srgbClr val="F59E0B"/>
                </a:solidFill>
                <a:latin typeface="JetBrains Mono"/>
              </a:rPr>
              <a:t>p_KodeKasir</a:t>
            </a:r>
            <a:r>
              <a:rPr sz="900">
                <a:solidFill>
                  <a:srgbClr val="F1F5F9"/>
                </a:solidFill>
                <a:latin typeface="JetBrains Mono"/>
              </a:rPr>
              <a:t> </a:t>
            </a:r>
            <a:r>
              <a:rPr sz="900" b="1">
                <a:solidFill>
                  <a:srgbClr val="C084FC"/>
                </a:solidFill>
                <a:latin typeface="JetBrains Mono"/>
              </a:rPr>
              <a:t>VARCHAR</a:t>
            </a:r>
            <a:r>
              <a:rPr sz="900">
                <a:solidFill>
                  <a:srgbClr val="F1F5F9"/>
                </a:solidFill>
                <a:latin typeface="JetBrains Mono"/>
              </a:rPr>
              <a:t>(</a:t>
            </a:r>
            <a:r>
              <a:rPr sz="900">
                <a:solidFill>
                  <a:srgbClr val="F87171"/>
                </a:solidFill>
                <a:latin typeface="JetBrains Mono"/>
              </a:rPr>
              <a:t>3</a:t>
            </a:r>
            <a:r>
              <a:rPr sz="900">
                <a:solidFill>
                  <a:srgbClr val="F1F5F9"/>
                </a:solidFill>
                <a:latin typeface="JetBrains Mono"/>
              </a:rPr>
              <a:t>),</a:t>
            </a:r>
            <a:r>
              <a:rPr sz="900">
                <a:solidFill>
                  <a:srgbClr val="F1F5F9"/>
                </a:solidFill>
                <a:latin typeface="JetBrains Mono"/>
              </a:rPr>
              <a:t>      </a:t>
            </a:r>
            <a:r>
              <a:rPr sz="900" i="1">
                <a:solidFill>
                  <a:srgbClr val="94A3B8"/>
                </a:solidFill>
                <a:latin typeface="JetBrains Mono"/>
              </a:rPr>
              <a:t>-- Input: kode kasir</a:t>
            </a:r>
          </a:p>
          <a:p>
            <a:pPr>
              <a:spcAft>
                <a:spcPts val="150"/>
              </a:spcAft>
            </a:pPr>
            <a:r>
              <a:rPr sz="900">
                <a:solidFill>
                  <a:srgbClr val="F1F5F9"/>
                </a:solidFill>
                <a:latin typeface="JetBrains Mono"/>
              </a:rPr>
              <a:t>    </a:t>
            </a:r>
            <a:r>
              <a:rPr sz="900">
                <a:solidFill>
                  <a:srgbClr val="F1F5F9"/>
                </a:solidFill>
                <a:latin typeface="JetBrains Mono"/>
              </a:rPr>
              <a:t>OUT</a:t>
            </a:r>
            <a:r>
              <a:rPr sz="900">
                <a:solidFill>
                  <a:srgbClr val="F1F5F9"/>
                </a:solidFill>
                <a:latin typeface="JetBrains Mono"/>
              </a:rPr>
              <a:t> </a:t>
            </a:r>
            <a:r>
              <a:rPr sz="900">
                <a:solidFill>
                  <a:srgbClr val="F59E0B"/>
                </a:solidFill>
                <a:latin typeface="JetBrains Mono"/>
              </a:rPr>
              <a:t>p_TotalNota</a:t>
            </a:r>
            <a:r>
              <a:rPr sz="900">
                <a:solidFill>
                  <a:srgbClr val="F1F5F9"/>
                </a:solidFill>
                <a:latin typeface="JetBrains Mono"/>
              </a:rPr>
              <a:t> </a:t>
            </a:r>
            <a:r>
              <a:rPr sz="900" b="1">
                <a:solidFill>
                  <a:srgbClr val="C084FC"/>
                </a:solidFill>
                <a:latin typeface="JetBrains Mono"/>
              </a:rPr>
              <a:t>INT</a:t>
            </a:r>
            <a:r>
              <a:rPr sz="900">
                <a:solidFill>
                  <a:srgbClr val="F1F5F9"/>
                </a:solidFill>
                <a:latin typeface="JetBrains Mono"/>
              </a:rPr>
              <a:t>,</a:t>
            </a:r>
            <a:r>
              <a:rPr sz="900">
                <a:solidFill>
                  <a:srgbClr val="F1F5F9"/>
                </a:solidFill>
                <a:latin typeface="JetBrains Mono"/>
              </a:rPr>
              <a:t>             </a:t>
            </a:r>
            <a:r>
              <a:rPr sz="900" i="1">
                <a:solidFill>
                  <a:srgbClr val="94A3B8"/>
                </a:solidFill>
                <a:latin typeface="JetBrains Mono"/>
              </a:rPr>
              <a:t>-- Output: jumlah nota</a:t>
            </a:r>
          </a:p>
          <a:p>
            <a:pPr>
              <a:spcAft>
                <a:spcPts val="150"/>
              </a:spcAft>
            </a:pPr>
            <a:r>
              <a:rPr sz="900">
                <a:solidFill>
                  <a:srgbClr val="F1F5F9"/>
                </a:solidFill>
                <a:latin typeface="JetBrains Mono"/>
              </a:rPr>
              <a:t>    </a:t>
            </a:r>
            <a:r>
              <a:rPr sz="900">
                <a:solidFill>
                  <a:srgbClr val="F1F5F9"/>
                </a:solidFill>
                <a:latin typeface="JetBrains Mono"/>
              </a:rPr>
              <a:t>INOUT</a:t>
            </a:r>
            <a:r>
              <a:rPr sz="900">
                <a:solidFill>
                  <a:srgbClr val="F1F5F9"/>
                </a:solidFill>
                <a:latin typeface="JetBrains Mono"/>
              </a:rPr>
              <a:t> </a:t>
            </a:r>
            <a:r>
              <a:rPr sz="900">
                <a:solidFill>
                  <a:srgbClr val="F59E0B"/>
                </a:solidFill>
                <a:latin typeface="JetBrains Mono"/>
              </a:rPr>
              <a:t>p_SaldoBonus</a:t>
            </a:r>
            <a:r>
              <a:rPr sz="900">
                <a:solidFill>
                  <a:srgbClr val="F1F5F9"/>
                </a:solidFill>
                <a:latin typeface="JetBrains Mono"/>
              </a:rPr>
              <a:t> </a:t>
            </a:r>
            <a:r>
              <a:rPr sz="900" b="1">
                <a:solidFill>
                  <a:srgbClr val="C084FC"/>
                </a:solidFill>
                <a:latin typeface="JetBrains Mono"/>
              </a:rPr>
              <a:t>DECIMAL</a:t>
            </a:r>
            <a:r>
              <a:rPr sz="900">
                <a:solidFill>
                  <a:srgbClr val="F1F5F9"/>
                </a:solidFill>
                <a:latin typeface="JetBrains Mono"/>
              </a:rPr>
              <a:t>(</a:t>
            </a:r>
            <a:r>
              <a:rPr sz="900">
                <a:solidFill>
                  <a:srgbClr val="F87171"/>
                </a:solidFill>
                <a:latin typeface="JetBrains Mono"/>
              </a:rPr>
              <a:t>12</a:t>
            </a:r>
            <a:r>
              <a:rPr sz="900">
                <a:solidFill>
                  <a:srgbClr val="F1F5F9"/>
                </a:solidFill>
                <a:latin typeface="JetBrains Mono"/>
              </a:rPr>
              <a:t>,</a:t>
            </a:r>
            <a:r>
              <a:rPr sz="900">
                <a:solidFill>
                  <a:srgbClr val="F87171"/>
                </a:solidFill>
                <a:latin typeface="JetBrains Mono"/>
              </a:rPr>
              <a:t>2</a:t>
            </a:r>
            <a:r>
              <a:rPr sz="900">
                <a:solidFill>
                  <a:srgbClr val="F1F5F9"/>
                </a:solidFill>
                <a:latin typeface="JetBrains Mono"/>
              </a:rPr>
              <a:t>)</a:t>
            </a:r>
            <a:r>
              <a:rPr sz="900">
                <a:solidFill>
                  <a:srgbClr val="F1F5F9"/>
                </a:solidFill>
                <a:latin typeface="JetBrains Mono"/>
              </a:rPr>
              <a:t> </a:t>
            </a:r>
            <a:r>
              <a:rPr sz="900" i="1">
                <a:solidFill>
                  <a:srgbClr val="94A3B8"/>
                </a:solidFill>
                <a:latin typeface="JetBrains Mono"/>
              </a:rPr>
              <a:t>-- Input &amp; Output: saldo bonus</a:t>
            </a:r>
          </a:p>
          <a:p>
            <a:pPr>
              <a:spcAft>
                <a:spcPts val="150"/>
              </a:spcAft>
            </a:pPr>
            <a:r>
              <a:rPr sz="900">
                <a:solidFill>
                  <a:srgbClr val="F1F5F9"/>
                </a:solidFill>
                <a:latin typeface="JetBrains Mono"/>
              </a:rPr>
              <a:t>)</a:t>
            </a:r>
          </a:p>
          <a:p>
            <a:pPr>
              <a:spcAft>
                <a:spcPts val="150"/>
              </a:spcAft>
            </a:pPr>
            <a:r>
              <a:rPr sz="900" b="1">
                <a:solidFill>
                  <a:srgbClr val="00E5FF"/>
                </a:solidFill>
                <a:latin typeface="JetBrains Mono"/>
              </a:rPr>
              <a:t>BEGIN</a:t>
            </a:r>
          </a:p>
          <a:p>
            <a:pPr>
              <a:spcAft>
                <a:spcPts val="150"/>
              </a:spcAft>
            </a:pPr>
            <a:r>
              <a:rPr sz="900">
                <a:solidFill>
                  <a:srgbClr val="F1F5F9"/>
                </a:solidFill>
                <a:latin typeface="JetBrains Mono"/>
              </a:rPr>
              <a:t>    </a:t>
            </a:r>
            <a:r>
              <a:rPr sz="900" b="1">
                <a:solidFill>
                  <a:srgbClr val="00E5FF"/>
                </a:solidFill>
                <a:latin typeface="JetBrains Mono"/>
              </a:rPr>
              <a:t>SELECT</a:t>
            </a:r>
            <a:r>
              <a:rPr sz="900">
                <a:solidFill>
                  <a:srgbClr val="F1F5F9"/>
                </a:solidFill>
                <a:latin typeface="JetBrains Mono"/>
              </a:rPr>
              <a:t> </a:t>
            </a:r>
            <a:r>
              <a:rPr sz="900" b="1">
                <a:solidFill>
                  <a:srgbClr val="00E5FF"/>
                </a:solidFill>
                <a:latin typeface="JetBrains Mono"/>
              </a:rPr>
              <a:t>COUNT</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INTO</a:t>
            </a:r>
            <a:r>
              <a:rPr sz="900">
                <a:solidFill>
                  <a:srgbClr val="F1F5F9"/>
                </a:solidFill>
                <a:latin typeface="JetBrains Mono"/>
              </a:rPr>
              <a:t> </a:t>
            </a:r>
            <a:r>
              <a:rPr sz="900">
                <a:solidFill>
                  <a:srgbClr val="F59E0B"/>
                </a:solidFill>
                <a:latin typeface="JetBrains Mono"/>
              </a:rPr>
              <a:t>p_TotalNota</a:t>
            </a:r>
            <a:r>
              <a:rPr sz="900">
                <a:solidFill>
                  <a:srgbClr val="F1F5F9"/>
                </a:solidFill>
                <a:latin typeface="JetBrains Mono"/>
              </a:rPr>
              <a:t> </a:t>
            </a:r>
            <a:r>
              <a:rPr sz="900" b="1">
                <a:solidFill>
                  <a:srgbClr val="00E5FF"/>
                </a:solidFill>
                <a:latin typeface="JetBrains Mono"/>
              </a:rPr>
              <a:t>FROM</a:t>
            </a:r>
            <a:r>
              <a:rPr sz="900">
                <a:solidFill>
                  <a:srgbClr val="F1F5F9"/>
                </a:solidFill>
                <a:latin typeface="JetBrains Mono"/>
              </a:rPr>
              <a:t> </a:t>
            </a:r>
            <a:r>
              <a:rPr sz="900">
                <a:solidFill>
                  <a:srgbClr val="F1F5F9"/>
                </a:solidFill>
                <a:latin typeface="JetBrains Mono"/>
              </a:rPr>
              <a:t>nota</a:t>
            </a:r>
            <a:r>
              <a:rPr sz="900">
                <a:solidFill>
                  <a:srgbClr val="F1F5F9"/>
                </a:solidFill>
                <a:latin typeface="JetBrains Mono"/>
              </a:rPr>
              <a:t> </a:t>
            </a:r>
            <a:r>
              <a:rPr sz="900" b="1">
                <a:solidFill>
                  <a:srgbClr val="00E5FF"/>
                </a:solidFill>
                <a:latin typeface="JetBrains Mono"/>
              </a:rPr>
              <a:t>WHERE</a:t>
            </a:r>
            <a:r>
              <a:rPr sz="900">
                <a:solidFill>
                  <a:srgbClr val="F1F5F9"/>
                </a:solidFill>
                <a:latin typeface="JetBrains Mono"/>
              </a:rPr>
              <a:t> </a:t>
            </a:r>
            <a:r>
              <a:rPr sz="900">
                <a:solidFill>
                  <a:srgbClr val="F1F5F9"/>
                </a:solidFill>
                <a:latin typeface="JetBrains Mono"/>
              </a:rPr>
              <a:t>KodeKasir</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p_KodeKasir</a:t>
            </a:r>
            <a:r>
              <a:rPr sz="900">
                <a:solidFill>
                  <a:srgbClr val="F1F5F9"/>
                </a:solidFill>
                <a:latin typeface="JetBrains Mono"/>
              </a:rPr>
              <a:t>;</a:t>
            </a:r>
          </a:p>
          <a:p>
            <a:pPr>
              <a:spcAft>
                <a:spcPts val="150"/>
              </a:spcAft>
            </a:pP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p_SaldoBonus</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p_SaldoBonus</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1F5F9"/>
                </a:solidFill>
                <a:latin typeface="JetBrains Mono"/>
              </a:rPr>
              <a:t>(</a:t>
            </a:r>
            <a:r>
              <a:rPr sz="900">
                <a:solidFill>
                  <a:srgbClr val="F59E0B"/>
                </a:solidFill>
                <a:latin typeface="JetBrains Mono"/>
              </a:rPr>
              <a:t>p_TotalNota</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2500</a:t>
            </a:r>
            <a:r>
              <a:rPr sz="900">
                <a:solidFill>
                  <a:srgbClr val="F1F5F9"/>
                </a:solidFill>
                <a:latin typeface="JetBrains Mono"/>
              </a:rPr>
              <a:t>);</a:t>
            </a:r>
          </a:p>
          <a:p>
            <a:pPr>
              <a:spcAft>
                <a:spcPts val="150"/>
              </a:spcAft>
            </a:pPr>
            <a:r>
              <a:rPr sz="900" b="1">
                <a:solidFill>
                  <a:srgbClr val="00E5FF"/>
                </a:solidFill>
                <a:latin typeface="JetBrains Mono"/>
              </a:rPr>
              <a:t>END</a:t>
            </a:r>
            <a:r>
              <a:rPr sz="900">
                <a:solidFill>
                  <a:srgbClr val="F1F5F9"/>
                </a:solidFill>
                <a:latin typeface="JetBrains Mono"/>
              </a:rPr>
              <a:t>$$</a:t>
            </a:r>
          </a:p>
          <a:p>
            <a:pPr>
              <a:spcAft>
                <a:spcPts val="150"/>
              </a:spcAft>
            </a:pPr>
            <a:r>
              <a:rPr sz="900" b="1">
                <a:solidFill>
                  <a:srgbClr val="00E5FF"/>
                </a:solidFill>
                <a:latin typeface="JetBrains Mono"/>
              </a:rPr>
              <a:t>DELIMITER</a:t>
            </a:r>
            <a:r>
              <a:rPr sz="900">
                <a:solidFill>
                  <a:srgbClr val="F1F5F9"/>
                </a:solidFill>
                <a:latin typeface="JetBrains Mono"/>
              </a:rPr>
              <a:t> </a:t>
            </a:r>
            <a:r>
              <a:rPr sz="900">
                <a:solidFill>
                  <a:srgbClr val="F1F5F9"/>
                </a:solidFill>
                <a:latin typeface="JetBrains Mono"/>
              </a:rPr>
              <a:t>;</a:t>
            </a:r>
          </a:p>
          <a:p>
            <a:pPr>
              <a:spcAft>
                <a:spcPts val="150"/>
              </a:spcAft>
            </a:pPr>
            <a:r>
              <a:rPr sz="900" i="1">
                <a:solidFill>
                  <a:srgbClr val="94A3B8"/>
                </a:solidFill>
                <a:latin typeface="JetBrains Mono"/>
              </a:rPr>
              <a:t>-- Eksekusi: SET @b = 50000; CALL sp_HitungBonusKasir('001', @nota, @b); SELECT @nota, @b;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05 · CONTROL FLOW</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Algoritma Prosedural</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Struktur Kontrol Alur Logika di MySQL </a:t>
            </a:r>
            <a:r>
              <a:rPr sz="2100" b="1">
                <a:solidFill>
                  <a:srgbClr val="00E5FF"/>
                </a:solidFill>
                <a:latin typeface="Plus Jakarta Sans"/>
              </a:rPr>
              <a:t>Percabangan &amp; Iterasi</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5029200" cy="420624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013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1" y="180136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80136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728216"/>
            <a:ext cx="3017520" cy="256032"/>
          </a:xfrm>
          <a:prstGeom prst="rect">
            <a:avLst/>
          </a:prstGeom>
          <a:noFill/>
        </p:spPr>
        <p:txBody>
          <a:bodyPr wrap="none">
            <a:spAutoFit/>
          </a:bodyPr>
          <a:lstStyle/>
          <a:p>
            <a:pPr>
              <a:defRPr sz="900">
                <a:solidFill>
                  <a:srgbClr val="38BDF8"/>
                </a:solidFill>
                <a:latin typeface="JetBrains Mono"/>
              </a:defRPr>
            </a:pPr>
            <a:r>
              <a:t>terminal · Percabangan (IF &amp; CASE)</a:t>
            </a:r>
          </a:p>
        </p:txBody>
      </p:sp>
      <p:sp>
        <p:nvSpPr>
          <p:cNvPr id="13" name="TextBox 12"/>
          <p:cNvSpPr txBox="1"/>
          <p:nvPr/>
        </p:nvSpPr>
        <p:spPr>
          <a:xfrm>
            <a:off x="1051560" y="1984248"/>
            <a:ext cx="4754880" cy="3840480"/>
          </a:xfrm>
          <a:prstGeom prst="rect">
            <a:avLst/>
          </a:prstGeom>
          <a:noFill/>
        </p:spPr>
        <p:txBody>
          <a:bodyPr wrap="square" tIns="18288" bIns="18288" lIns="45720" rIns="45720">
            <a:spAutoFit/>
          </a:bodyPr>
          <a:lstStyle/>
          <a:p>
            <a:pPr>
              <a:spcAft>
                <a:spcPts val="150"/>
              </a:spcAft>
            </a:pPr>
            <a:r>
              <a:rPr sz="900" i="1">
                <a:solidFill>
                  <a:srgbClr val="94A3B8"/>
                </a:solidFill>
                <a:latin typeface="JetBrains Mono"/>
              </a:rPr>
              <a:t>-- 1. PERCABANGAN IF-ELSEIF-ELSE</a:t>
            </a:r>
          </a:p>
          <a:p>
            <a:pPr>
              <a:spcAft>
                <a:spcPts val="150"/>
              </a:spcAft>
            </a:pPr>
            <a:r>
              <a:rPr sz="900" b="1">
                <a:solidFill>
                  <a:srgbClr val="00E5FF"/>
                </a:solidFill>
                <a:latin typeface="JetBrains Mono"/>
              </a:rPr>
              <a:t>IF</a:t>
            </a:r>
            <a:r>
              <a:rPr sz="900">
                <a:solidFill>
                  <a:srgbClr val="F1F5F9"/>
                </a:solidFill>
                <a:latin typeface="JetBrains Mono"/>
              </a:rPr>
              <a:t> </a:t>
            </a:r>
            <a:r>
              <a:rPr sz="900">
                <a:solidFill>
                  <a:srgbClr val="F59E0B"/>
                </a:solidFill>
                <a:latin typeface="JetBrains Mono"/>
              </a:rPr>
              <a:t>v_stok</a:t>
            </a:r>
            <a:r>
              <a:rPr sz="900">
                <a:solidFill>
                  <a:srgbClr val="F1F5F9"/>
                </a:solidFill>
                <a:latin typeface="JetBrains Mono"/>
              </a:rPr>
              <a:t> </a:t>
            </a:r>
            <a:r>
              <a:rPr sz="900">
                <a:solidFill>
                  <a:srgbClr val="F1F5F9"/>
                </a:solidFill>
                <a:latin typeface="JetBrains Mono"/>
              </a:rPr>
              <a:t>&lt;=</a:t>
            </a:r>
            <a:r>
              <a:rPr sz="900">
                <a:solidFill>
                  <a:srgbClr val="F1F5F9"/>
                </a:solidFill>
                <a:latin typeface="JetBrains Mono"/>
              </a:rPr>
              <a:t> </a:t>
            </a:r>
            <a:r>
              <a:rPr sz="900">
                <a:solidFill>
                  <a:srgbClr val="F87171"/>
                </a:solidFill>
                <a:latin typeface="JetBrains Mono"/>
              </a:rPr>
              <a:t>0</a:t>
            </a:r>
            <a:r>
              <a:rPr sz="900">
                <a:solidFill>
                  <a:srgbClr val="F1F5F9"/>
                </a:solidFill>
                <a:latin typeface="JetBrains Mono"/>
              </a:rPr>
              <a:t> </a:t>
            </a:r>
            <a:r>
              <a:rPr sz="900" b="1">
                <a:solidFill>
                  <a:srgbClr val="00E5FF"/>
                </a:solidFill>
                <a:latin typeface="JetBrains Mono"/>
              </a:rPr>
              <a:t>THEN</a:t>
            </a:r>
          </a:p>
          <a:p>
            <a:pPr>
              <a:spcAft>
                <a:spcPts val="150"/>
              </a:spcAft>
            </a:pP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v_status</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34D399"/>
                </a:solidFill>
                <a:latin typeface="JetBrains Mono"/>
              </a:rPr>
              <a:t>'HABIS'</a:t>
            </a:r>
            <a:r>
              <a:rPr sz="900">
                <a:solidFill>
                  <a:srgbClr val="F1F5F9"/>
                </a:solidFill>
                <a:latin typeface="JetBrains Mono"/>
              </a:rPr>
              <a:t>;</a:t>
            </a:r>
          </a:p>
          <a:p>
            <a:pPr>
              <a:spcAft>
                <a:spcPts val="150"/>
              </a:spcAft>
            </a:pPr>
            <a:r>
              <a:rPr sz="900" b="1">
                <a:solidFill>
                  <a:srgbClr val="00E5FF"/>
                </a:solidFill>
                <a:latin typeface="JetBrains Mono"/>
              </a:rPr>
              <a:t>ELSEIF</a:t>
            </a:r>
            <a:r>
              <a:rPr sz="900">
                <a:solidFill>
                  <a:srgbClr val="F1F5F9"/>
                </a:solidFill>
                <a:latin typeface="JetBrains Mono"/>
              </a:rPr>
              <a:t> </a:t>
            </a:r>
            <a:r>
              <a:rPr sz="900">
                <a:solidFill>
                  <a:srgbClr val="F59E0B"/>
                </a:solidFill>
                <a:latin typeface="JetBrains Mono"/>
              </a:rPr>
              <a:t>v_stok</a:t>
            </a:r>
            <a:r>
              <a:rPr sz="900">
                <a:solidFill>
                  <a:srgbClr val="F1F5F9"/>
                </a:solidFill>
                <a:latin typeface="JetBrains Mono"/>
              </a:rPr>
              <a:t> </a:t>
            </a:r>
            <a:r>
              <a:rPr sz="900">
                <a:solidFill>
                  <a:srgbClr val="F1F5F9"/>
                </a:solidFill>
                <a:latin typeface="JetBrains Mono"/>
              </a:rPr>
              <a:t>&lt;=</a:t>
            </a:r>
            <a:r>
              <a:rPr sz="900">
                <a:solidFill>
                  <a:srgbClr val="F1F5F9"/>
                </a:solidFill>
                <a:latin typeface="JetBrains Mono"/>
              </a:rPr>
              <a:t> </a:t>
            </a:r>
            <a:r>
              <a:rPr sz="900">
                <a:solidFill>
                  <a:srgbClr val="F87171"/>
                </a:solidFill>
                <a:latin typeface="JetBrains Mono"/>
              </a:rPr>
              <a:t>5</a:t>
            </a:r>
            <a:r>
              <a:rPr sz="900">
                <a:solidFill>
                  <a:srgbClr val="F1F5F9"/>
                </a:solidFill>
                <a:latin typeface="JetBrains Mono"/>
              </a:rPr>
              <a:t> </a:t>
            </a:r>
            <a:r>
              <a:rPr sz="900" b="1">
                <a:solidFill>
                  <a:srgbClr val="00E5FF"/>
                </a:solidFill>
                <a:latin typeface="JetBrains Mono"/>
              </a:rPr>
              <a:t>THEN</a:t>
            </a:r>
          </a:p>
          <a:p>
            <a:pPr>
              <a:spcAft>
                <a:spcPts val="150"/>
              </a:spcAft>
            </a:pP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v_status</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34D399"/>
                </a:solidFill>
                <a:latin typeface="JetBrains Mono"/>
              </a:rPr>
              <a:t>'KRITIS'</a:t>
            </a:r>
            <a:r>
              <a:rPr sz="900">
                <a:solidFill>
                  <a:srgbClr val="F1F5F9"/>
                </a:solidFill>
                <a:latin typeface="JetBrains Mono"/>
              </a:rPr>
              <a:t>;</a:t>
            </a:r>
          </a:p>
          <a:p>
            <a:pPr>
              <a:spcAft>
                <a:spcPts val="150"/>
              </a:spcAft>
            </a:pPr>
            <a:r>
              <a:rPr sz="900" b="1">
                <a:solidFill>
                  <a:srgbClr val="00E5FF"/>
                </a:solidFill>
                <a:latin typeface="JetBrains Mono"/>
              </a:rPr>
              <a:t>ELSE</a:t>
            </a:r>
          </a:p>
          <a:p>
            <a:pPr>
              <a:spcAft>
                <a:spcPts val="150"/>
              </a:spcAft>
            </a:pP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v_status</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34D399"/>
                </a:solidFill>
                <a:latin typeface="JetBrains Mono"/>
              </a:rPr>
              <a:t>'AMAN'</a:t>
            </a:r>
            <a:r>
              <a:rPr sz="900">
                <a:solidFill>
                  <a:srgbClr val="F1F5F9"/>
                </a:solidFill>
                <a:latin typeface="JetBrains Mono"/>
              </a:rPr>
              <a:t>;</a:t>
            </a:r>
          </a:p>
          <a:p>
            <a:pPr>
              <a:spcAft>
                <a:spcPts val="150"/>
              </a:spcAft>
            </a:pPr>
            <a:r>
              <a:rPr sz="900" b="1">
                <a:solidFill>
                  <a:srgbClr val="00E5FF"/>
                </a:solidFill>
                <a:latin typeface="JetBrains Mono"/>
              </a:rPr>
              <a:t>END</a:t>
            </a:r>
            <a:r>
              <a:rPr sz="900">
                <a:solidFill>
                  <a:srgbClr val="F1F5F9"/>
                </a:solidFill>
                <a:latin typeface="JetBrains Mono"/>
              </a:rPr>
              <a:t> </a:t>
            </a:r>
            <a:r>
              <a:rPr sz="900" b="1">
                <a:solidFill>
                  <a:srgbClr val="00E5FF"/>
                </a:solidFill>
                <a:latin typeface="JetBrains Mono"/>
              </a:rPr>
              <a:t>IF</a:t>
            </a:r>
            <a:r>
              <a:rPr sz="900">
                <a:solidFill>
                  <a:srgbClr val="F1F5F9"/>
                </a:solidFill>
                <a:latin typeface="JetBrains Mono"/>
              </a:rPr>
              <a:t>;</a:t>
            </a:r>
          </a:p>
          <a:p>
            <a:pPr>
              <a:spcAft>
                <a:spcPts val="150"/>
              </a:spcAft>
            </a:pPr>
            <a:r>
              <a:t> </a:t>
            </a:r>
          </a:p>
          <a:p>
            <a:pPr>
              <a:spcAft>
                <a:spcPts val="150"/>
              </a:spcAft>
            </a:pPr>
            <a:r>
              <a:rPr sz="900" i="1">
                <a:solidFill>
                  <a:srgbClr val="94A3B8"/>
                </a:solidFill>
                <a:latin typeface="JetBrains Mono"/>
              </a:rPr>
              <a:t>-- 2. PERCABANGAN CASE</a:t>
            </a:r>
          </a:p>
          <a:p>
            <a:pPr>
              <a:spcAft>
                <a:spcPts val="150"/>
              </a:spcAft>
            </a:pPr>
            <a:r>
              <a:rPr sz="900">
                <a:solidFill>
                  <a:srgbClr val="F1F5F9"/>
                </a:solidFill>
                <a:latin typeface="JetBrains Mono"/>
              </a:rPr>
              <a:t>CASE</a:t>
            </a:r>
            <a:r>
              <a:rPr sz="900">
                <a:solidFill>
                  <a:srgbClr val="F1F5F9"/>
                </a:solidFill>
                <a:latin typeface="JetBrains Mono"/>
              </a:rPr>
              <a:t> </a:t>
            </a:r>
            <a:r>
              <a:rPr sz="900">
                <a:solidFill>
                  <a:srgbClr val="F59E0B"/>
                </a:solidFill>
                <a:latin typeface="JetBrains Mono"/>
              </a:rPr>
              <a:t>p_grade</a:t>
            </a:r>
          </a:p>
          <a:p>
            <a:pPr>
              <a:spcAft>
                <a:spcPts val="150"/>
              </a:spcAft>
            </a:pPr>
            <a:r>
              <a:rPr sz="900">
                <a:solidFill>
                  <a:srgbClr val="F1F5F9"/>
                </a:solidFill>
                <a:latin typeface="JetBrains Mono"/>
              </a:rPr>
              <a:t>    </a:t>
            </a:r>
            <a:r>
              <a:rPr sz="900">
                <a:solidFill>
                  <a:srgbClr val="F1F5F9"/>
                </a:solidFill>
                <a:latin typeface="JetBrains Mono"/>
              </a:rPr>
              <a:t>WHEN</a:t>
            </a:r>
            <a:r>
              <a:rPr sz="900">
                <a:solidFill>
                  <a:srgbClr val="F1F5F9"/>
                </a:solidFill>
                <a:latin typeface="JetBrains Mono"/>
              </a:rPr>
              <a:t> </a:t>
            </a:r>
            <a:r>
              <a:rPr sz="900">
                <a:solidFill>
                  <a:srgbClr val="34D399"/>
                </a:solidFill>
                <a:latin typeface="JetBrains Mono"/>
              </a:rPr>
              <a:t>'A'</a:t>
            </a:r>
            <a:r>
              <a:rPr sz="900">
                <a:solidFill>
                  <a:srgbClr val="F1F5F9"/>
                </a:solidFill>
                <a:latin typeface="JetBrains Mono"/>
              </a:rPr>
              <a:t> </a:t>
            </a:r>
            <a:r>
              <a:rPr sz="900" b="1">
                <a:solidFill>
                  <a:srgbClr val="00E5FF"/>
                </a:solidFill>
                <a:latin typeface="JetBrains Mono"/>
              </a:rPr>
              <a:t>THEN</a:t>
            </a: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v_diskon</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0</a:t>
            </a:r>
            <a:r>
              <a:rPr sz="900">
                <a:solidFill>
                  <a:srgbClr val="F1F5F9"/>
                </a:solidFill>
                <a:latin typeface="JetBrains Mono"/>
              </a:rPr>
              <a:t>.</a:t>
            </a:r>
            <a:r>
              <a:rPr sz="900">
                <a:solidFill>
                  <a:srgbClr val="F87171"/>
                </a:solidFill>
                <a:latin typeface="JetBrains Mono"/>
              </a:rPr>
              <a:t>20</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WHEN</a:t>
            </a:r>
            <a:r>
              <a:rPr sz="900">
                <a:solidFill>
                  <a:srgbClr val="F1F5F9"/>
                </a:solidFill>
                <a:latin typeface="JetBrains Mono"/>
              </a:rPr>
              <a:t> </a:t>
            </a:r>
            <a:r>
              <a:rPr sz="900">
                <a:solidFill>
                  <a:srgbClr val="34D399"/>
                </a:solidFill>
                <a:latin typeface="JetBrains Mono"/>
              </a:rPr>
              <a:t>'B'</a:t>
            </a:r>
            <a:r>
              <a:rPr sz="900">
                <a:solidFill>
                  <a:srgbClr val="F1F5F9"/>
                </a:solidFill>
                <a:latin typeface="JetBrains Mono"/>
              </a:rPr>
              <a:t> </a:t>
            </a:r>
            <a:r>
              <a:rPr sz="900" b="1">
                <a:solidFill>
                  <a:srgbClr val="00E5FF"/>
                </a:solidFill>
                <a:latin typeface="JetBrains Mono"/>
              </a:rPr>
              <a:t>THEN</a:t>
            </a: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v_diskon</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0</a:t>
            </a:r>
            <a:r>
              <a:rPr sz="900">
                <a:solidFill>
                  <a:srgbClr val="F1F5F9"/>
                </a:solidFill>
                <a:latin typeface="JetBrains Mono"/>
              </a:rPr>
              <a:t>.</a:t>
            </a:r>
            <a:r>
              <a:rPr sz="900">
                <a:solidFill>
                  <a:srgbClr val="F87171"/>
                </a:solidFill>
                <a:latin typeface="JetBrains Mono"/>
              </a:rPr>
              <a:t>10</a:t>
            </a:r>
            <a:r>
              <a:rPr sz="900">
                <a:solidFill>
                  <a:srgbClr val="F1F5F9"/>
                </a:solidFill>
                <a:latin typeface="JetBrains Mono"/>
              </a:rPr>
              <a:t>;</a:t>
            </a:r>
          </a:p>
          <a:p>
            <a:pPr>
              <a:spcAft>
                <a:spcPts val="150"/>
              </a:spcAft>
            </a:pPr>
            <a:r>
              <a:rPr sz="900">
                <a:solidFill>
                  <a:srgbClr val="F1F5F9"/>
                </a:solidFill>
                <a:latin typeface="JetBrains Mono"/>
              </a:rPr>
              <a:t>    </a:t>
            </a:r>
            <a:r>
              <a:rPr sz="900" b="1">
                <a:solidFill>
                  <a:srgbClr val="00E5FF"/>
                </a:solidFill>
                <a:latin typeface="JetBrains Mono"/>
              </a:rPr>
              <a:t>ELSE</a:t>
            </a: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v_diskon</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0</a:t>
            </a:r>
            <a:r>
              <a:rPr sz="900">
                <a:solidFill>
                  <a:srgbClr val="F1F5F9"/>
                </a:solidFill>
                <a:latin typeface="JetBrains Mono"/>
              </a:rPr>
              <a:t>.</a:t>
            </a:r>
            <a:r>
              <a:rPr sz="900">
                <a:solidFill>
                  <a:srgbClr val="F87171"/>
                </a:solidFill>
                <a:latin typeface="JetBrains Mono"/>
              </a:rPr>
              <a:t>00</a:t>
            </a:r>
            <a:r>
              <a:rPr sz="900">
                <a:solidFill>
                  <a:srgbClr val="F1F5F9"/>
                </a:solidFill>
                <a:latin typeface="JetBrains Mono"/>
              </a:rPr>
              <a:t>;</a:t>
            </a:r>
          </a:p>
          <a:p>
            <a:pPr>
              <a:spcAft>
                <a:spcPts val="150"/>
              </a:spcAft>
            </a:pPr>
            <a:r>
              <a:rPr sz="900" b="1">
                <a:solidFill>
                  <a:srgbClr val="00E5FF"/>
                </a:solidFill>
                <a:latin typeface="JetBrains Mono"/>
              </a:rPr>
              <a:t>END</a:t>
            </a:r>
            <a:r>
              <a:rPr sz="900">
                <a:solidFill>
                  <a:srgbClr val="F1F5F9"/>
                </a:solidFill>
                <a:latin typeface="JetBrains Mono"/>
              </a:rPr>
              <a:t> </a:t>
            </a:r>
            <a:r>
              <a:rPr sz="900">
                <a:solidFill>
                  <a:srgbClr val="F1F5F9"/>
                </a:solidFill>
                <a:latin typeface="JetBrains Mono"/>
              </a:rPr>
              <a:t>CASE</a:t>
            </a:r>
            <a:r>
              <a:rPr sz="900">
                <a:solidFill>
                  <a:srgbClr val="F1F5F9"/>
                </a:solidFill>
                <a:latin typeface="JetBrains Mono"/>
              </a:rPr>
              <a:t>;</a:t>
            </a:r>
          </a:p>
        </p:txBody>
      </p:sp>
      <p:sp>
        <p:nvSpPr>
          <p:cNvPr id="14" name="Rounded Rectangle 13"/>
          <p:cNvSpPr/>
          <p:nvPr/>
        </p:nvSpPr>
        <p:spPr>
          <a:xfrm>
            <a:off x="6217920" y="1691640"/>
            <a:ext cx="5029200" cy="420624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55080" y="18013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19671" y="180136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84264" y="180136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728216"/>
            <a:ext cx="3017520" cy="256032"/>
          </a:xfrm>
          <a:prstGeom prst="rect">
            <a:avLst/>
          </a:prstGeom>
          <a:noFill/>
        </p:spPr>
        <p:txBody>
          <a:bodyPr wrap="none">
            <a:spAutoFit/>
          </a:bodyPr>
          <a:lstStyle/>
          <a:p>
            <a:pPr>
              <a:defRPr sz="900">
                <a:solidFill>
                  <a:srgbClr val="38BDF8"/>
                </a:solidFill>
                <a:latin typeface="JetBrains Mono"/>
              </a:defRPr>
            </a:pPr>
            <a:r>
              <a:t>terminal · Pengulangan (WHILE &amp; LOOP)</a:t>
            </a:r>
          </a:p>
        </p:txBody>
      </p:sp>
      <p:sp>
        <p:nvSpPr>
          <p:cNvPr id="19" name="TextBox 18"/>
          <p:cNvSpPr txBox="1"/>
          <p:nvPr/>
        </p:nvSpPr>
        <p:spPr>
          <a:xfrm>
            <a:off x="6355080" y="1984248"/>
            <a:ext cx="4754880" cy="3840480"/>
          </a:xfrm>
          <a:prstGeom prst="rect">
            <a:avLst/>
          </a:prstGeom>
          <a:noFill/>
        </p:spPr>
        <p:txBody>
          <a:bodyPr wrap="square" tIns="18288" bIns="18288" lIns="45720" rIns="45720">
            <a:spAutoFit/>
          </a:bodyPr>
          <a:lstStyle/>
          <a:p>
            <a:pPr>
              <a:spcAft>
                <a:spcPts val="150"/>
              </a:spcAft>
            </a:pPr>
            <a:r>
              <a:rPr sz="900" i="1">
                <a:solidFill>
                  <a:srgbClr val="94A3B8"/>
                </a:solidFill>
                <a:latin typeface="JetBrains Mono"/>
              </a:rPr>
              <a:t>-- 3. PENGULANGAN WHILE LOOP</a:t>
            </a:r>
          </a:p>
          <a:p>
            <a:pPr>
              <a:spcAft>
                <a:spcPts val="150"/>
              </a:spcAft>
            </a:pPr>
            <a:r>
              <a:rPr sz="900">
                <a:solidFill>
                  <a:srgbClr val="F1F5F9"/>
                </a:solidFill>
                <a:latin typeface="JetBrains Mono"/>
              </a:rPr>
              <a:t>WHILE</a:t>
            </a:r>
            <a:r>
              <a:rPr sz="900">
                <a:solidFill>
                  <a:srgbClr val="F1F5F9"/>
                </a:solidFill>
                <a:latin typeface="JetBrains Mono"/>
              </a:rPr>
              <a:t> </a:t>
            </a:r>
            <a:r>
              <a:rPr sz="900">
                <a:solidFill>
                  <a:srgbClr val="F59E0B"/>
                </a:solidFill>
                <a:latin typeface="JetBrains Mono"/>
              </a:rPr>
              <a:t>v_counter</a:t>
            </a:r>
            <a:r>
              <a:rPr sz="900">
                <a:solidFill>
                  <a:srgbClr val="F1F5F9"/>
                </a:solidFill>
                <a:latin typeface="JetBrains Mono"/>
              </a:rPr>
              <a:t> </a:t>
            </a:r>
            <a:r>
              <a:rPr sz="900">
                <a:solidFill>
                  <a:srgbClr val="F1F5F9"/>
                </a:solidFill>
                <a:latin typeface="JetBrains Mono"/>
              </a:rPr>
              <a:t>&lt;</a:t>
            </a:r>
            <a:r>
              <a:rPr sz="900">
                <a:solidFill>
                  <a:srgbClr val="F1F5F9"/>
                </a:solidFill>
                <a:latin typeface="JetBrains Mono"/>
              </a:rPr>
              <a:t> </a:t>
            </a:r>
            <a:r>
              <a:rPr sz="900">
                <a:solidFill>
                  <a:srgbClr val="F87171"/>
                </a:solidFill>
                <a:latin typeface="JetBrains Mono"/>
              </a:rPr>
              <a:t>10</a:t>
            </a:r>
            <a:r>
              <a:rPr sz="900">
                <a:solidFill>
                  <a:srgbClr val="F1F5F9"/>
                </a:solidFill>
                <a:latin typeface="JetBrains Mono"/>
              </a:rPr>
              <a:t> </a:t>
            </a:r>
            <a:r>
              <a:rPr sz="900">
                <a:solidFill>
                  <a:srgbClr val="F1F5F9"/>
                </a:solidFill>
                <a:latin typeface="JetBrains Mono"/>
              </a:rPr>
              <a:t>DO</a:t>
            </a:r>
          </a:p>
          <a:p>
            <a:pPr>
              <a:spcAft>
                <a:spcPts val="150"/>
              </a:spcAft>
            </a:pP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v_total</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v_total</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v_counter</a:t>
            </a:r>
            <a:r>
              <a:rPr sz="900">
                <a:solidFill>
                  <a:srgbClr val="F1F5F9"/>
                </a:solidFill>
                <a:latin typeface="JetBrains Mono"/>
              </a:rPr>
              <a:t>;</a:t>
            </a:r>
          </a:p>
          <a:p>
            <a:pPr>
              <a:spcAft>
                <a:spcPts val="150"/>
              </a:spcAft>
            </a:pP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v_counter</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v_counter</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1</a:t>
            </a:r>
            <a:r>
              <a:rPr sz="900">
                <a:solidFill>
                  <a:srgbClr val="F1F5F9"/>
                </a:solidFill>
                <a:latin typeface="JetBrains Mono"/>
              </a:rPr>
              <a:t>;</a:t>
            </a:r>
          </a:p>
          <a:p>
            <a:pPr>
              <a:spcAft>
                <a:spcPts val="150"/>
              </a:spcAft>
            </a:pPr>
            <a:r>
              <a:rPr sz="900" b="1">
                <a:solidFill>
                  <a:srgbClr val="00E5FF"/>
                </a:solidFill>
                <a:latin typeface="JetBrains Mono"/>
              </a:rPr>
              <a:t>END</a:t>
            </a:r>
            <a:r>
              <a:rPr sz="900">
                <a:solidFill>
                  <a:srgbClr val="F1F5F9"/>
                </a:solidFill>
                <a:latin typeface="JetBrains Mono"/>
              </a:rPr>
              <a:t> </a:t>
            </a:r>
            <a:r>
              <a:rPr sz="900">
                <a:solidFill>
                  <a:srgbClr val="F1F5F9"/>
                </a:solidFill>
                <a:latin typeface="JetBrains Mono"/>
              </a:rPr>
              <a:t>WHILE</a:t>
            </a:r>
            <a:r>
              <a:rPr sz="900">
                <a:solidFill>
                  <a:srgbClr val="F1F5F9"/>
                </a:solidFill>
                <a:latin typeface="JetBrains Mono"/>
              </a:rPr>
              <a:t>;</a:t>
            </a:r>
          </a:p>
          <a:p>
            <a:pPr>
              <a:spcAft>
                <a:spcPts val="150"/>
              </a:spcAft>
            </a:pPr>
            <a:r>
              <a:t> </a:t>
            </a:r>
          </a:p>
          <a:p>
            <a:pPr>
              <a:spcAft>
                <a:spcPts val="150"/>
              </a:spcAft>
            </a:pPr>
            <a:r>
              <a:rPr sz="900" i="1">
                <a:solidFill>
                  <a:srgbClr val="94A3B8"/>
                </a:solidFill>
                <a:latin typeface="JetBrains Mono"/>
              </a:rPr>
              <a:t>-- 4. LOOP &amp; LEAVE (BREAK)</a:t>
            </a:r>
          </a:p>
          <a:p>
            <a:pPr>
              <a:spcAft>
                <a:spcPts val="150"/>
              </a:spcAft>
            </a:pPr>
            <a:r>
              <a:rPr sz="900">
                <a:solidFill>
                  <a:srgbClr val="F1F5F9"/>
                </a:solidFill>
                <a:latin typeface="JetBrains Mono"/>
              </a:rPr>
              <a:t>baca_loop</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LOOP</a:t>
            </a:r>
          </a:p>
          <a:p>
            <a:pPr>
              <a:spcAft>
                <a:spcPts val="150"/>
              </a:spcAft>
            </a:pPr>
            <a:r>
              <a:rPr sz="900">
                <a:solidFill>
                  <a:srgbClr val="F1F5F9"/>
                </a:solidFill>
                <a:latin typeface="JetBrains Mono"/>
              </a:rPr>
              <a:t>    </a:t>
            </a:r>
            <a:r>
              <a:rPr sz="900" b="1">
                <a:solidFill>
                  <a:srgbClr val="00E5FF"/>
                </a:solidFill>
                <a:latin typeface="JetBrains Mono"/>
              </a:rPr>
              <a:t>FETCH</a:t>
            </a:r>
            <a:r>
              <a:rPr sz="900">
                <a:solidFill>
                  <a:srgbClr val="F1F5F9"/>
                </a:solidFill>
                <a:latin typeface="JetBrains Mono"/>
              </a:rPr>
              <a:t> </a:t>
            </a:r>
            <a:r>
              <a:rPr sz="900">
                <a:solidFill>
                  <a:srgbClr val="F1F5F9"/>
                </a:solidFill>
                <a:latin typeface="JetBrains Mono"/>
              </a:rPr>
              <a:t>cur_produk</a:t>
            </a:r>
            <a:r>
              <a:rPr sz="900">
                <a:solidFill>
                  <a:srgbClr val="F1F5F9"/>
                </a:solidFill>
                <a:latin typeface="JetBrains Mono"/>
              </a:rPr>
              <a:t> </a:t>
            </a:r>
            <a:r>
              <a:rPr sz="900" b="1">
                <a:solidFill>
                  <a:srgbClr val="00E5FF"/>
                </a:solidFill>
                <a:latin typeface="JetBrains Mono"/>
              </a:rPr>
              <a:t>INTO</a:t>
            </a:r>
            <a:r>
              <a:rPr sz="900">
                <a:solidFill>
                  <a:srgbClr val="F1F5F9"/>
                </a:solidFill>
                <a:latin typeface="JetBrains Mono"/>
              </a:rPr>
              <a:t> </a:t>
            </a:r>
            <a:r>
              <a:rPr sz="900">
                <a:solidFill>
                  <a:srgbClr val="F59E0B"/>
                </a:solidFill>
                <a:latin typeface="JetBrains Mono"/>
              </a:rPr>
              <a:t>v_kode</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v_stok</a:t>
            </a:r>
            <a:r>
              <a:rPr sz="900">
                <a:solidFill>
                  <a:srgbClr val="F1F5F9"/>
                </a:solidFill>
                <a:latin typeface="JetBrains Mono"/>
              </a:rPr>
              <a:t>;</a:t>
            </a:r>
          </a:p>
          <a:p>
            <a:pPr>
              <a:spcAft>
                <a:spcPts val="150"/>
              </a:spcAft>
            </a:pPr>
            <a:r>
              <a:rPr sz="900">
                <a:solidFill>
                  <a:srgbClr val="F1F5F9"/>
                </a:solidFill>
                <a:latin typeface="JetBrains Mono"/>
              </a:rPr>
              <a:t>    </a:t>
            </a:r>
            <a:r>
              <a:rPr sz="900" b="1">
                <a:solidFill>
                  <a:srgbClr val="00E5FF"/>
                </a:solidFill>
                <a:latin typeface="JetBrains Mono"/>
              </a:rPr>
              <a:t>IF</a:t>
            </a:r>
            <a:r>
              <a:rPr sz="900">
                <a:solidFill>
                  <a:srgbClr val="F1F5F9"/>
                </a:solidFill>
                <a:latin typeface="JetBrains Mono"/>
              </a:rPr>
              <a:t> </a:t>
            </a:r>
            <a:r>
              <a:rPr sz="900">
                <a:solidFill>
                  <a:srgbClr val="F59E0B"/>
                </a:solidFill>
                <a:latin typeface="JetBrains Mono"/>
              </a:rPr>
              <a:t>v_selesai</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1</a:t>
            </a:r>
            <a:r>
              <a:rPr sz="900">
                <a:solidFill>
                  <a:srgbClr val="F1F5F9"/>
                </a:solidFill>
                <a:latin typeface="JetBrains Mono"/>
              </a:rPr>
              <a:t> </a:t>
            </a:r>
            <a:r>
              <a:rPr sz="900" b="1">
                <a:solidFill>
                  <a:srgbClr val="00E5FF"/>
                </a:solidFill>
                <a:latin typeface="JetBrains Mono"/>
              </a:rPr>
              <a:t>THEN</a:t>
            </a:r>
          </a:p>
          <a:p>
            <a:pPr>
              <a:spcAft>
                <a:spcPts val="150"/>
              </a:spcAft>
            </a:pPr>
            <a:r>
              <a:rPr sz="900">
                <a:solidFill>
                  <a:srgbClr val="F1F5F9"/>
                </a:solidFill>
                <a:latin typeface="JetBrains Mono"/>
              </a:rPr>
              <a:t>        </a:t>
            </a:r>
            <a:r>
              <a:rPr sz="900" b="1">
                <a:solidFill>
                  <a:srgbClr val="00E5FF"/>
                </a:solidFill>
                <a:latin typeface="JetBrains Mono"/>
              </a:rPr>
              <a:t>LEAVE</a:t>
            </a:r>
            <a:r>
              <a:rPr sz="900">
                <a:solidFill>
                  <a:srgbClr val="F1F5F9"/>
                </a:solidFill>
                <a:latin typeface="JetBrains Mono"/>
              </a:rPr>
              <a:t> </a:t>
            </a:r>
            <a:r>
              <a:rPr sz="900">
                <a:solidFill>
                  <a:srgbClr val="F1F5F9"/>
                </a:solidFill>
                <a:latin typeface="JetBrains Mono"/>
              </a:rPr>
              <a:t>baca_loop</a:t>
            </a:r>
            <a:r>
              <a:rPr sz="900">
                <a:solidFill>
                  <a:srgbClr val="F1F5F9"/>
                </a:solidFill>
                <a:latin typeface="JetBrains Mono"/>
              </a:rPr>
              <a:t>;</a:t>
            </a:r>
            <a:r>
              <a:rPr sz="900">
                <a:solidFill>
                  <a:srgbClr val="F1F5F9"/>
                </a:solidFill>
                <a:latin typeface="JetBrains Mono"/>
              </a:rPr>
              <a:t> </a:t>
            </a:r>
            <a:r>
              <a:rPr sz="900" i="1">
                <a:solidFill>
                  <a:srgbClr val="94A3B8"/>
                </a:solidFill>
                <a:latin typeface="JetBrains Mono"/>
              </a:rPr>
              <a:t>-- Keluar loop</a:t>
            </a:r>
          </a:p>
          <a:p>
            <a:pPr>
              <a:spcAft>
                <a:spcPts val="150"/>
              </a:spcAft>
            </a:pPr>
            <a:r>
              <a:rPr sz="900">
                <a:solidFill>
                  <a:srgbClr val="F1F5F9"/>
                </a:solidFill>
                <a:latin typeface="JetBrains Mono"/>
              </a:rPr>
              <a:t>    </a:t>
            </a:r>
            <a:r>
              <a:rPr sz="900" b="1">
                <a:solidFill>
                  <a:srgbClr val="00E5FF"/>
                </a:solidFill>
                <a:latin typeface="JetBrains Mono"/>
              </a:rPr>
              <a:t>END</a:t>
            </a:r>
            <a:r>
              <a:rPr sz="900">
                <a:solidFill>
                  <a:srgbClr val="F1F5F9"/>
                </a:solidFill>
                <a:latin typeface="JetBrains Mono"/>
              </a:rPr>
              <a:t> </a:t>
            </a:r>
            <a:r>
              <a:rPr sz="900" b="1">
                <a:solidFill>
                  <a:srgbClr val="00E5FF"/>
                </a:solidFill>
                <a:latin typeface="JetBrains Mono"/>
              </a:rPr>
              <a:t>IF</a:t>
            </a:r>
            <a:r>
              <a:rPr sz="900">
                <a:solidFill>
                  <a:srgbClr val="F1F5F9"/>
                </a:solidFill>
                <a:latin typeface="JetBrains Mono"/>
              </a:rPr>
              <a:t>;</a:t>
            </a:r>
          </a:p>
          <a:p>
            <a:pPr>
              <a:spcAft>
                <a:spcPts val="150"/>
              </a:spcAft>
            </a:pPr>
            <a:r>
              <a:rPr sz="900">
                <a:solidFill>
                  <a:srgbClr val="F1F5F9"/>
                </a:solidFill>
                <a:latin typeface="JetBrains Mono"/>
              </a:rPr>
              <a:t>    </a:t>
            </a:r>
            <a:r>
              <a:rPr sz="900" i="1">
                <a:solidFill>
                  <a:srgbClr val="94A3B8"/>
                </a:solidFill>
                <a:latin typeface="JetBrains Mono"/>
              </a:rPr>
              <a:t>-- Proses data baris...</a:t>
            </a:r>
          </a:p>
          <a:p>
            <a:pPr>
              <a:spcAft>
                <a:spcPts val="150"/>
              </a:spcAft>
            </a:pPr>
            <a:r>
              <a:rPr sz="900" b="1">
                <a:solidFill>
                  <a:srgbClr val="00E5FF"/>
                </a:solidFill>
                <a:latin typeface="JetBrains Mono"/>
              </a:rPr>
              <a:t>END</a:t>
            </a:r>
            <a:r>
              <a:rPr sz="900">
                <a:solidFill>
                  <a:srgbClr val="F1F5F9"/>
                </a:solidFill>
                <a:latin typeface="JetBrains Mono"/>
              </a:rPr>
              <a:t> </a:t>
            </a:r>
            <a:r>
              <a:rPr sz="900" b="1">
                <a:solidFill>
                  <a:srgbClr val="00E5FF"/>
                </a:solidFill>
                <a:latin typeface="JetBrains Mono"/>
              </a:rPr>
              <a:t>LOOP</a:t>
            </a:r>
            <a:r>
              <a:rPr sz="900">
                <a:solidFill>
                  <a:srgbClr val="F1F5F9"/>
                </a:solidFill>
                <a:latin typeface="JetBrains Mono"/>
              </a:rPr>
              <a:t> </a:t>
            </a:r>
            <a:r>
              <a:rPr sz="900">
                <a:solidFill>
                  <a:srgbClr val="F1F5F9"/>
                </a:solidFill>
                <a:latin typeface="JetBrains Mono"/>
              </a:rPr>
              <a:t>baca_loop</a:t>
            </a:r>
            <a:r>
              <a:rPr sz="900">
                <a:solidFill>
                  <a:srgbClr val="F1F5F9"/>
                </a:solidFill>
                <a:latin typeface="JetBrains Mono"/>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06 · CURSOR &amp; ITERASI</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Pointer Baris demi Baris</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Pengolahan Baris Tunggal Menggunakan CURSOR </a:t>
            </a:r>
            <a:r>
              <a:rPr sz="2100" b="1">
                <a:solidFill>
                  <a:srgbClr val="00E5FF"/>
                </a:solidFill>
                <a:latin typeface="Plus Jakarta Sans"/>
              </a:rPr>
              <a:t>Iterasi Sequential</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2450592" cy="1645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819656"/>
            <a:ext cx="2121408" cy="1389888"/>
          </a:xfrm>
          <a:prstGeom prst="rect">
            <a:avLst/>
          </a:prstGeom>
          <a:noFill/>
        </p:spPr>
        <p:txBody>
          <a:bodyPr wrap="square">
            <a:spAutoFit/>
          </a:bodyPr>
          <a:lstStyle/>
          <a:p>
            <a:r>
              <a:rPr sz="1050" b="1">
                <a:solidFill>
                  <a:srgbClr val="00E5FF"/>
                </a:solidFill>
                <a:latin typeface="JetBrains Mono"/>
              </a:rPr>
              <a:t>[01] </a:t>
            </a:r>
            <a:r>
              <a:rPr sz="1200" b="1">
                <a:solidFill>
                  <a:srgbClr val="FFFFFF"/>
                </a:solidFill>
                <a:latin typeface="Plus Jakarta Sans"/>
              </a:rPr>
              <a:t>1. DECLARE</a:t>
            </a:r>
          </a:p>
          <a:p>
            <a:pPr>
              <a:spcBef>
                <a:spcPts val="600"/>
              </a:spcBef>
            </a:pPr>
            <a:r>
              <a:rPr sz="950">
                <a:solidFill>
                  <a:srgbClr val="CBD5E1"/>
                </a:solidFill>
                <a:latin typeface="Inter"/>
              </a:rPr>
              <a:t>Mendeklarasikan nama kursor dan kueri SELECT yang akan ditampung.</a:t>
            </a:r>
          </a:p>
        </p:txBody>
      </p:sp>
      <p:sp>
        <p:nvSpPr>
          <p:cNvPr id="10" name="Rounded Rectangle 9"/>
          <p:cNvSpPr/>
          <p:nvPr/>
        </p:nvSpPr>
        <p:spPr>
          <a:xfrm>
            <a:off x="3547872" y="1691640"/>
            <a:ext cx="2450592" cy="1645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2464" y="1819656"/>
            <a:ext cx="2121408" cy="1389888"/>
          </a:xfrm>
          <a:prstGeom prst="rect">
            <a:avLst/>
          </a:prstGeom>
          <a:noFill/>
        </p:spPr>
        <p:txBody>
          <a:bodyPr wrap="square">
            <a:spAutoFit/>
          </a:bodyPr>
          <a:lstStyle/>
          <a:p>
            <a:r>
              <a:rPr sz="1050" b="1">
                <a:solidFill>
                  <a:srgbClr val="00E5FF"/>
                </a:solidFill>
                <a:latin typeface="JetBrains Mono"/>
              </a:rPr>
              <a:t>[02] </a:t>
            </a:r>
            <a:r>
              <a:rPr sz="1200" b="1">
                <a:solidFill>
                  <a:srgbClr val="FFFFFF"/>
                </a:solidFill>
                <a:latin typeface="Plus Jakarta Sans"/>
              </a:rPr>
              <a:t>2. OPEN</a:t>
            </a:r>
          </a:p>
          <a:p>
            <a:pPr>
              <a:spcBef>
                <a:spcPts val="600"/>
              </a:spcBef>
            </a:pPr>
            <a:r>
              <a:rPr sz="950">
                <a:solidFill>
                  <a:srgbClr val="CBD5E1"/>
                </a:solidFill>
                <a:latin typeface="Inter"/>
              </a:rPr>
              <a:t>Mengeksekusi kueri SELECT dan menginisialisasi pointer data ke baris awal.</a:t>
            </a:r>
          </a:p>
        </p:txBody>
      </p:sp>
      <p:sp>
        <p:nvSpPr>
          <p:cNvPr id="12" name="Rounded Rectangle 11"/>
          <p:cNvSpPr/>
          <p:nvPr/>
        </p:nvSpPr>
        <p:spPr>
          <a:xfrm>
            <a:off x="6181344" y="1691640"/>
            <a:ext cx="2450592" cy="1645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819656"/>
            <a:ext cx="2121408" cy="1389888"/>
          </a:xfrm>
          <a:prstGeom prst="rect">
            <a:avLst/>
          </a:prstGeom>
          <a:noFill/>
        </p:spPr>
        <p:txBody>
          <a:bodyPr wrap="square">
            <a:spAutoFit/>
          </a:bodyPr>
          <a:lstStyle/>
          <a:p>
            <a:r>
              <a:rPr sz="1050" b="1">
                <a:solidFill>
                  <a:srgbClr val="00E5FF"/>
                </a:solidFill>
                <a:latin typeface="JetBrains Mono"/>
              </a:rPr>
              <a:t>[03] </a:t>
            </a:r>
            <a:r>
              <a:rPr sz="1200" b="1">
                <a:solidFill>
                  <a:srgbClr val="FFFFFF"/>
                </a:solidFill>
                <a:latin typeface="Plus Jakarta Sans"/>
              </a:rPr>
              <a:t>3. FETCH</a:t>
            </a:r>
          </a:p>
          <a:p>
            <a:pPr>
              <a:spcBef>
                <a:spcPts val="600"/>
              </a:spcBef>
            </a:pPr>
            <a:r>
              <a:rPr sz="950">
                <a:solidFill>
                  <a:srgbClr val="CBD5E1"/>
                </a:solidFill>
                <a:latin typeface="Inter"/>
              </a:rPr>
              <a:t>Mengambil nilai kolom baris aktif ke variabel lokal dan menggeser pointer.</a:t>
            </a:r>
          </a:p>
        </p:txBody>
      </p:sp>
      <p:sp>
        <p:nvSpPr>
          <p:cNvPr id="14" name="Rounded Rectangle 13"/>
          <p:cNvSpPr/>
          <p:nvPr/>
        </p:nvSpPr>
        <p:spPr>
          <a:xfrm>
            <a:off x="8814816" y="1691640"/>
            <a:ext cx="2450592" cy="164592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79408" y="1819656"/>
            <a:ext cx="2121408" cy="1389888"/>
          </a:xfrm>
          <a:prstGeom prst="rect">
            <a:avLst/>
          </a:prstGeom>
          <a:noFill/>
        </p:spPr>
        <p:txBody>
          <a:bodyPr wrap="square">
            <a:spAutoFit/>
          </a:bodyPr>
          <a:lstStyle/>
          <a:p>
            <a:r>
              <a:rPr sz="1050" b="1">
                <a:solidFill>
                  <a:srgbClr val="00E5FF"/>
                </a:solidFill>
                <a:latin typeface="JetBrains Mono"/>
              </a:rPr>
              <a:t>[04] </a:t>
            </a:r>
            <a:r>
              <a:rPr sz="1200" b="1">
                <a:solidFill>
                  <a:srgbClr val="FFFFFF"/>
                </a:solidFill>
                <a:latin typeface="Plus Jakarta Sans"/>
              </a:rPr>
              <a:t>4. CLOSE</a:t>
            </a:r>
          </a:p>
          <a:p>
            <a:pPr>
              <a:spcBef>
                <a:spcPts val="600"/>
              </a:spcBef>
            </a:pPr>
            <a:r>
              <a:rPr sz="950">
                <a:solidFill>
                  <a:srgbClr val="CBD5E1"/>
                </a:solidFill>
                <a:latin typeface="Inter"/>
              </a:rPr>
              <a:t>Menutup kursor dan membebaskan alokasi memori buffer RDBMS.</a:t>
            </a:r>
          </a:p>
        </p:txBody>
      </p:sp>
      <p:sp>
        <p:nvSpPr>
          <p:cNvPr id="16" name="Rounded Rectangle 15"/>
          <p:cNvSpPr/>
          <p:nvPr/>
        </p:nvSpPr>
        <p:spPr>
          <a:xfrm>
            <a:off x="914400" y="3520440"/>
            <a:ext cx="10332720" cy="237744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1560" y="36301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16151" y="363016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80744" y="363016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3557016"/>
            <a:ext cx="8321040" cy="256032"/>
          </a:xfrm>
          <a:prstGeom prst="rect">
            <a:avLst/>
          </a:prstGeom>
          <a:noFill/>
        </p:spPr>
        <p:txBody>
          <a:bodyPr wrap="none">
            <a:spAutoFit/>
          </a:bodyPr>
          <a:lstStyle/>
          <a:p>
            <a:pPr>
              <a:defRPr sz="900">
                <a:solidFill>
                  <a:srgbClr val="38BDF8"/>
                </a:solidFill>
                <a:latin typeface="JetBrains Mono"/>
              </a:defRPr>
            </a:pPr>
            <a:r>
              <a:t>terminal · Alur Lengkap Implementasi CURSOR</a:t>
            </a:r>
          </a:p>
        </p:txBody>
      </p:sp>
      <p:sp>
        <p:nvSpPr>
          <p:cNvPr id="21" name="TextBox 20"/>
          <p:cNvSpPr txBox="1"/>
          <p:nvPr/>
        </p:nvSpPr>
        <p:spPr>
          <a:xfrm>
            <a:off x="1051560" y="3813048"/>
            <a:ext cx="10058400" cy="2011680"/>
          </a:xfrm>
          <a:prstGeom prst="rect">
            <a:avLst/>
          </a:prstGeom>
          <a:noFill/>
        </p:spPr>
        <p:txBody>
          <a:bodyPr wrap="square" tIns="18288" bIns="18288" lIns="45720" rIns="45720">
            <a:spAutoFit/>
          </a:bodyPr>
          <a:lstStyle/>
          <a:p>
            <a:pPr>
              <a:spcAft>
                <a:spcPts val="150"/>
              </a:spcAft>
            </a:pPr>
            <a:r>
              <a:rPr sz="900" b="1">
                <a:solidFill>
                  <a:srgbClr val="00E5FF"/>
                </a:solidFill>
                <a:latin typeface="JetBrains Mono"/>
              </a:rPr>
              <a:t>DECLARE</a:t>
            </a:r>
            <a:r>
              <a:rPr sz="900">
                <a:solidFill>
                  <a:srgbClr val="F1F5F9"/>
                </a:solidFill>
                <a:latin typeface="JetBrains Mono"/>
              </a:rPr>
              <a:t> </a:t>
            </a:r>
            <a:r>
              <a:rPr sz="900">
                <a:solidFill>
                  <a:srgbClr val="F59E0B"/>
                </a:solidFill>
                <a:latin typeface="JetBrains Mono"/>
              </a:rPr>
              <a:t>v_selesai</a:t>
            </a:r>
            <a:r>
              <a:rPr sz="900">
                <a:solidFill>
                  <a:srgbClr val="F1F5F9"/>
                </a:solidFill>
                <a:latin typeface="JetBrains Mono"/>
              </a:rPr>
              <a:t> </a:t>
            </a:r>
            <a:r>
              <a:rPr sz="900" b="1">
                <a:solidFill>
                  <a:srgbClr val="C084FC"/>
                </a:solidFill>
                <a:latin typeface="JetBrains Mono"/>
              </a:rPr>
              <a:t>INT</a:t>
            </a:r>
            <a:r>
              <a:rPr sz="900">
                <a:solidFill>
                  <a:srgbClr val="F1F5F9"/>
                </a:solidFill>
                <a:latin typeface="JetBrains Mono"/>
              </a:rPr>
              <a:t> </a:t>
            </a:r>
            <a:r>
              <a:rPr sz="900" b="1">
                <a:solidFill>
                  <a:srgbClr val="00E5FF"/>
                </a:solidFill>
                <a:latin typeface="JetBrains Mono"/>
              </a:rPr>
              <a:t>DEFAULT</a:t>
            </a:r>
            <a:r>
              <a:rPr sz="900">
                <a:solidFill>
                  <a:srgbClr val="F1F5F9"/>
                </a:solidFill>
                <a:latin typeface="JetBrains Mono"/>
              </a:rPr>
              <a:t> </a:t>
            </a:r>
            <a:r>
              <a:rPr sz="900">
                <a:solidFill>
                  <a:srgbClr val="F87171"/>
                </a:solidFill>
                <a:latin typeface="JetBrains Mono"/>
              </a:rPr>
              <a:t>0</a:t>
            </a:r>
            <a:r>
              <a:rPr sz="900">
                <a:solidFill>
                  <a:srgbClr val="F1F5F9"/>
                </a:solidFill>
                <a:latin typeface="JetBrains Mono"/>
              </a:rPr>
              <a:t>;</a:t>
            </a:r>
          </a:p>
          <a:p>
            <a:pPr>
              <a:spcAft>
                <a:spcPts val="150"/>
              </a:spcAft>
            </a:pPr>
            <a:r>
              <a:rPr sz="900" b="1">
                <a:solidFill>
                  <a:srgbClr val="00E5FF"/>
                </a:solidFill>
                <a:latin typeface="JetBrains Mono"/>
              </a:rPr>
              <a:t>DECLARE</a:t>
            </a:r>
            <a:r>
              <a:rPr sz="900">
                <a:solidFill>
                  <a:srgbClr val="F1F5F9"/>
                </a:solidFill>
                <a:latin typeface="JetBrains Mono"/>
              </a:rPr>
              <a:t> </a:t>
            </a:r>
            <a:r>
              <a:rPr sz="900">
                <a:solidFill>
                  <a:srgbClr val="F59E0B"/>
                </a:solidFill>
                <a:latin typeface="JetBrains Mono"/>
              </a:rPr>
              <a:t>v_kode</a:t>
            </a:r>
            <a:r>
              <a:rPr sz="900">
                <a:solidFill>
                  <a:srgbClr val="F1F5F9"/>
                </a:solidFill>
                <a:latin typeface="JetBrains Mono"/>
              </a:rPr>
              <a:t> </a:t>
            </a:r>
            <a:r>
              <a:rPr sz="900" b="1">
                <a:solidFill>
                  <a:srgbClr val="C084FC"/>
                </a:solidFill>
                <a:latin typeface="JetBrains Mono"/>
              </a:rPr>
              <a:t>CHAR</a:t>
            </a:r>
            <a:r>
              <a:rPr sz="900">
                <a:solidFill>
                  <a:srgbClr val="F1F5F9"/>
                </a:solidFill>
                <a:latin typeface="JetBrains Mono"/>
              </a:rPr>
              <a:t>(</a:t>
            </a:r>
            <a:r>
              <a:rPr sz="900">
                <a:solidFill>
                  <a:srgbClr val="F87171"/>
                </a:solidFill>
                <a:latin typeface="JetBrains Mono"/>
              </a:rPr>
              <a:t>4</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DECLARE</a:t>
            </a:r>
            <a:r>
              <a:rPr sz="900">
                <a:solidFill>
                  <a:srgbClr val="F1F5F9"/>
                </a:solidFill>
                <a:latin typeface="JetBrains Mono"/>
              </a:rPr>
              <a:t> </a:t>
            </a:r>
            <a:r>
              <a:rPr sz="900">
                <a:solidFill>
                  <a:srgbClr val="F59E0B"/>
                </a:solidFill>
                <a:latin typeface="JetBrains Mono"/>
              </a:rPr>
              <a:t>v_stok</a:t>
            </a:r>
            <a:r>
              <a:rPr sz="900">
                <a:solidFill>
                  <a:srgbClr val="F1F5F9"/>
                </a:solidFill>
                <a:latin typeface="JetBrains Mono"/>
              </a:rPr>
              <a:t> </a:t>
            </a:r>
            <a:r>
              <a:rPr sz="900" b="1">
                <a:solidFill>
                  <a:srgbClr val="C084FC"/>
                </a:solidFill>
                <a:latin typeface="JetBrains Mono"/>
              </a:rPr>
              <a:t>INT</a:t>
            </a:r>
            <a:r>
              <a:rPr sz="900">
                <a:solidFill>
                  <a:srgbClr val="F1F5F9"/>
                </a:solidFill>
                <a:latin typeface="JetBrains Mono"/>
              </a:rPr>
              <a:t>;</a:t>
            </a:r>
          </a:p>
          <a:p>
            <a:pPr>
              <a:spcAft>
                <a:spcPts val="150"/>
              </a:spcAft>
            </a:pPr>
            <a:r>
              <a:rPr sz="900" b="1">
                <a:solidFill>
                  <a:srgbClr val="00E5FF"/>
                </a:solidFill>
                <a:latin typeface="JetBrains Mono"/>
              </a:rPr>
              <a:t>DECLARE</a:t>
            </a:r>
            <a:r>
              <a:rPr sz="900">
                <a:solidFill>
                  <a:srgbClr val="F1F5F9"/>
                </a:solidFill>
                <a:latin typeface="JetBrains Mono"/>
              </a:rPr>
              <a:t> </a:t>
            </a:r>
            <a:r>
              <a:rPr sz="900">
                <a:solidFill>
                  <a:srgbClr val="F1F5F9"/>
                </a:solidFill>
                <a:latin typeface="JetBrains Mono"/>
              </a:rPr>
              <a:t>cur_cek_stok</a:t>
            </a:r>
            <a:r>
              <a:rPr sz="900">
                <a:solidFill>
                  <a:srgbClr val="F1F5F9"/>
                </a:solidFill>
                <a:latin typeface="JetBrains Mono"/>
              </a:rPr>
              <a:t> </a:t>
            </a:r>
            <a:r>
              <a:rPr sz="900" b="1">
                <a:solidFill>
                  <a:srgbClr val="00E5FF"/>
                </a:solidFill>
                <a:latin typeface="JetBrains Mono"/>
              </a:rPr>
              <a:t>CURSOR</a:t>
            </a:r>
            <a:r>
              <a:rPr sz="900">
                <a:solidFill>
                  <a:srgbClr val="F1F5F9"/>
                </a:solidFill>
                <a:latin typeface="JetBrains Mono"/>
              </a:rPr>
              <a:t> </a:t>
            </a:r>
            <a:r>
              <a:rPr sz="900" b="1">
                <a:solidFill>
                  <a:srgbClr val="00E5FF"/>
                </a:solidFill>
                <a:latin typeface="JetBrains Mono"/>
              </a:rPr>
              <a:t>FOR</a:t>
            </a:r>
            <a:r>
              <a:rPr sz="900">
                <a:solidFill>
                  <a:srgbClr val="F1F5F9"/>
                </a:solidFill>
                <a:latin typeface="JetBrains Mono"/>
              </a:rPr>
              <a:t> </a:t>
            </a:r>
            <a:r>
              <a:rPr sz="900" b="1">
                <a:solidFill>
                  <a:srgbClr val="00E5FF"/>
                </a:solidFill>
                <a:latin typeface="JetBrains Mono"/>
              </a:rPr>
              <a:t>SELECT</a:t>
            </a:r>
            <a:r>
              <a:rPr sz="900">
                <a:solidFill>
                  <a:srgbClr val="F1F5F9"/>
                </a:solidFill>
                <a:latin typeface="JetBrains Mono"/>
              </a:rPr>
              <a:t> </a:t>
            </a:r>
            <a:r>
              <a:rPr sz="900">
                <a:solidFill>
                  <a:srgbClr val="F1F5F9"/>
                </a:solidFill>
                <a:latin typeface="JetBrains Mono"/>
              </a:rPr>
              <a:t>KodeProduk</a:t>
            </a:r>
            <a:r>
              <a:rPr sz="900">
                <a:solidFill>
                  <a:srgbClr val="F1F5F9"/>
                </a:solidFill>
                <a:latin typeface="JetBrains Mono"/>
              </a:rPr>
              <a:t>,</a:t>
            </a:r>
            <a:r>
              <a:rPr sz="900">
                <a:solidFill>
                  <a:srgbClr val="F1F5F9"/>
                </a:solidFill>
                <a:latin typeface="JetBrains Mono"/>
              </a:rPr>
              <a:t> </a:t>
            </a:r>
            <a:r>
              <a:rPr sz="900">
                <a:solidFill>
                  <a:srgbClr val="F1F5F9"/>
                </a:solidFill>
                <a:latin typeface="JetBrains Mono"/>
              </a:rPr>
              <a:t>stok</a:t>
            </a:r>
            <a:r>
              <a:rPr sz="900">
                <a:solidFill>
                  <a:srgbClr val="F1F5F9"/>
                </a:solidFill>
                <a:latin typeface="JetBrains Mono"/>
              </a:rPr>
              <a:t> </a:t>
            </a:r>
            <a:r>
              <a:rPr sz="900" b="1">
                <a:solidFill>
                  <a:srgbClr val="00E5FF"/>
                </a:solidFill>
                <a:latin typeface="JetBrains Mono"/>
              </a:rPr>
              <a:t>FROM</a:t>
            </a:r>
            <a:r>
              <a:rPr sz="900">
                <a:solidFill>
                  <a:srgbClr val="F1F5F9"/>
                </a:solidFill>
                <a:latin typeface="JetBrains Mono"/>
              </a:rPr>
              <a:t> </a:t>
            </a:r>
            <a:r>
              <a:rPr sz="900">
                <a:solidFill>
                  <a:srgbClr val="F1F5F9"/>
                </a:solidFill>
                <a:latin typeface="JetBrains Mono"/>
              </a:rPr>
              <a:t>produk</a:t>
            </a:r>
            <a:r>
              <a:rPr sz="900">
                <a:solidFill>
                  <a:srgbClr val="F1F5F9"/>
                </a:solidFill>
                <a:latin typeface="JetBrains Mono"/>
              </a:rPr>
              <a:t> </a:t>
            </a:r>
            <a:r>
              <a:rPr sz="900" b="1">
                <a:solidFill>
                  <a:srgbClr val="00E5FF"/>
                </a:solidFill>
                <a:latin typeface="JetBrains Mono"/>
              </a:rPr>
              <a:t>WHERE</a:t>
            </a:r>
            <a:r>
              <a:rPr sz="900">
                <a:solidFill>
                  <a:srgbClr val="F1F5F9"/>
                </a:solidFill>
                <a:latin typeface="JetBrains Mono"/>
              </a:rPr>
              <a:t> </a:t>
            </a:r>
            <a:r>
              <a:rPr sz="900">
                <a:solidFill>
                  <a:srgbClr val="F1F5F9"/>
                </a:solidFill>
                <a:latin typeface="JetBrains Mono"/>
              </a:rPr>
              <a:t>stok</a:t>
            </a:r>
            <a:r>
              <a:rPr sz="900">
                <a:solidFill>
                  <a:srgbClr val="F1F5F9"/>
                </a:solidFill>
                <a:latin typeface="JetBrains Mono"/>
              </a:rPr>
              <a:t> </a:t>
            </a:r>
            <a:r>
              <a:rPr sz="900">
                <a:solidFill>
                  <a:srgbClr val="F1F5F9"/>
                </a:solidFill>
                <a:latin typeface="JetBrains Mono"/>
              </a:rPr>
              <a:t>&lt;</a:t>
            </a:r>
            <a:r>
              <a:rPr sz="900">
                <a:solidFill>
                  <a:srgbClr val="F1F5F9"/>
                </a:solidFill>
                <a:latin typeface="JetBrains Mono"/>
              </a:rPr>
              <a:t> </a:t>
            </a:r>
            <a:r>
              <a:rPr sz="900">
                <a:solidFill>
                  <a:srgbClr val="F87171"/>
                </a:solidFill>
                <a:latin typeface="JetBrains Mono"/>
              </a:rPr>
              <a:t>10</a:t>
            </a:r>
            <a:r>
              <a:rPr sz="900">
                <a:solidFill>
                  <a:srgbClr val="F1F5F9"/>
                </a:solidFill>
                <a:latin typeface="JetBrains Mono"/>
              </a:rPr>
              <a:t>;</a:t>
            </a:r>
          </a:p>
          <a:p>
            <a:pPr>
              <a:spcAft>
                <a:spcPts val="150"/>
              </a:spcAft>
            </a:pPr>
            <a:r>
              <a:rPr sz="900" b="1">
                <a:solidFill>
                  <a:srgbClr val="00E5FF"/>
                </a:solidFill>
                <a:latin typeface="JetBrains Mono"/>
              </a:rPr>
              <a:t>DECLARE</a:t>
            </a:r>
            <a:r>
              <a:rPr sz="900">
                <a:solidFill>
                  <a:srgbClr val="F1F5F9"/>
                </a:solidFill>
                <a:latin typeface="JetBrains Mono"/>
              </a:rPr>
              <a:t> </a:t>
            </a:r>
            <a:r>
              <a:rPr sz="900" b="1">
                <a:solidFill>
                  <a:srgbClr val="00E5FF"/>
                </a:solidFill>
                <a:latin typeface="JetBrains Mono"/>
              </a:rPr>
              <a:t>CONTINUE</a:t>
            </a:r>
            <a:r>
              <a:rPr sz="900">
                <a:solidFill>
                  <a:srgbClr val="F1F5F9"/>
                </a:solidFill>
                <a:latin typeface="JetBrains Mono"/>
              </a:rPr>
              <a:t> </a:t>
            </a:r>
            <a:r>
              <a:rPr sz="900" b="1">
                <a:solidFill>
                  <a:srgbClr val="00E5FF"/>
                </a:solidFill>
                <a:latin typeface="JetBrains Mono"/>
              </a:rPr>
              <a:t>HANDLER</a:t>
            </a:r>
            <a:r>
              <a:rPr sz="900">
                <a:solidFill>
                  <a:srgbClr val="F1F5F9"/>
                </a:solidFill>
                <a:latin typeface="JetBrains Mono"/>
              </a:rPr>
              <a:t> </a:t>
            </a:r>
            <a:r>
              <a:rPr sz="900" b="1">
                <a:solidFill>
                  <a:srgbClr val="00E5FF"/>
                </a:solidFill>
                <a:latin typeface="JetBrains Mono"/>
              </a:rPr>
              <a:t>FOR</a:t>
            </a:r>
            <a:r>
              <a:rPr sz="900">
                <a:solidFill>
                  <a:srgbClr val="F1F5F9"/>
                </a:solidFill>
                <a:latin typeface="JetBrains Mono"/>
              </a:rPr>
              <a:t> </a:t>
            </a:r>
            <a:r>
              <a:rPr sz="900" b="1">
                <a:solidFill>
                  <a:srgbClr val="00E5FF"/>
                </a:solidFill>
                <a:latin typeface="JetBrains Mono"/>
              </a:rPr>
              <a:t>NOT</a:t>
            </a:r>
            <a:r>
              <a:rPr sz="900">
                <a:solidFill>
                  <a:srgbClr val="F1F5F9"/>
                </a:solidFill>
                <a:latin typeface="JetBrains Mono"/>
              </a:rPr>
              <a:t> </a:t>
            </a:r>
            <a:r>
              <a:rPr sz="900" b="1">
                <a:solidFill>
                  <a:srgbClr val="00E5FF"/>
                </a:solidFill>
                <a:latin typeface="JetBrains Mono"/>
              </a:rPr>
              <a:t>FOUND</a:t>
            </a:r>
            <a:r>
              <a:rPr sz="900">
                <a:solidFill>
                  <a:srgbClr val="F1F5F9"/>
                </a:solidFill>
                <a:latin typeface="JetBrains Mono"/>
              </a:rPr>
              <a:t> </a:t>
            </a:r>
            <a:r>
              <a:rPr sz="900" b="1">
                <a:solidFill>
                  <a:srgbClr val="00E5FF"/>
                </a:solidFill>
                <a:latin typeface="JetBrains Mono"/>
              </a:rPr>
              <a:t>SET</a:t>
            </a:r>
            <a:r>
              <a:rPr sz="900">
                <a:solidFill>
                  <a:srgbClr val="F1F5F9"/>
                </a:solidFill>
                <a:latin typeface="JetBrains Mono"/>
              </a:rPr>
              <a:t> </a:t>
            </a:r>
            <a:r>
              <a:rPr sz="900">
                <a:solidFill>
                  <a:srgbClr val="F59E0B"/>
                </a:solidFill>
                <a:latin typeface="JetBrains Mono"/>
              </a:rPr>
              <a:t>v_selesai</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1</a:t>
            </a:r>
            <a:r>
              <a:rPr sz="900">
                <a:solidFill>
                  <a:srgbClr val="F1F5F9"/>
                </a:solidFill>
                <a:latin typeface="JetBrains Mono"/>
              </a:rPr>
              <a:t>;</a:t>
            </a:r>
          </a:p>
          <a:p>
            <a:pPr>
              <a:spcAft>
                <a:spcPts val="150"/>
              </a:spcAft>
            </a:pPr>
            <a:r>
              <a:t> </a:t>
            </a:r>
          </a:p>
          <a:p>
            <a:pPr>
              <a:spcAft>
                <a:spcPts val="150"/>
              </a:spcAft>
            </a:pPr>
            <a:r>
              <a:rPr sz="900" b="1">
                <a:solidFill>
                  <a:srgbClr val="00E5FF"/>
                </a:solidFill>
                <a:latin typeface="JetBrains Mono"/>
              </a:rPr>
              <a:t>OPEN</a:t>
            </a:r>
            <a:r>
              <a:rPr sz="900">
                <a:solidFill>
                  <a:srgbClr val="F1F5F9"/>
                </a:solidFill>
                <a:latin typeface="JetBrains Mono"/>
              </a:rPr>
              <a:t> </a:t>
            </a:r>
            <a:r>
              <a:rPr sz="900">
                <a:solidFill>
                  <a:srgbClr val="F1F5F9"/>
                </a:solidFill>
                <a:latin typeface="JetBrains Mono"/>
              </a:rPr>
              <a:t>cur_cek_stok</a:t>
            </a:r>
            <a:r>
              <a:rPr sz="900">
                <a:solidFill>
                  <a:srgbClr val="F1F5F9"/>
                </a:solidFill>
                <a:latin typeface="JetBrains Mono"/>
              </a:rPr>
              <a:t>;</a:t>
            </a:r>
          </a:p>
          <a:p>
            <a:pPr>
              <a:spcAft>
                <a:spcPts val="150"/>
              </a:spcAft>
            </a:pPr>
            <a:r>
              <a:rPr sz="900">
                <a:solidFill>
                  <a:srgbClr val="F1F5F9"/>
                </a:solidFill>
                <a:latin typeface="JetBrains Mono"/>
              </a:rPr>
              <a:t>ulang_loop</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LOOP</a:t>
            </a:r>
          </a:p>
          <a:p>
            <a:pPr>
              <a:spcAft>
                <a:spcPts val="150"/>
              </a:spcAft>
            </a:pPr>
            <a:r>
              <a:rPr sz="900">
                <a:solidFill>
                  <a:srgbClr val="F1F5F9"/>
                </a:solidFill>
                <a:latin typeface="JetBrains Mono"/>
              </a:rPr>
              <a:t>    </a:t>
            </a:r>
            <a:r>
              <a:rPr sz="900" b="1">
                <a:solidFill>
                  <a:srgbClr val="00E5FF"/>
                </a:solidFill>
                <a:latin typeface="JetBrains Mono"/>
              </a:rPr>
              <a:t>FETCH</a:t>
            </a:r>
            <a:r>
              <a:rPr sz="900">
                <a:solidFill>
                  <a:srgbClr val="F1F5F9"/>
                </a:solidFill>
                <a:latin typeface="JetBrains Mono"/>
              </a:rPr>
              <a:t> </a:t>
            </a:r>
            <a:r>
              <a:rPr sz="900">
                <a:solidFill>
                  <a:srgbClr val="F1F5F9"/>
                </a:solidFill>
                <a:latin typeface="JetBrains Mono"/>
              </a:rPr>
              <a:t>cur_cek_stok</a:t>
            </a:r>
            <a:r>
              <a:rPr sz="900">
                <a:solidFill>
                  <a:srgbClr val="F1F5F9"/>
                </a:solidFill>
                <a:latin typeface="JetBrains Mono"/>
              </a:rPr>
              <a:t> </a:t>
            </a:r>
            <a:r>
              <a:rPr sz="900" b="1">
                <a:solidFill>
                  <a:srgbClr val="00E5FF"/>
                </a:solidFill>
                <a:latin typeface="JetBrains Mono"/>
              </a:rPr>
              <a:t>INTO</a:t>
            </a:r>
            <a:r>
              <a:rPr sz="900">
                <a:solidFill>
                  <a:srgbClr val="F1F5F9"/>
                </a:solidFill>
                <a:latin typeface="JetBrains Mono"/>
              </a:rPr>
              <a:t> </a:t>
            </a:r>
            <a:r>
              <a:rPr sz="900">
                <a:solidFill>
                  <a:srgbClr val="F59E0B"/>
                </a:solidFill>
                <a:latin typeface="JetBrains Mono"/>
              </a:rPr>
              <a:t>v_kode</a:t>
            </a:r>
            <a:r>
              <a:rPr sz="900">
                <a:solidFill>
                  <a:srgbClr val="F1F5F9"/>
                </a:solidFill>
                <a:latin typeface="JetBrains Mono"/>
              </a:rPr>
              <a:t>,</a:t>
            </a:r>
            <a:r>
              <a:rPr sz="900">
                <a:solidFill>
                  <a:srgbClr val="F1F5F9"/>
                </a:solidFill>
                <a:latin typeface="JetBrains Mono"/>
              </a:rPr>
              <a:t> </a:t>
            </a:r>
            <a:r>
              <a:rPr sz="900">
                <a:solidFill>
                  <a:srgbClr val="F59E0B"/>
                </a:solidFill>
                <a:latin typeface="JetBrains Mono"/>
              </a:rPr>
              <a:t>v_stok</a:t>
            </a:r>
            <a:r>
              <a:rPr sz="900">
                <a:solidFill>
                  <a:srgbClr val="F1F5F9"/>
                </a:solidFill>
                <a:latin typeface="JetBrains Mono"/>
              </a:rPr>
              <a:t>;</a:t>
            </a:r>
          </a:p>
          <a:p>
            <a:pPr>
              <a:spcAft>
                <a:spcPts val="150"/>
              </a:spcAft>
            </a:pPr>
            <a:r>
              <a:rPr sz="900">
                <a:solidFill>
                  <a:srgbClr val="F1F5F9"/>
                </a:solidFill>
                <a:latin typeface="JetBrains Mono"/>
              </a:rPr>
              <a:t>    </a:t>
            </a:r>
            <a:r>
              <a:rPr sz="900" b="1">
                <a:solidFill>
                  <a:srgbClr val="00E5FF"/>
                </a:solidFill>
                <a:latin typeface="JetBrains Mono"/>
              </a:rPr>
              <a:t>IF</a:t>
            </a:r>
            <a:r>
              <a:rPr sz="900">
                <a:solidFill>
                  <a:srgbClr val="F1F5F9"/>
                </a:solidFill>
                <a:latin typeface="JetBrains Mono"/>
              </a:rPr>
              <a:t> </a:t>
            </a:r>
            <a:r>
              <a:rPr sz="900">
                <a:solidFill>
                  <a:srgbClr val="F59E0B"/>
                </a:solidFill>
                <a:latin typeface="JetBrains Mono"/>
              </a:rPr>
              <a:t>v_selesai</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 </a:t>
            </a:r>
            <a:r>
              <a:rPr sz="900">
                <a:solidFill>
                  <a:srgbClr val="F87171"/>
                </a:solidFill>
                <a:latin typeface="JetBrains Mono"/>
              </a:rPr>
              <a:t>1</a:t>
            </a:r>
            <a:r>
              <a:rPr sz="900">
                <a:solidFill>
                  <a:srgbClr val="F1F5F9"/>
                </a:solidFill>
                <a:latin typeface="JetBrains Mono"/>
              </a:rPr>
              <a:t> </a:t>
            </a:r>
            <a:r>
              <a:rPr sz="900" b="1">
                <a:solidFill>
                  <a:srgbClr val="00E5FF"/>
                </a:solidFill>
                <a:latin typeface="JetBrains Mono"/>
              </a:rPr>
              <a:t>THEN</a:t>
            </a:r>
            <a:r>
              <a:rPr sz="900">
                <a:solidFill>
                  <a:srgbClr val="F1F5F9"/>
                </a:solidFill>
                <a:latin typeface="JetBrains Mono"/>
              </a:rPr>
              <a:t> </a:t>
            </a:r>
            <a:r>
              <a:rPr sz="900" b="1">
                <a:solidFill>
                  <a:srgbClr val="00E5FF"/>
                </a:solidFill>
                <a:latin typeface="JetBrains Mono"/>
              </a:rPr>
              <a:t>LEAVE</a:t>
            </a:r>
            <a:r>
              <a:rPr sz="900">
                <a:solidFill>
                  <a:srgbClr val="F1F5F9"/>
                </a:solidFill>
                <a:latin typeface="JetBrains Mono"/>
              </a:rPr>
              <a:t> </a:t>
            </a:r>
            <a:r>
              <a:rPr sz="900">
                <a:solidFill>
                  <a:srgbClr val="F1F5F9"/>
                </a:solidFill>
                <a:latin typeface="JetBrains Mono"/>
              </a:rPr>
              <a:t>ulang_loop</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END</a:t>
            </a:r>
            <a:r>
              <a:rPr sz="900">
                <a:solidFill>
                  <a:srgbClr val="F1F5F9"/>
                </a:solidFill>
                <a:latin typeface="JetBrains Mono"/>
              </a:rPr>
              <a:t> </a:t>
            </a:r>
            <a:r>
              <a:rPr sz="900" b="1">
                <a:solidFill>
                  <a:srgbClr val="00E5FF"/>
                </a:solidFill>
                <a:latin typeface="JetBrains Mono"/>
              </a:rPr>
              <a:t>IF</a:t>
            </a:r>
            <a:r>
              <a:rPr sz="900">
                <a:solidFill>
                  <a:srgbClr val="F1F5F9"/>
                </a:solidFill>
                <a:latin typeface="JetBrains Mono"/>
              </a:rPr>
              <a:t>;</a:t>
            </a:r>
          </a:p>
          <a:p>
            <a:pPr>
              <a:spcAft>
                <a:spcPts val="150"/>
              </a:spcAft>
            </a:pPr>
            <a:r>
              <a:rPr sz="900">
                <a:solidFill>
                  <a:srgbClr val="F1F5F9"/>
                </a:solidFill>
                <a:latin typeface="JetBrains Mono"/>
              </a:rPr>
              <a:t>    </a:t>
            </a:r>
            <a:r>
              <a:rPr sz="900" i="1">
                <a:solidFill>
                  <a:srgbClr val="94A3B8"/>
                </a:solidFill>
                <a:latin typeface="JetBrains Mono"/>
              </a:rPr>
              <a:t>-- Eksekusi logika otomasi restock produk...</a:t>
            </a:r>
          </a:p>
          <a:p>
            <a:pPr>
              <a:spcAft>
                <a:spcPts val="150"/>
              </a:spcAft>
            </a:pPr>
            <a:r>
              <a:rPr sz="900" b="1">
                <a:solidFill>
                  <a:srgbClr val="00E5FF"/>
                </a:solidFill>
                <a:latin typeface="JetBrains Mono"/>
              </a:rPr>
              <a:t>END</a:t>
            </a:r>
            <a:r>
              <a:rPr sz="900">
                <a:solidFill>
                  <a:srgbClr val="F1F5F9"/>
                </a:solidFill>
                <a:latin typeface="JetBrains Mono"/>
              </a:rPr>
              <a:t> </a:t>
            </a:r>
            <a:r>
              <a:rPr sz="900" b="1">
                <a:solidFill>
                  <a:srgbClr val="00E5FF"/>
                </a:solidFill>
                <a:latin typeface="JetBrains Mono"/>
              </a:rPr>
              <a:t>LOOP</a:t>
            </a:r>
            <a:r>
              <a:rPr sz="900">
                <a:solidFill>
                  <a:srgbClr val="F1F5F9"/>
                </a:solidFill>
                <a:latin typeface="JetBrains Mono"/>
              </a:rPr>
              <a:t> </a:t>
            </a:r>
            <a:r>
              <a:rPr sz="900">
                <a:solidFill>
                  <a:srgbClr val="F1F5F9"/>
                </a:solidFill>
                <a:latin typeface="JetBrains Mono"/>
              </a:rPr>
              <a:t>ulang_loop</a:t>
            </a:r>
            <a:r>
              <a:rPr sz="900">
                <a:solidFill>
                  <a:srgbClr val="F1F5F9"/>
                </a:solidFill>
                <a:latin typeface="JetBrains Mono"/>
              </a:rPr>
              <a:t>;</a:t>
            </a:r>
          </a:p>
          <a:p>
            <a:pPr>
              <a:spcAft>
                <a:spcPts val="150"/>
              </a:spcAft>
            </a:pPr>
            <a:r>
              <a:rPr sz="900" b="1">
                <a:solidFill>
                  <a:srgbClr val="00E5FF"/>
                </a:solidFill>
                <a:latin typeface="JetBrains Mono"/>
              </a:rPr>
              <a:t>CLOSE</a:t>
            </a:r>
            <a:r>
              <a:rPr sz="900">
                <a:solidFill>
                  <a:srgbClr val="F1F5F9"/>
                </a:solidFill>
                <a:latin typeface="JetBrains Mono"/>
              </a:rPr>
              <a:t> </a:t>
            </a:r>
            <a:r>
              <a:rPr sz="900">
                <a:solidFill>
                  <a:srgbClr val="F1F5F9"/>
                </a:solidFill>
                <a:latin typeface="JetBrains Mono"/>
              </a:rPr>
              <a:t>cur_cek_stok</a:t>
            </a:r>
            <a:r>
              <a:rPr sz="900">
                <a:solidFill>
                  <a:srgbClr val="F1F5F9"/>
                </a:solidFill>
                <a:latin typeface="JetBrains Mono"/>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07 · ERROR HANDLING</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Manajemen Galat</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Penanganan Galat Terstruktur &amp; Integritas Transaksi </a:t>
            </a:r>
            <a:r>
              <a:rPr sz="2100" b="1">
                <a:solidFill>
                  <a:srgbClr val="00E5FF"/>
                </a:solidFill>
                <a:latin typeface="Plus Jakarta Sans"/>
              </a:rPr>
              <a:t>SIGNAL &amp; HANDLER</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6583680" cy="420624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013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1" y="180136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80136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728216"/>
            <a:ext cx="4572000" cy="256032"/>
          </a:xfrm>
          <a:prstGeom prst="rect">
            <a:avLst/>
          </a:prstGeom>
          <a:noFill/>
        </p:spPr>
        <p:txBody>
          <a:bodyPr wrap="none">
            <a:spAutoFit/>
          </a:bodyPr>
          <a:lstStyle/>
          <a:p>
            <a:pPr>
              <a:defRPr sz="900">
                <a:solidFill>
                  <a:srgbClr val="38BDF8"/>
                </a:solidFill>
                <a:latin typeface="JetBrains Mono"/>
              </a:defRPr>
            </a:pPr>
            <a:r>
              <a:t>terminal · sp_ValidasiTambahKasir.sql</a:t>
            </a:r>
          </a:p>
        </p:txBody>
      </p:sp>
      <p:sp>
        <p:nvSpPr>
          <p:cNvPr id="13" name="TextBox 12"/>
          <p:cNvSpPr txBox="1"/>
          <p:nvPr/>
        </p:nvSpPr>
        <p:spPr>
          <a:xfrm>
            <a:off x="1051560" y="1984248"/>
            <a:ext cx="6309360" cy="3840480"/>
          </a:xfrm>
          <a:prstGeom prst="rect">
            <a:avLst/>
          </a:prstGeom>
          <a:noFill/>
        </p:spPr>
        <p:txBody>
          <a:bodyPr wrap="square" tIns="18288" bIns="18288" lIns="45720" rIns="45720">
            <a:spAutoFit/>
          </a:bodyPr>
          <a:lstStyle/>
          <a:p>
            <a:pPr>
              <a:spcAft>
                <a:spcPts val="50"/>
              </a:spcAft>
            </a:pPr>
            <a:r>
              <a:rPr sz="800" b="1">
                <a:solidFill>
                  <a:srgbClr val="00E5FF"/>
                </a:solidFill>
                <a:latin typeface="JetBrains Mono"/>
              </a:rPr>
              <a:t>DELIMITER</a:t>
            </a:r>
            <a:r>
              <a:rPr sz="800">
                <a:solidFill>
                  <a:srgbClr val="F1F5F9"/>
                </a:solidFill>
                <a:latin typeface="JetBrains Mono"/>
              </a:rPr>
              <a:t> </a:t>
            </a:r>
            <a:r>
              <a:rPr sz="800">
                <a:solidFill>
                  <a:srgbClr val="F1F5F9"/>
                </a:solidFill>
                <a:latin typeface="JetBrains Mono"/>
              </a:rPr>
              <a:t>$$</a:t>
            </a:r>
          </a:p>
          <a:p>
            <a:pPr>
              <a:spcAft>
                <a:spcPts val="50"/>
              </a:spcAft>
            </a:pPr>
            <a:r>
              <a:rPr sz="800" b="1">
                <a:solidFill>
                  <a:srgbClr val="00E5FF"/>
                </a:solidFill>
                <a:latin typeface="JetBrains Mono"/>
              </a:rPr>
              <a:t>CREATE</a:t>
            </a:r>
            <a:r>
              <a:rPr sz="800">
                <a:solidFill>
                  <a:srgbClr val="F1F5F9"/>
                </a:solidFill>
                <a:latin typeface="JetBrains Mono"/>
              </a:rPr>
              <a:t> </a:t>
            </a:r>
            <a:r>
              <a:rPr sz="800" b="1">
                <a:solidFill>
                  <a:srgbClr val="00E5FF"/>
                </a:solidFill>
                <a:latin typeface="JetBrains Mono"/>
              </a:rPr>
              <a:t>PROCEDURE</a:t>
            </a:r>
            <a:r>
              <a:rPr sz="800">
                <a:solidFill>
                  <a:srgbClr val="F1F5F9"/>
                </a:solidFill>
                <a:latin typeface="JetBrains Mono"/>
              </a:rPr>
              <a:t> </a:t>
            </a:r>
            <a:r>
              <a:rPr sz="800">
                <a:solidFill>
                  <a:srgbClr val="F1F5F9"/>
                </a:solidFill>
                <a:latin typeface="JetBrains Mono"/>
              </a:rPr>
              <a:t>sp_ValidasiTambahKasir</a:t>
            </a:r>
            <a:r>
              <a:rPr sz="800">
                <a:solidFill>
                  <a:srgbClr val="F1F5F9"/>
                </a:solidFill>
                <a:latin typeface="JetBrains Mono"/>
              </a:rPr>
              <a:t>(</a:t>
            </a:r>
          </a:p>
          <a:p>
            <a:pPr>
              <a:spcAft>
                <a:spcPts val="50"/>
              </a:spcAft>
            </a:pPr>
            <a:r>
              <a:rPr sz="800">
                <a:solidFill>
                  <a:srgbClr val="F1F5F9"/>
                </a:solidFill>
                <a:latin typeface="JetBrains Mono"/>
              </a:rPr>
              <a:t>    </a:t>
            </a:r>
            <a:r>
              <a:rPr sz="800">
                <a:solidFill>
                  <a:srgbClr val="F1F5F9"/>
                </a:solidFill>
                <a:latin typeface="JetBrains Mono"/>
              </a:rPr>
              <a:t>IN</a:t>
            </a:r>
            <a:r>
              <a:rPr sz="800">
                <a:solidFill>
                  <a:srgbClr val="F1F5F9"/>
                </a:solidFill>
                <a:latin typeface="JetBrains Mono"/>
              </a:rPr>
              <a:t> </a:t>
            </a:r>
            <a:r>
              <a:rPr sz="800">
                <a:solidFill>
                  <a:srgbClr val="F59E0B"/>
                </a:solidFill>
                <a:latin typeface="JetBrains Mono"/>
              </a:rPr>
              <a:t>p_Kode</a:t>
            </a:r>
            <a:r>
              <a:rPr sz="800">
                <a:solidFill>
                  <a:srgbClr val="F1F5F9"/>
                </a:solidFill>
                <a:latin typeface="JetBrains Mono"/>
              </a:rPr>
              <a:t> </a:t>
            </a:r>
            <a:r>
              <a:rPr sz="800" b="1">
                <a:solidFill>
                  <a:srgbClr val="C084FC"/>
                </a:solidFill>
                <a:latin typeface="JetBrains Mono"/>
              </a:rPr>
              <a:t>CHAR</a:t>
            </a:r>
            <a:r>
              <a:rPr sz="800">
                <a:solidFill>
                  <a:srgbClr val="F1F5F9"/>
                </a:solidFill>
                <a:latin typeface="JetBrains Mono"/>
              </a:rPr>
              <a:t>(</a:t>
            </a:r>
            <a:r>
              <a:rPr sz="800">
                <a:solidFill>
                  <a:srgbClr val="F87171"/>
                </a:solidFill>
                <a:latin typeface="JetBrains Mono"/>
              </a:rPr>
              <a:t>3</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IN</a:t>
            </a:r>
            <a:r>
              <a:rPr sz="800">
                <a:solidFill>
                  <a:srgbClr val="F1F5F9"/>
                </a:solidFill>
                <a:latin typeface="JetBrains Mono"/>
              </a:rPr>
              <a:t> </a:t>
            </a:r>
            <a:r>
              <a:rPr sz="800">
                <a:solidFill>
                  <a:srgbClr val="F59E0B"/>
                </a:solidFill>
                <a:latin typeface="JetBrains Mono"/>
              </a:rPr>
              <a:t>p_Nama</a:t>
            </a:r>
            <a:r>
              <a:rPr sz="800">
                <a:solidFill>
                  <a:srgbClr val="F1F5F9"/>
                </a:solidFill>
                <a:latin typeface="JetBrains Mono"/>
              </a:rPr>
              <a:t> </a:t>
            </a:r>
            <a:r>
              <a:rPr sz="800" b="1">
                <a:solidFill>
                  <a:srgbClr val="C084FC"/>
                </a:solidFill>
                <a:latin typeface="JetBrains Mono"/>
              </a:rPr>
              <a:t>VARCHAR</a:t>
            </a:r>
            <a:r>
              <a:rPr sz="800">
                <a:solidFill>
                  <a:srgbClr val="F1F5F9"/>
                </a:solidFill>
                <a:latin typeface="JetBrains Mono"/>
              </a:rPr>
              <a:t>(</a:t>
            </a:r>
            <a:r>
              <a:rPr sz="800">
                <a:solidFill>
                  <a:srgbClr val="F87171"/>
                </a:solidFill>
                <a:latin typeface="JetBrains Mono"/>
              </a:rPr>
              <a:t>30</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IN</a:t>
            </a:r>
            <a:r>
              <a:rPr sz="800">
                <a:solidFill>
                  <a:srgbClr val="F1F5F9"/>
                </a:solidFill>
                <a:latin typeface="JetBrains Mono"/>
              </a:rPr>
              <a:t> </a:t>
            </a:r>
            <a:r>
              <a:rPr sz="800">
                <a:solidFill>
                  <a:srgbClr val="F59E0B"/>
                </a:solidFill>
                <a:latin typeface="JetBrains Mono"/>
              </a:rPr>
              <a:t>p_Pass</a:t>
            </a:r>
            <a:r>
              <a:rPr sz="800">
                <a:solidFill>
                  <a:srgbClr val="F1F5F9"/>
                </a:solidFill>
                <a:latin typeface="JetBrains Mono"/>
              </a:rPr>
              <a:t> </a:t>
            </a:r>
            <a:r>
              <a:rPr sz="800" b="1">
                <a:solidFill>
                  <a:srgbClr val="C084FC"/>
                </a:solidFill>
                <a:latin typeface="JetBrains Mono"/>
              </a:rPr>
              <a:t>CHAR</a:t>
            </a:r>
            <a:r>
              <a:rPr sz="800">
                <a:solidFill>
                  <a:srgbClr val="F1F5F9"/>
                </a:solidFill>
                <a:latin typeface="JetBrains Mono"/>
              </a:rPr>
              <a:t>(</a:t>
            </a:r>
            <a:r>
              <a:rPr sz="800">
                <a:solidFill>
                  <a:srgbClr val="F87171"/>
                </a:solidFill>
                <a:latin typeface="JetBrains Mono"/>
              </a:rPr>
              <a:t>6</a:t>
            </a:r>
            <a:r>
              <a:rPr sz="800">
                <a:solidFill>
                  <a:srgbClr val="F1F5F9"/>
                </a:solidFill>
                <a:latin typeface="JetBrains Mono"/>
              </a:rPr>
              <a:t>)</a:t>
            </a:r>
          </a:p>
          <a:p>
            <a:pPr>
              <a:spcAft>
                <a:spcPts val="50"/>
              </a:spcAft>
            </a:pPr>
            <a:r>
              <a:rPr sz="800">
                <a:solidFill>
                  <a:srgbClr val="F1F5F9"/>
                </a:solidFill>
                <a:latin typeface="JetBrains Mono"/>
              </a:rPr>
              <a:t>)</a:t>
            </a:r>
          </a:p>
          <a:p>
            <a:pPr>
              <a:spcAft>
                <a:spcPts val="50"/>
              </a:spcAft>
            </a:pPr>
            <a:r>
              <a:rPr sz="800" b="1">
                <a:solidFill>
                  <a:srgbClr val="00E5FF"/>
                </a:solidFill>
                <a:latin typeface="JetBrains Mono"/>
              </a:rPr>
              <a:t>BEGIN</a:t>
            </a:r>
          </a:p>
          <a:p>
            <a:pPr>
              <a:spcAft>
                <a:spcPts val="50"/>
              </a:spcAft>
            </a:pPr>
            <a:r>
              <a:rPr sz="800">
                <a:solidFill>
                  <a:srgbClr val="F1F5F9"/>
                </a:solidFill>
                <a:latin typeface="JetBrains Mono"/>
              </a:rPr>
              <a:t>    </a:t>
            </a:r>
            <a:r>
              <a:rPr sz="800" i="1">
                <a:solidFill>
                  <a:srgbClr val="94A3B8"/>
                </a:solidFill>
                <a:latin typeface="JetBrains Mono"/>
              </a:rPr>
              <a:t>-- 1. Validasi Panjang Password Kasir Wajib Tepat 6 Karakter</a:t>
            </a:r>
          </a:p>
          <a:p>
            <a:pPr>
              <a:spcAft>
                <a:spcPts val="50"/>
              </a:spcAft>
            </a:pPr>
            <a:r>
              <a:rPr sz="800">
                <a:solidFill>
                  <a:srgbClr val="F1F5F9"/>
                </a:solidFill>
                <a:latin typeface="JetBrains Mono"/>
              </a:rPr>
              <a:t>    </a:t>
            </a:r>
            <a:r>
              <a:rPr sz="800" b="1">
                <a:solidFill>
                  <a:srgbClr val="00E5FF"/>
                </a:solidFill>
                <a:latin typeface="JetBrains Mono"/>
              </a:rPr>
              <a:t>IF</a:t>
            </a:r>
            <a:r>
              <a:rPr sz="800">
                <a:solidFill>
                  <a:srgbClr val="F1F5F9"/>
                </a:solidFill>
                <a:latin typeface="JetBrains Mono"/>
              </a:rPr>
              <a:t> </a:t>
            </a:r>
            <a:r>
              <a:rPr sz="800" b="1">
                <a:solidFill>
                  <a:srgbClr val="00E5FF"/>
                </a:solidFill>
                <a:latin typeface="JetBrains Mono"/>
              </a:rPr>
              <a:t>CHAR_LENGTH</a:t>
            </a:r>
            <a:r>
              <a:rPr sz="800">
                <a:solidFill>
                  <a:srgbClr val="F1F5F9"/>
                </a:solidFill>
                <a:latin typeface="JetBrains Mono"/>
              </a:rPr>
              <a:t>(</a:t>
            </a:r>
            <a:r>
              <a:rPr sz="800">
                <a:solidFill>
                  <a:srgbClr val="F59E0B"/>
                </a:solidFill>
                <a:latin typeface="JetBrains Mono"/>
              </a:rPr>
              <a:t>p_Pass</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&lt;&gt;</a:t>
            </a:r>
            <a:r>
              <a:rPr sz="800">
                <a:solidFill>
                  <a:srgbClr val="F1F5F9"/>
                </a:solidFill>
                <a:latin typeface="JetBrains Mono"/>
              </a:rPr>
              <a:t> </a:t>
            </a:r>
            <a:r>
              <a:rPr sz="800">
                <a:solidFill>
                  <a:srgbClr val="F87171"/>
                </a:solidFill>
                <a:latin typeface="JetBrains Mono"/>
              </a:rPr>
              <a:t>6</a:t>
            </a:r>
            <a:r>
              <a:rPr sz="800">
                <a:solidFill>
                  <a:srgbClr val="F1F5F9"/>
                </a:solidFill>
                <a:latin typeface="JetBrains Mono"/>
              </a:rPr>
              <a:t> </a:t>
            </a:r>
            <a:r>
              <a:rPr sz="800" b="1">
                <a:solidFill>
                  <a:srgbClr val="00E5FF"/>
                </a:solidFill>
                <a:latin typeface="JetBrains Mono"/>
              </a:rPr>
              <a:t>THEN</a:t>
            </a:r>
          </a:p>
          <a:p>
            <a:pPr>
              <a:spcAft>
                <a:spcPts val="50"/>
              </a:spcAft>
            </a:pPr>
            <a:r>
              <a:rPr sz="800">
                <a:solidFill>
                  <a:srgbClr val="F1F5F9"/>
                </a:solidFill>
                <a:latin typeface="JetBrains Mono"/>
              </a:rPr>
              <a:t>        </a:t>
            </a:r>
            <a:r>
              <a:rPr sz="800" b="1">
                <a:solidFill>
                  <a:srgbClr val="00E5FF"/>
                </a:solidFill>
                <a:latin typeface="JetBrains Mono"/>
              </a:rPr>
              <a:t>SIGNAL</a:t>
            </a:r>
            <a:r>
              <a:rPr sz="800">
                <a:solidFill>
                  <a:srgbClr val="F1F5F9"/>
                </a:solidFill>
                <a:latin typeface="JetBrains Mono"/>
              </a:rPr>
              <a:t> </a:t>
            </a:r>
            <a:r>
              <a:rPr sz="800" b="1">
                <a:solidFill>
                  <a:srgbClr val="00E5FF"/>
                </a:solidFill>
                <a:latin typeface="JetBrains Mono"/>
              </a:rPr>
              <a:t>SQLSTATE</a:t>
            </a:r>
            <a:r>
              <a:rPr sz="800">
                <a:solidFill>
                  <a:srgbClr val="F1F5F9"/>
                </a:solidFill>
                <a:latin typeface="JetBrains Mono"/>
              </a:rPr>
              <a:t> </a:t>
            </a:r>
            <a:r>
              <a:rPr sz="800">
                <a:solidFill>
                  <a:srgbClr val="34D399"/>
                </a:solidFill>
                <a:latin typeface="JetBrains Mono"/>
              </a:rPr>
              <a:t>'45000'</a:t>
            </a:r>
          </a:p>
          <a:p>
            <a:pPr>
              <a:spcAft>
                <a:spcPts val="50"/>
              </a:spcAft>
            </a:pP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1F5F9"/>
                </a:solidFill>
                <a:latin typeface="JetBrains Mono"/>
              </a:rPr>
              <a:t>MESSAGE_TEXT</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34D399"/>
                </a:solidFill>
                <a:latin typeface="JetBrains Mono"/>
              </a:rPr>
              <a:t>'Gagal: Kata sandi kasir wajib tepat 6 karakter.'</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END</a:t>
            </a:r>
            <a:r>
              <a:rPr sz="800">
                <a:solidFill>
                  <a:srgbClr val="F1F5F9"/>
                </a:solidFill>
                <a:latin typeface="JetBrains Mono"/>
              </a:rPr>
              <a:t> </a:t>
            </a:r>
            <a:r>
              <a:rPr sz="800" b="1">
                <a:solidFill>
                  <a:srgbClr val="00E5FF"/>
                </a:solidFill>
                <a:latin typeface="JetBrains Mono"/>
              </a:rPr>
              <a:t>IF</a:t>
            </a:r>
            <a:r>
              <a:rPr sz="800">
                <a:solidFill>
                  <a:srgbClr val="F1F5F9"/>
                </a:solidFill>
                <a:latin typeface="JetBrains Mono"/>
              </a:rPr>
              <a:t>;</a:t>
            </a:r>
          </a:p>
          <a:p>
            <a:pPr>
              <a:spcAft>
                <a:spcPts val="50"/>
              </a:spcAft>
            </a:pPr>
            <a:r>
              <a:t> </a:t>
            </a:r>
          </a:p>
          <a:p>
            <a:pPr>
              <a:spcAft>
                <a:spcPts val="50"/>
              </a:spcAft>
            </a:pPr>
            <a:r>
              <a:rPr sz="800">
                <a:solidFill>
                  <a:srgbClr val="F1F5F9"/>
                </a:solidFill>
                <a:latin typeface="JetBrains Mono"/>
              </a:rPr>
              <a:t>    </a:t>
            </a:r>
            <a:r>
              <a:rPr sz="800" i="1">
                <a:solidFill>
                  <a:srgbClr val="94A3B8"/>
                </a:solidFill>
                <a:latin typeface="JetBrains Mono"/>
              </a:rPr>
              <a:t>-- 2. Handler jika terjadi pelanggaran Duplicate Key Primary Key</a:t>
            </a:r>
          </a:p>
          <a:p>
            <a:pPr>
              <a:spcAft>
                <a:spcPts val="50"/>
              </a:spcAft>
            </a:pPr>
            <a:r>
              <a:rPr sz="800">
                <a:solidFill>
                  <a:srgbClr val="F1F5F9"/>
                </a:solidFill>
                <a:latin typeface="JetBrains Mono"/>
              </a:rPr>
              <a:t>    </a:t>
            </a:r>
            <a:r>
              <a:rPr sz="800" b="1">
                <a:solidFill>
                  <a:srgbClr val="00E5FF"/>
                </a:solidFill>
                <a:latin typeface="JetBrains Mono"/>
              </a:rPr>
              <a:t>BEGIN</a:t>
            </a:r>
          </a:p>
          <a:p>
            <a:pPr>
              <a:spcAft>
                <a:spcPts val="50"/>
              </a:spcAft>
            </a:pPr>
            <a:r>
              <a:rPr sz="800">
                <a:solidFill>
                  <a:srgbClr val="F1F5F9"/>
                </a:solidFill>
                <a:latin typeface="JetBrains Mono"/>
              </a:rPr>
              <a:t>        </a:t>
            </a:r>
            <a:r>
              <a:rPr sz="800" b="1">
                <a:solidFill>
                  <a:srgbClr val="00E5FF"/>
                </a:solidFill>
                <a:latin typeface="JetBrains Mono"/>
              </a:rPr>
              <a:t>DECLARE</a:t>
            </a:r>
            <a:r>
              <a:rPr sz="800">
                <a:solidFill>
                  <a:srgbClr val="F1F5F9"/>
                </a:solidFill>
                <a:latin typeface="JetBrains Mono"/>
              </a:rPr>
              <a:t> </a:t>
            </a:r>
            <a:r>
              <a:rPr sz="800" b="1">
                <a:solidFill>
                  <a:srgbClr val="00E5FF"/>
                </a:solidFill>
                <a:latin typeface="JetBrains Mono"/>
              </a:rPr>
              <a:t>EXIT</a:t>
            </a:r>
            <a:r>
              <a:rPr sz="800">
                <a:solidFill>
                  <a:srgbClr val="F1F5F9"/>
                </a:solidFill>
                <a:latin typeface="JetBrains Mono"/>
              </a:rPr>
              <a:t> </a:t>
            </a:r>
            <a:r>
              <a:rPr sz="800" b="1">
                <a:solidFill>
                  <a:srgbClr val="00E5FF"/>
                </a:solidFill>
                <a:latin typeface="JetBrains Mono"/>
              </a:rPr>
              <a:t>HANDLER</a:t>
            </a:r>
            <a:r>
              <a:rPr sz="800">
                <a:solidFill>
                  <a:srgbClr val="F1F5F9"/>
                </a:solidFill>
                <a:latin typeface="JetBrains Mono"/>
              </a:rPr>
              <a:t> </a:t>
            </a:r>
            <a:r>
              <a:rPr sz="800" b="1">
                <a:solidFill>
                  <a:srgbClr val="00E5FF"/>
                </a:solidFill>
                <a:latin typeface="JetBrains Mono"/>
              </a:rPr>
              <a:t>FOR</a:t>
            </a:r>
            <a:r>
              <a:rPr sz="800">
                <a:solidFill>
                  <a:srgbClr val="F1F5F9"/>
                </a:solidFill>
                <a:latin typeface="JetBrains Mono"/>
              </a:rPr>
              <a:t> </a:t>
            </a:r>
            <a:r>
              <a:rPr sz="800">
                <a:solidFill>
                  <a:srgbClr val="F87171"/>
                </a:solidFill>
                <a:latin typeface="JetBrains Mono"/>
              </a:rPr>
              <a:t>1062</a:t>
            </a:r>
          </a:p>
          <a:p>
            <a:pPr>
              <a:spcAft>
                <a:spcPts val="50"/>
              </a:spcAft>
            </a:pPr>
            <a:r>
              <a:rPr sz="800">
                <a:solidFill>
                  <a:srgbClr val="F1F5F9"/>
                </a:solidFill>
                <a:latin typeface="JetBrains Mono"/>
              </a:rPr>
              <a:t>        </a:t>
            </a:r>
            <a:r>
              <a:rPr sz="800" b="1">
                <a:solidFill>
                  <a:srgbClr val="00E5FF"/>
                </a:solidFill>
                <a:latin typeface="JetBrains Mono"/>
              </a:rPr>
              <a:t>BEGIN</a:t>
            </a:r>
          </a:p>
          <a:p>
            <a:pPr>
              <a:spcAft>
                <a:spcPts val="50"/>
              </a:spcAft>
            </a:pPr>
            <a:r>
              <a:rPr sz="800">
                <a:solidFill>
                  <a:srgbClr val="F1F5F9"/>
                </a:solidFill>
                <a:latin typeface="JetBrains Mono"/>
              </a:rPr>
              <a:t>            </a:t>
            </a:r>
            <a:r>
              <a:rPr sz="800" b="1">
                <a:solidFill>
                  <a:srgbClr val="00E5FF"/>
                </a:solidFill>
                <a:latin typeface="JetBrains Mono"/>
              </a:rPr>
              <a:t>SIGNAL</a:t>
            </a:r>
            <a:r>
              <a:rPr sz="800">
                <a:solidFill>
                  <a:srgbClr val="F1F5F9"/>
                </a:solidFill>
                <a:latin typeface="JetBrains Mono"/>
              </a:rPr>
              <a:t> </a:t>
            </a:r>
            <a:r>
              <a:rPr sz="800" b="1">
                <a:solidFill>
                  <a:srgbClr val="00E5FF"/>
                </a:solidFill>
                <a:latin typeface="JetBrains Mono"/>
              </a:rPr>
              <a:t>SQLSTATE</a:t>
            </a:r>
            <a:r>
              <a:rPr sz="800">
                <a:solidFill>
                  <a:srgbClr val="F1F5F9"/>
                </a:solidFill>
                <a:latin typeface="JetBrains Mono"/>
              </a:rPr>
              <a:t> </a:t>
            </a:r>
            <a:r>
              <a:rPr sz="800">
                <a:solidFill>
                  <a:srgbClr val="34D399"/>
                </a:solidFill>
                <a:latin typeface="JetBrains Mono"/>
              </a:rPr>
              <a:t>'45000'</a:t>
            </a:r>
          </a:p>
          <a:p>
            <a:pPr>
              <a:spcAft>
                <a:spcPts val="50"/>
              </a:spcAft>
            </a:pP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1F5F9"/>
                </a:solidFill>
                <a:latin typeface="JetBrains Mono"/>
              </a:rPr>
              <a:t>MESSAGE_TEXT</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34D399"/>
                </a:solidFill>
                <a:latin typeface="JetBrains Mono"/>
              </a:rPr>
              <a:t>'Gagal: Kode kasir tersebut sudah terdaftar.'</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END</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INSERT</a:t>
            </a:r>
            <a:r>
              <a:rPr sz="800">
                <a:solidFill>
                  <a:srgbClr val="F1F5F9"/>
                </a:solidFill>
                <a:latin typeface="JetBrains Mono"/>
              </a:rPr>
              <a:t> </a:t>
            </a:r>
            <a:r>
              <a:rPr sz="800" b="1">
                <a:solidFill>
                  <a:srgbClr val="00E5FF"/>
                </a:solidFill>
                <a:latin typeface="JetBrains Mono"/>
              </a:rPr>
              <a:t>INTO</a:t>
            </a:r>
            <a:r>
              <a:rPr sz="800">
                <a:solidFill>
                  <a:srgbClr val="F1F5F9"/>
                </a:solidFill>
                <a:latin typeface="JetBrains Mono"/>
              </a:rPr>
              <a:t> </a:t>
            </a:r>
            <a:r>
              <a:rPr sz="800">
                <a:solidFill>
                  <a:srgbClr val="F1F5F9"/>
                </a:solidFill>
                <a:latin typeface="JetBrains Mono"/>
              </a:rPr>
              <a:t>kasir</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KodeKasir</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NamaKasir</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Pass</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VALUES</a:t>
            </a:r>
            <a:r>
              <a:rPr sz="800">
                <a:solidFill>
                  <a:srgbClr val="F1F5F9"/>
                </a:solidFill>
                <a:latin typeface="JetBrains Mono"/>
              </a:rPr>
              <a:t> </a:t>
            </a:r>
            <a:r>
              <a:rPr sz="800">
                <a:solidFill>
                  <a:srgbClr val="F1F5F9"/>
                </a:solidFill>
                <a:latin typeface="JetBrains Mono"/>
              </a:rPr>
              <a:t>(</a:t>
            </a:r>
            <a:r>
              <a:rPr sz="800">
                <a:solidFill>
                  <a:srgbClr val="F59E0B"/>
                </a:solidFill>
                <a:latin typeface="JetBrains Mono"/>
              </a:rPr>
              <a:t>p_Kode</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p_Nama</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p_Pass</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END</a:t>
            </a:r>
            <a:r>
              <a:rPr sz="800">
                <a:solidFill>
                  <a:srgbClr val="F1F5F9"/>
                </a:solidFill>
                <a:latin typeface="JetBrains Mono"/>
              </a:rPr>
              <a:t>;</a:t>
            </a:r>
          </a:p>
          <a:p>
            <a:pPr>
              <a:spcAft>
                <a:spcPts val="50"/>
              </a:spcAft>
            </a:pPr>
            <a:r>
              <a:rPr sz="800" b="1">
                <a:solidFill>
                  <a:srgbClr val="00E5FF"/>
                </a:solidFill>
                <a:latin typeface="JetBrains Mono"/>
              </a:rPr>
              <a:t>END</a:t>
            </a:r>
            <a:r>
              <a:rPr sz="800">
                <a:solidFill>
                  <a:srgbClr val="F1F5F9"/>
                </a:solidFill>
                <a:latin typeface="JetBrains Mono"/>
              </a:rPr>
              <a:t>$$</a:t>
            </a:r>
          </a:p>
          <a:p>
            <a:pPr>
              <a:spcAft>
                <a:spcPts val="50"/>
              </a:spcAft>
            </a:pPr>
            <a:r>
              <a:rPr sz="800" b="1">
                <a:solidFill>
                  <a:srgbClr val="00E5FF"/>
                </a:solidFill>
                <a:latin typeface="JetBrains Mono"/>
              </a:rPr>
              <a:t>DELIMITER</a:t>
            </a:r>
            <a:r>
              <a:rPr sz="800">
                <a:solidFill>
                  <a:srgbClr val="F1F5F9"/>
                </a:solidFill>
                <a:latin typeface="JetBrains Mono"/>
              </a:rPr>
              <a:t> </a:t>
            </a:r>
            <a:r>
              <a:rPr sz="800">
                <a:solidFill>
                  <a:srgbClr val="F1F5F9"/>
                </a:solidFill>
                <a:latin typeface="JetBrains Mono"/>
              </a:rPr>
              <a:t>;</a:t>
            </a:r>
          </a:p>
        </p:txBody>
      </p:sp>
      <p:sp>
        <p:nvSpPr>
          <p:cNvPr id="14" name="Rounded Rectangle 13"/>
          <p:cNvSpPr/>
          <p:nvPr/>
        </p:nvSpPr>
        <p:spPr>
          <a:xfrm>
            <a:off x="7680960" y="1691640"/>
            <a:ext cx="3566160" cy="201168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5552" y="1819656"/>
            <a:ext cx="3236976" cy="1755648"/>
          </a:xfrm>
          <a:prstGeom prst="rect">
            <a:avLst/>
          </a:prstGeom>
          <a:noFill/>
        </p:spPr>
        <p:txBody>
          <a:bodyPr wrap="square">
            <a:spAutoFit/>
          </a:bodyPr>
          <a:lstStyle/>
          <a:p>
            <a:r>
              <a:rPr sz="1200" b="1">
                <a:solidFill>
                  <a:srgbClr val="FFFFFF"/>
                </a:solidFill>
                <a:latin typeface="Plus Jakarta Sans"/>
              </a:rPr>
              <a:t>SIGNAL SQLSTATE '45000'</a:t>
            </a:r>
          </a:p>
          <a:p>
            <a:pPr>
              <a:spcBef>
                <a:spcPts val="600"/>
              </a:spcBef>
            </a:pPr>
            <a:r>
              <a:rPr sz="950">
                <a:solidFill>
                  <a:srgbClr val="CBD5E1"/>
                </a:solidFill>
                <a:latin typeface="Inter"/>
              </a:rPr>
              <a:t>SQLSTATE '45000' adalah kode standar ANSI SQL untuk mendefinisikan *unhandled user-defined exception*. Pesan galat kustom dikirim langsung ke aplikasi kasir.</a:t>
            </a:r>
          </a:p>
        </p:txBody>
      </p:sp>
      <p:sp>
        <p:nvSpPr>
          <p:cNvPr id="16" name="Rounded Rectangle 15"/>
          <p:cNvSpPr/>
          <p:nvPr/>
        </p:nvSpPr>
        <p:spPr>
          <a:xfrm>
            <a:off x="7680960" y="3886200"/>
            <a:ext cx="3566160" cy="201168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45552" y="4014216"/>
            <a:ext cx="3236976" cy="1755648"/>
          </a:xfrm>
          <a:prstGeom prst="rect">
            <a:avLst/>
          </a:prstGeom>
          <a:noFill/>
        </p:spPr>
        <p:txBody>
          <a:bodyPr wrap="square">
            <a:spAutoFit/>
          </a:bodyPr>
          <a:lstStyle/>
          <a:p>
            <a:r>
              <a:rPr sz="1200" b="1">
                <a:solidFill>
                  <a:srgbClr val="FFFFFF"/>
                </a:solidFill>
                <a:latin typeface="Plus Jakarta Sans"/>
              </a:rPr>
              <a:t>CONTINUE vs EXIT HANDLER</a:t>
            </a:r>
          </a:p>
          <a:p>
            <a:pPr>
              <a:spcBef>
                <a:spcPts val="600"/>
              </a:spcBef>
            </a:pPr>
            <a:r>
              <a:rPr sz="950">
                <a:solidFill>
                  <a:srgbClr val="CBD5E1"/>
                </a:solidFill>
                <a:latin typeface="Inter"/>
              </a:rPr>
              <a:t>• EXIT: Menyetop eksekusi blok kode dan langsung keluar dari compound statement.
• CONTINUE: Menjalankan aksi handler dan tetap melanjutkan baris instruksi berikutnya.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08 · BASIS DATA 3NF</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Normalisasi 3NF</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Skema Fisik 5 Tabel Basis Data Minimarket </a:t>
            </a:r>
            <a:r>
              <a:rPr sz="2100" b="1">
                <a:solidFill>
                  <a:srgbClr val="00E5FF"/>
                </a:solidFill>
                <a:latin typeface="Plus Jakarta Sans"/>
              </a:rPr>
              <a:t>Studi Kasus Kelompok 7</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1956816" cy="21945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819656"/>
            <a:ext cx="1627632" cy="1938528"/>
          </a:xfrm>
          <a:prstGeom prst="rect">
            <a:avLst/>
          </a:prstGeom>
          <a:noFill/>
        </p:spPr>
        <p:txBody>
          <a:bodyPr wrap="square">
            <a:spAutoFit/>
          </a:bodyPr>
          <a:lstStyle/>
          <a:p>
            <a:r>
              <a:rPr sz="1050" b="1">
                <a:solidFill>
                  <a:srgbClr val="00E5FF"/>
                </a:solidFill>
                <a:latin typeface="JetBrains Mono"/>
              </a:rPr>
              <a:t>[01] </a:t>
            </a:r>
            <a:r>
              <a:rPr sz="1200" b="1">
                <a:solidFill>
                  <a:srgbClr val="FFFFFF"/>
                </a:solidFill>
                <a:latin typeface="Plus Jakarta Sans"/>
              </a:rPr>
              <a:t>KASIR (Parent)</a:t>
            </a:r>
          </a:p>
          <a:p>
            <a:pPr>
              <a:spcBef>
                <a:spcPts val="600"/>
              </a:spcBef>
            </a:pPr>
            <a:r>
              <a:rPr sz="950">
                <a:solidFill>
                  <a:srgbClr val="CBD5E1"/>
                </a:solidFill>
                <a:latin typeface="Inter"/>
              </a:rPr>
              <a:t>• KodeKasir: CHAR(3) [PK]
• NamaKasir: VARCHAR(30)
• Pass: CHAR(6) [CHK 6 char]</a:t>
            </a:r>
          </a:p>
        </p:txBody>
      </p:sp>
      <p:sp>
        <p:nvSpPr>
          <p:cNvPr id="10" name="Rounded Rectangle 9"/>
          <p:cNvSpPr/>
          <p:nvPr/>
        </p:nvSpPr>
        <p:spPr>
          <a:xfrm>
            <a:off x="3017520" y="1691640"/>
            <a:ext cx="1956816" cy="21945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82112" y="1819656"/>
            <a:ext cx="1627632" cy="1938528"/>
          </a:xfrm>
          <a:prstGeom prst="rect">
            <a:avLst/>
          </a:prstGeom>
          <a:noFill/>
        </p:spPr>
        <p:txBody>
          <a:bodyPr wrap="square">
            <a:spAutoFit/>
          </a:bodyPr>
          <a:lstStyle/>
          <a:p>
            <a:r>
              <a:rPr sz="1050" b="1">
                <a:solidFill>
                  <a:srgbClr val="00E5FF"/>
                </a:solidFill>
                <a:latin typeface="JetBrains Mono"/>
              </a:rPr>
              <a:t>[02] </a:t>
            </a:r>
            <a:r>
              <a:rPr sz="1200" b="1">
                <a:solidFill>
                  <a:srgbClr val="FFFFFF"/>
                </a:solidFill>
                <a:latin typeface="Plus Jakarta Sans"/>
              </a:rPr>
              <a:t>CUSTOMER (Parent)</a:t>
            </a:r>
          </a:p>
          <a:p>
            <a:pPr>
              <a:spcBef>
                <a:spcPts val="600"/>
              </a:spcBef>
            </a:pPr>
            <a:r>
              <a:rPr sz="950">
                <a:solidFill>
                  <a:srgbClr val="CBD5E1"/>
                </a:solidFill>
                <a:latin typeface="Inter"/>
              </a:rPr>
              <a:t>• KodeCus: CHAR(5) [PK]
• NamaCus: VARCHAR(50)
• PointTerkumpul: INT</a:t>
            </a:r>
          </a:p>
        </p:txBody>
      </p:sp>
      <p:sp>
        <p:nvSpPr>
          <p:cNvPr id="12" name="Rounded Rectangle 11"/>
          <p:cNvSpPr/>
          <p:nvPr/>
        </p:nvSpPr>
        <p:spPr>
          <a:xfrm>
            <a:off x="5120640" y="1691640"/>
            <a:ext cx="1956816" cy="21945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85232" y="1819656"/>
            <a:ext cx="1627632" cy="1938528"/>
          </a:xfrm>
          <a:prstGeom prst="rect">
            <a:avLst/>
          </a:prstGeom>
          <a:noFill/>
        </p:spPr>
        <p:txBody>
          <a:bodyPr wrap="square">
            <a:spAutoFit/>
          </a:bodyPr>
          <a:lstStyle/>
          <a:p>
            <a:r>
              <a:rPr sz="1050" b="1">
                <a:solidFill>
                  <a:srgbClr val="00E5FF"/>
                </a:solidFill>
                <a:latin typeface="JetBrains Mono"/>
              </a:rPr>
              <a:t>[03] </a:t>
            </a:r>
            <a:r>
              <a:rPr sz="1200" b="1">
                <a:solidFill>
                  <a:srgbClr val="FFFFFF"/>
                </a:solidFill>
                <a:latin typeface="Plus Jakarta Sans"/>
              </a:rPr>
              <a:t>PRODUK (Parent)</a:t>
            </a:r>
          </a:p>
          <a:p>
            <a:pPr>
              <a:spcBef>
                <a:spcPts val="600"/>
              </a:spcBef>
            </a:pPr>
            <a:r>
              <a:rPr sz="950">
                <a:solidFill>
                  <a:srgbClr val="CBD5E1"/>
                </a:solidFill>
                <a:latin typeface="Inter"/>
              </a:rPr>
              <a:t>• KodeProduk: CHAR(4) [PK]
• NamaProduk: VARCHAR(50)
• Harga: INT, stok: INT</a:t>
            </a:r>
          </a:p>
        </p:txBody>
      </p:sp>
      <p:sp>
        <p:nvSpPr>
          <p:cNvPr id="14" name="Rounded Rectangle 13"/>
          <p:cNvSpPr/>
          <p:nvPr/>
        </p:nvSpPr>
        <p:spPr>
          <a:xfrm>
            <a:off x="7223759" y="1691640"/>
            <a:ext cx="1956816" cy="21945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88351" y="1819656"/>
            <a:ext cx="1627632" cy="1938528"/>
          </a:xfrm>
          <a:prstGeom prst="rect">
            <a:avLst/>
          </a:prstGeom>
          <a:noFill/>
        </p:spPr>
        <p:txBody>
          <a:bodyPr wrap="square">
            <a:spAutoFit/>
          </a:bodyPr>
          <a:lstStyle/>
          <a:p>
            <a:r>
              <a:rPr sz="1050" b="1">
                <a:solidFill>
                  <a:srgbClr val="00E5FF"/>
                </a:solidFill>
                <a:latin typeface="JetBrains Mono"/>
              </a:rPr>
              <a:t>[04] </a:t>
            </a:r>
            <a:r>
              <a:rPr sz="1200" b="1">
                <a:solidFill>
                  <a:srgbClr val="FFFFFF"/>
                </a:solidFill>
                <a:latin typeface="Plus Jakarta Sans"/>
              </a:rPr>
              <a:t>NOTA (Header)</a:t>
            </a:r>
          </a:p>
          <a:p>
            <a:pPr>
              <a:spcBef>
                <a:spcPts val="600"/>
              </a:spcBef>
            </a:pPr>
            <a:r>
              <a:rPr sz="950">
                <a:solidFill>
                  <a:srgbClr val="CBD5E1"/>
                </a:solidFill>
                <a:latin typeface="Inter"/>
              </a:rPr>
              <a:t>• Nonota: CHAR(10) [PK]
• KodeKasir: FK kasir
• KodeCus: FK customer</a:t>
            </a:r>
          </a:p>
        </p:txBody>
      </p:sp>
      <p:sp>
        <p:nvSpPr>
          <p:cNvPr id="16" name="Rounded Rectangle 15"/>
          <p:cNvSpPr/>
          <p:nvPr/>
        </p:nvSpPr>
        <p:spPr>
          <a:xfrm>
            <a:off x="9326880" y="1691640"/>
            <a:ext cx="1956816" cy="219456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91472" y="1819656"/>
            <a:ext cx="1627632" cy="1938528"/>
          </a:xfrm>
          <a:prstGeom prst="rect">
            <a:avLst/>
          </a:prstGeom>
          <a:noFill/>
        </p:spPr>
        <p:txBody>
          <a:bodyPr wrap="square">
            <a:spAutoFit/>
          </a:bodyPr>
          <a:lstStyle/>
          <a:p>
            <a:r>
              <a:rPr sz="1050" b="1">
                <a:solidFill>
                  <a:srgbClr val="00E5FF"/>
                </a:solidFill>
                <a:latin typeface="JetBrains Mono"/>
              </a:rPr>
              <a:t>[05] </a:t>
            </a:r>
            <a:r>
              <a:rPr sz="1200" b="1">
                <a:solidFill>
                  <a:srgbClr val="FFFFFF"/>
                </a:solidFill>
                <a:latin typeface="Plus Jakarta Sans"/>
              </a:rPr>
              <a:t>ITEMNOTA (Bridge N:M)</a:t>
            </a:r>
          </a:p>
          <a:p>
            <a:pPr>
              <a:spcBef>
                <a:spcPts val="600"/>
              </a:spcBef>
            </a:pPr>
            <a:r>
              <a:rPr sz="950">
                <a:solidFill>
                  <a:srgbClr val="CBD5E1"/>
                </a:solidFill>
                <a:latin typeface="Inter"/>
              </a:rPr>
              <a:t>• Nonota: CHAR(10) [PK, FK]
• KodeProduk: CHAR(4) [PK, FK]
• banyak: INT, hargajual: INT</a:t>
            </a:r>
          </a:p>
        </p:txBody>
      </p:sp>
      <p:sp>
        <p:nvSpPr>
          <p:cNvPr id="18" name="Rounded Rectangle 17"/>
          <p:cNvSpPr/>
          <p:nvPr/>
        </p:nvSpPr>
        <p:spPr>
          <a:xfrm>
            <a:off x="914400" y="4069080"/>
            <a:ext cx="10332720" cy="182880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417880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216151" y="417880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380744" y="417880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4105656"/>
            <a:ext cx="8321040" cy="256032"/>
          </a:xfrm>
          <a:prstGeom prst="rect">
            <a:avLst/>
          </a:prstGeom>
          <a:noFill/>
        </p:spPr>
        <p:txBody>
          <a:bodyPr wrap="none">
            <a:spAutoFit/>
          </a:bodyPr>
          <a:lstStyle/>
          <a:p>
            <a:pPr>
              <a:defRPr sz="900">
                <a:solidFill>
                  <a:srgbClr val="38BDF8"/>
                </a:solidFill>
                <a:latin typeface="JetBrains Mono"/>
              </a:defRPr>
            </a:pPr>
            <a:r>
              <a:t>terminal · ITEMNOTA Bridge Table DDL</a:t>
            </a:r>
          </a:p>
        </p:txBody>
      </p:sp>
      <p:sp>
        <p:nvSpPr>
          <p:cNvPr id="23" name="TextBox 22"/>
          <p:cNvSpPr txBox="1"/>
          <p:nvPr/>
        </p:nvSpPr>
        <p:spPr>
          <a:xfrm>
            <a:off x="1051560" y="4361688"/>
            <a:ext cx="10058400" cy="1463040"/>
          </a:xfrm>
          <a:prstGeom prst="rect">
            <a:avLst/>
          </a:prstGeom>
          <a:noFill/>
        </p:spPr>
        <p:txBody>
          <a:bodyPr wrap="square" tIns="18288" bIns="18288" lIns="45720" rIns="45720">
            <a:spAutoFit/>
          </a:bodyPr>
          <a:lstStyle/>
          <a:p>
            <a:pPr>
              <a:spcAft>
                <a:spcPts val="150"/>
              </a:spcAft>
            </a:pPr>
            <a:r>
              <a:rPr sz="900" i="1">
                <a:solidFill>
                  <a:srgbClr val="94A3B8"/>
                </a:solidFill>
                <a:latin typeface="JetBrains Mono"/>
              </a:rPr>
              <a:t>-- Relasi Many-to-Many antara NOTA dan PRODUK dipecah pada ITEMNOTA:</a:t>
            </a:r>
          </a:p>
          <a:p>
            <a:pPr>
              <a:spcAft>
                <a:spcPts val="150"/>
              </a:spcAft>
            </a:pPr>
            <a:r>
              <a:rPr sz="900" b="1">
                <a:solidFill>
                  <a:srgbClr val="00E5FF"/>
                </a:solidFill>
                <a:latin typeface="JetBrains Mono"/>
              </a:rPr>
              <a:t>CREATE</a:t>
            </a:r>
            <a:r>
              <a:rPr sz="900">
                <a:solidFill>
                  <a:srgbClr val="F1F5F9"/>
                </a:solidFill>
                <a:latin typeface="JetBrains Mono"/>
              </a:rPr>
              <a:t> </a:t>
            </a:r>
            <a:r>
              <a:rPr sz="900">
                <a:solidFill>
                  <a:srgbClr val="F1F5F9"/>
                </a:solidFill>
                <a:latin typeface="JetBrains Mono"/>
              </a:rPr>
              <a:t>TABLE</a:t>
            </a:r>
            <a:r>
              <a:rPr sz="900">
                <a:solidFill>
                  <a:srgbClr val="F1F5F9"/>
                </a:solidFill>
                <a:latin typeface="JetBrains Mono"/>
              </a:rPr>
              <a:t> </a:t>
            </a:r>
            <a:r>
              <a:rPr sz="900">
                <a:solidFill>
                  <a:srgbClr val="F1F5F9"/>
                </a:solidFill>
                <a:latin typeface="JetBrains Mono"/>
              </a:rPr>
              <a:t>itemnota</a:t>
            </a:r>
            <a:r>
              <a:rPr sz="900">
                <a:solidFill>
                  <a:srgbClr val="F1F5F9"/>
                </a:solidFill>
                <a:latin typeface="JetBrains Mono"/>
              </a:rPr>
              <a:t> </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Nonota</a:t>
            </a:r>
            <a:r>
              <a:rPr sz="900">
                <a:solidFill>
                  <a:srgbClr val="F1F5F9"/>
                </a:solidFill>
                <a:latin typeface="JetBrains Mono"/>
              </a:rPr>
              <a:t> </a:t>
            </a:r>
            <a:r>
              <a:rPr sz="900" b="1">
                <a:solidFill>
                  <a:srgbClr val="C084FC"/>
                </a:solidFill>
                <a:latin typeface="JetBrains Mono"/>
              </a:rPr>
              <a:t>CHAR</a:t>
            </a:r>
            <a:r>
              <a:rPr sz="900">
                <a:solidFill>
                  <a:srgbClr val="F1F5F9"/>
                </a:solidFill>
                <a:latin typeface="JetBrains Mono"/>
              </a:rPr>
              <a:t>(</a:t>
            </a:r>
            <a:r>
              <a:rPr sz="900">
                <a:solidFill>
                  <a:srgbClr val="F87171"/>
                </a:solidFill>
                <a:latin typeface="JetBrains Mono"/>
              </a:rPr>
              <a:t>10</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NOT</a:t>
            </a:r>
            <a:r>
              <a:rPr sz="900">
                <a:solidFill>
                  <a:srgbClr val="F1F5F9"/>
                </a:solidFill>
                <a:latin typeface="JetBrains Mono"/>
              </a:rPr>
              <a:t> </a:t>
            </a:r>
            <a:r>
              <a:rPr sz="900" b="1">
                <a:solidFill>
                  <a:srgbClr val="00E5FF"/>
                </a:solidFill>
                <a:latin typeface="JetBrains Mono"/>
              </a:rPr>
              <a:t>NULL</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KodeProduk</a:t>
            </a:r>
            <a:r>
              <a:rPr sz="900">
                <a:solidFill>
                  <a:srgbClr val="F1F5F9"/>
                </a:solidFill>
                <a:latin typeface="JetBrains Mono"/>
              </a:rPr>
              <a:t> </a:t>
            </a:r>
            <a:r>
              <a:rPr sz="900" b="1">
                <a:solidFill>
                  <a:srgbClr val="C084FC"/>
                </a:solidFill>
                <a:latin typeface="JetBrains Mono"/>
              </a:rPr>
              <a:t>CHAR</a:t>
            </a:r>
            <a:r>
              <a:rPr sz="900">
                <a:solidFill>
                  <a:srgbClr val="F1F5F9"/>
                </a:solidFill>
                <a:latin typeface="JetBrains Mono"/>
              </a:rPr>
              <a:t>(</a:t>
            </a:r>
            <a:r>
              <a:rPr sz="900">
                <a:solidFill>
                  <a:srgbClr val="F87171"/>
                </a:solidFill>
                <a:latin typeface="JetBrains Mono"/>
              </a:rPr>
              <a:t>4</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NOT</a:t>
            </a:r>
            <a:r>
              <a:rPr sz="900">
                <a:solidFill>
                  <a:srgbClr val="F1F5F9"/>
                </a:solidFill>
                <a:latin typeface="JetBrains Mono"/>
              </a:rPr>
              <a:t> </a:t>
            </a:r>
            <a:r>
              <a:rPr sz="900" b="1">
                <a:solidFill>
                  <a:srgbClr val="00E5FF"/>
                </a:solidFill>
                <a:latin typeface="JetBrains Mono"/>
              </a:rPr>
              <a:t>NULL</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banyak</a:t>
            </a:r>
            <a:r>
              <a:rPr sz="900">
                <a:solidFill>
                  <a:srgbClr val="F1F5F9"/>
                </a:solidFill>
                <a:latin typeface="JetBrains Mono"/>
              </a:rPr>
              <a:t> </a:t>
            </a:r>
            <a:r>
              <a:rPr sz="900" b="1">
                <a:solidFill>
                  <a:srgbClr val="C084FC"/>
                </a:solidFill>
                <a:latin typeface="JetBrains Mono"/>
              </a:rPr>
              <a:t>INT</a:t>
            </a:r>
            <a:r>
              <a:rPr sz="900">
                <a:solidFill>
                  <a:srgbClr val="F1F5F9"/>
                </a:solidFill>
                <a:latin typeface="JetBrains Mono"/>
              </a:rPr>
              <a:t> </a:t>
            </a:r>
            <a:r>
              <a:rPr sz="900" b="1">
                <a:solidFill>
                  <a:srgbClr val="00E5FF"/>
                </a:solidFill>
                <a:latin typeface="JetBrains Mono"/>
              </a:rPr>
              <a:t>NOT</a:t>
            </a:r>
            <a:r>
              <a:rPr sz="900">
                <a:solidFill>
                  <a:srgbClr val="F1F5F9"/>
                </a:solidFill>
                <a:latin typeface="JetBrains Mono"/>
              </a:rPr>
              <a:t> </a:t>
            </a:r>
            <a:r>
              <a:rPr sz="900" b="1">
                <a:solidFill>
                  <a:srgbClr val="00E5FF"/>
                </a:solidFill>
                <a:latin typeface="JetBrains Mono"/>
              </a:rPr>
              <a:t>NULL</a:t>
            </a:r>
            <a:r>
              <a:rPr sz="900">
                <a:solidFill>
                  <a:srgbClr val="F1F5F9"/>
                </a:solidFill>
                <a:latin typeface="JetBrains Mono"/>
              </a:rPr>
              <a:t> </a:t>
            </a:r>
            <a:r>
              <a:rPr sz="900" b="1">
                <a:solidFill>
                  <a:srgbClr val="00E5FF"/>
                </a:solidFill>
                <a:latin typeface="JetBrains Mono"/>
              </a:rPr>
              <a:t>DEFAULT</a:t>
            </a:r>
            <a:r>
              <a:rPr sz="900">
                <a:solidFill>
                  <a:srgbClr val="F1F5F9"/>
                </a:solidFill>
                <a:latin typeface="JetBrains Mono"/>
              </a:rPr>
              <a:t> </a:t>
            </a:r>
            <a:r>
              <a:rPr sz="900">
                <a:solidFill>
                  <a:srgbClr val="F87171"/>
                </a:solidFill>
                <a:latin typeface="JetBrains Mono"/>
              </a:rPr>
              <a:t>1</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hargajual</a:t>
            </a:r>
            <a:r>
              <a:rPr sz="900">
                <a:solidFill>
                  <a:srgbClr val="F1F5F9"/>
                </a:solidFill>
                <a:latin typeface="JetBrains Mono"/>
              </a:rPr>
              <a:t> </a:t>
            </a:r>
            <a:r>
              <a:rPr sz="900" b="1">
                <a:solidFill>
                  <a:srgbClr val="C084FC"/>
                </a:solidFill>
                <a:latin typeface="JetBrains Mono"/>
              </a:rPr>
              <a:t>INT</a:t>
            </a:r>
            <a:r>
              <a:rPr sz="900">
                <a:solidFill>
                  <a:srgbClr val="F1F5F9"/>
                </a:solidFill>
                <a:latin typeface="JetBrains Mono"/>
              </a:rPr>
              <a:t> </a:t>
            </a:r>
            <a:r>
              <a:rPr sz="900" b="1">
                <a:solidFill>
                  <a:srgbClr val="00E5FF"/>
                </a:solidFill>
                <a:latin typeface="JetBrains Mono"/>
              </a:rPr>
              <a:t>NOT</a:t>
            </a:r>
            <a:r>
              <a:rPr sz="900">
                <a:solidFill>
                  <a:srgbClr val="F1F5F9"/>
                </a:solidFill>
                <a:latin typeface="JetBrains Mono"/>
              </a:rPr>
              <a:t> </a:t>
            </a:r>
            <a:r>
              <a:rPr sz="900" b="1">
                <a:solidFill>
                  <a:srgbClr val="00E5FF"/>
                </a:solidFill>
                <a:latin typeface="JetBrains Mono"/>
              </a:rPr>
              <a:t>NULL</a:t>
            </a:r>
            <a:r>
              <a:rPr sz="900">
                <a:solidFill>
                  <a:srgbClr val="F1F5F9"/>
                </a:solidFill>
                <a:latin typeface="JetBrains Mono"/>
              </a:rPr>
              <a:t>,</a:t>
            </a:r>
          </a:p>
          <a:p>
            <a:pPr>
              <a:spcAft>
                <a:spcPts val="150"/>
              </a:spcAft>
            </a:pPr>
            <a:r>
              <a:rPr sz="900">
                <a:solidFill>
                  <a:srgbClr val="F1F5F9"/>
                </a:solidFill>
                <a:latin typeface="JetBrains Mono"/>
              </a:rPr>
              <a:t>    </a:t>
            </a:r>
            <a:r>
              <a:rPr sz="900" b="1">
                <a:solidFill>
                  <a:srgbClr val="00E5FF"/>
                </a:solidFill>
                <a:latin typeface="JetBrains Mono"/>
              </a:rPr>
              <a:t>PRIMARY</a:t>
            </a:r>
            <a:r>
              <a:rPr sz="900">
                <a:solidFill>
                  <a:srgbClr val="F1F5F9"/>
                </a:solidFill>
                <a:latin typeface="JetBrains Mono"/>
              </a:rPr>
              <a:t> </a:t>
            </a:r>
            <a:r>
              <a:rPr sz="900" b="1">
                <a:solidFill>
                  <a:srgbClr val="00E5FF"/>
                </a:solidFill>
                <a:latin typeface="JetBrains Mono"/>
              </a:rPr>
              <a:t>KEY</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Nonota</a:t>
            </a:r>
            <a:r>
              <a:rPr sz="900">
                <a:solidFill>
                  <a:srgbClr val="F1F5F9"/>
                </a:solidFill>
                <a:latin typeface="JetBrains Mono"/>
              </a:rPr>
              <a:t>,</a:t>
            </a:r>
            <a:r>
              <a:rPr sz="900">
                <a:solidFill>
                  <a:srgbClr val="F1F5F9"/>
                </a:solidFill>
                <a:latin typeface="JetBrains Mono"/>
              </a:rPr>
              <a:t> </a:t>
            </a:r>
            <a:r>
              <a:rPr sz="900">
                <a:solidFill>
                  <a:srgbClr val="F1F5F9"/>
                </a:solidFill>
                <a:latin typeface="JetBrains Mono"/>
              </a:rPr>
              <a:t>KodeProduk</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CONSTRAINT</a:t>
            </a:r>
            <a:r>
              <a:rPr sz="900">
                <a:solidFill>
                  <a:srgbClr val="F1F5F9"/>
                </a:solidFill>
                <a:latin typeface="JetBrains Mono"/>
              </a:rPr>
              <a:t> </a:t>
            </a:r>
            <a:r>
              <a:rPr sz="900">
                <a:solidFill>
                  <a:srgbClr val="F1F5F9"/>
                </a:solidFill>
                <a:latin typeface="JetBrains Mono"/>
              </a:rPr>
              <a:t>fk_itemnota_nota</a:t>
            </a:r>
            <a:r>
              <a:rPr sz="900">
                <a:solidFill>
                  <a:srgbClr val="F1F5F9"/>
                </a:solidFill>
                <a:latin typeface="JetBrains Mono"/>
              </a:rPr>
              <a:t> </a:t>
            </a:r>
            <a:r>
              <a:rPr sz="900" b="1">
                <a:solidFill>
                  <a:srgbClr val="00E5FF"/>
                </a:solidFill>
                <a:latin typeface="JetBrains Mono"/>
              </a:rPr>
              <a:t>FOREIGN</a:t>
            </a:r>
            <a:r>
              <a:rPr sz="900">
                <a:solidFill>
                  <a:srgbClr val="F1F5F9"/>
                </a:solidFill>
                <a:latin typeface="JetBrains Mono"/>
              </a:rPr>
              <a:t> </a:t>
            </a:r>
            <a:r>
              <a:rPr sz="900" b="1">
                <a:solidFill>
                  <a:srgbClr val="00E5FF"/>
                </a:solidFill>
                <a:latin typeface="JetBrains Mono"/>
              </a:rPr>
              <a:t>KEY</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Nonota</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REFERENCES</a:t>
            </a:r>
            <a:r>
              <a:rPr sz="900">
                <a:solidFill>
                  <a:srgbClr val="F1F5F9"/>
                </a:solidFill>
                <a:latin typeface="JetBrains Mono"/>
              </a:rPr>
              <a:t> </a:t>
            </a:r>
            <a:r>
              <a:rPr sz="900">
                <a:solidFill>
                  <a:srgbClr val="F1F5F9"/>
                </a:solidFill>
                <a:latin typeface="JetBrains Mono"/>
              </a:rPr>
              <a:t>nota</a:t>
            </a:r>
            <a:r>
              <a:rPr sz="900">
                <a:solidFill>
                  <a:srgbClr val="F1F5F9"/>
                </a:solidFill>
                <a:latin typeface="JetBrains Mono"/>
              </a:rPr>
              <a:t>(</a:t>
            </a:r>
            <a:r>
              <a:rPr sz="900">
                <a:solidFill>
                  <a:srgbClr val="F1F5F9"/>
                </a:solidFill>
                <a:latin typeface="JetBrains Mono"/>
              </a:rPr>
              <a:t>Nonota</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ON</a:t>
            </a:r>
            <a:r>
              <a:rPr sz="900">
                <a:solidFill>
                  <a:srgbClr val="F1F5F9"/>
                </a:solidFill>
                <a:latin typeface="JetBrains Mono"/>
              </a:rPr>
              <a:t> </a:t>
            </a:r>
            <a:r>
              <a:rPr sz="900" b="1">
                <a:solidFill>
                  <a:srgbClr val="00E5FF"/>
                </a:solidFill>
                <a:latin typeface="JetBrains Mono"/>
              </a:rPr>
              <a:t>DELETE</a:t>
            </a:r>
            <a:r>
              <a:rPr sz="900">
                <a:solidFill>
                  <a:srgbClr val="F1F5F9"/>
                </a:solidFill>
                <a:latin typeface="JetBrains Mono"/>
              </a:rPr>
              <a:t> </a:t>
            </a:r>
            <a:r>
              <a:rPr sz="900" b="1">
                <a:solidFill>
                  <a:srgbClr val="00E5FF"/>
                </a:solidFill>
                <a:latin typeface="JetBrains Mono"/>
              </a:rPr>
              <a:t>CASCADE</a:t>
            </a:r>
            <a:r>
              <a:rPr sz="900">
                <a:solidFill>
                  <a:srgbClr val="F1F5F9"/>
                </a:solidFill>
                <a:latin typeface="JetBrains Mono"/>
              </a:rPr>
              <a:t>,</a:t>
            </a:r>
          </a:p>
          <a:p>
            <a:pPr>
              <a:spcAft>
                <a:spcPts val="150"/>
              </a:spcAft>
            </a:pPr>
            <a:r>
              <a:rPr sz="900">
                <a:solidFill>
                  <a:srgbClr val="F1F5F9"/>
                </a:solidFill>
                <a:latin typeface="JetBrains Mono"/>
              </a:rPr>
              <a:t>    </a:t>
            </a:r>
            <a:r>
              <a:rPr sz="900">
                <a:solidFill>
                  <a:srgbClr val="F1F5F9"/>
                </a:solidFill>
                <a:latin typeface="JetBrains Mono"/>
              </a:rPr>
              <a:t>CONSTRAINT</a:t>
            </a:r>
            <a:r>
              <a:rPr sz="900">
                <a:solidFill>
                  <a:srgbClr val="F1F5F9"/>
                </a:solidFill>
                <a:latin typeface="JetBrains Mono"/>
              </a:rPr>
              <a:t> </a:t>
            </a:r>
            <a:r>
              <a:rPr sz="900">
                <a:solidFill>
                  <a:srgbClr val="F1F5F9"/>
                </a:solidFill>
                <a:latin typeface="JetBrains Mono"/>
              </a:rPr>
              <a:t>fk_itemnota_produk</a:t>
            </a:r>
            <a:r>
              <a:rPr sz="900">
                <a:solidFill>
                  <a:srgbClr val="F1F5F9"/>
                </a:solidFill>
                <a:latin typeface="JetBrains Mono"/>
              </a:rPr>
              <a:t> </a:t>
            </a:r>
            <a:r>
              <a:rPr sz="900" b="1">
                <a:solidFill>
                  <a:srgbClr val="00E5FF"/>
                </a:solidFill>
                <a:latin typeface="JetBrains Mono"/>
              </a:rPr>
              <a:t>FOREIGN</a:t>
            </a:r>
            <a:r>
              <a:rPr sz="900">
                <a:solidFill>
                  <a:srgbClr val="F1F5F9"/>
                </a:solidFill>
                <a:latin typeface="JetBrains Mono"/>
              </a:rPr>
              <a:t> </a:t>
            </a:r>
            <a:r>
              <a:rPr sz="900" b="1">
                <a:solidFill>
                  <a:srgbClr val="00E5FF"/>
                </a:solidFill>
                <a:latin typeface="JetBrains Mono"/>
              </a:rPr>
              <a:t>KEY</a:t>
            </a:r>
            <a:r>
              <a:rPr sz="900">
                <a:solidFill>
                  <a:srgbClr val="F1F5F9"/>
                </a:solidFill>
                <a:latin typeface="JetBrains Mono"/>
              </a:rPr>
              <a:t> </a:t>
            </a:r>
            <a:r>
              <a:rPr sz="900">
                <a:solidFill>
                  <a:srgbClr val="F1F5F9"/>
                </a:solidFill>
                <a:latin typeface="JetBrains Mono"/>
              </a:rPr>
              <a:t>(</a:t>
            </a:r>
            <a:r>
              <a:rPr sz="900">
                <a:solidFill>
                  <a:srgbClr val="F1F5F9"/>
                </a:solidFill>
                <a:latin typeface="JetBrains Mono"/>
              </a:rPr>
              <a:t>KodeProduk</a:t>
            </a: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REFERENCES</a:t>
            </a:r>
            <a:r>
              <a:rPr sz="900">
                <a:solidFill>
                  <a:srgbClr val="F1F5F9"/>
                </a:solidFill>
                <a:latin typeface="JetBrains Mono"/>
              </a:rPr>
              <a:t> </a:t>
            </a:r>
            <a:r>
              <a:rPr sz="900">
                <a:solidFill>
                  <a:srgbClr val="F1F5F9"/>
                </a:solidFill>
                <a:latin typeface="JetBrains Mono"/>
              </a:rPr>
              <a:t>produk</a:t>
            </a:r>
            <a:r>
              <a:rPr sz="900">
                <a:solidFill>
                  <a:srgbClr val="F1F5F9"/>
                </a:solidFill>
                <a:latin typeface="JetBrains Mono"/>
              </a:rPr>
              <a:t>(</a:t>
            </a:r>
            <a:r>
              <a:rPr sz="900">
                <a:solidFill>
                  <a:srgbClr val="F1F5F9"/>
                </a:solidFill>
                <a:latin typeface="JetBrains Mono"/>
              </a:rPr>
              <a:t>KodeProduk</a:t>
            </a:r>
            <a:r>
              <a:rPr sz="900">
                <a:solidFill>
                  <a:srgbClr val="F1F5F9"/>
                </a:solidFill>
                <a:latin typeface="JetBrains Mono"/>
              </a:rPr>
              <a:t>)</a:t>
            </a:r>
          </a:p>
          <a:p>
            <a:pPr>
              <a:spcAft>
                <a:spcPts val="150"/>
              </a:spcAft>
            </a:pPr>
            <a:r>
              <a:rPr sz="900">
                <a:solidFill>
                  <a:srgbClr val="F1F5F9"/>
                </a:solidFill>
                <a:latin typeface="JetBrains Mono"/>
              </a:rPr>
              <a:t>)</a:t>
            </a:r>
            <a:r>
              <a:rPr sz="900">
                <a:solidFill>
                  <a:srgbClr val="F1F5F9"/>
                </a:solidFill>
                <a:latin typeface="JetBrains Mono"/>
              </a:rPr>
              <a:t> </a:t>
            </a:r>
            <a:r>
              <a:rPr sz="900" b="1">
                <a:solidFill>
                  <a:srgbClr val="00E5FF"/>
                </a:solidFill>
                <a:latin typeface="JetBrains Mono"/>
              </a:rPr>
              <a:t>ENGINE</a:t>
            </a:r>
            <a:r>
              <a:rPr sz="900">
                <a:solidFill>
                  <a:srgbClr val="F1F5F9"/>
                </a:solidFill>
                <a:latin typeface="JetBrains Mono"/>
              </a:rPr>
              <a:t>=</a:t>
            </a:r>
            <a:r>
              <a:rPr sz="900">
                <a:solidFill>
                  <a:srgbClr val="F1F5F9"/>
                </a:solidFill>
                <a:latin typeface="JetBrains Mono"/>
              </a:rPr>
              <a:t>InnoDB</a:t>
            </a:r>
            <a:r>
              <a:rPr sz="900">
                <a:solidFill>
                  <a:srgbClr val="F1F5F9"/>
                </a:solidFill>
                <a:latin typeface="JetBrains Mono"/>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09 · TRANSAKSI RITEL</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Pessimistic Locking &amp; Transaksi</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Studi Kasus: Checkout Kasir &amp; Auto-Deduct Stok </a:t>
            </a:r>
            <a:r>
              <a:rPr sz="2100" b="1">
                <a:solidFill>
                  <a:srgbClr val="00E5FF"/>
                </a:solidFill>
                <a:latin typeface="Plus Jakarta Sans"/>
              </a:rPr>
              <a:t>ACID &amp; Locking</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6583680" cy="420624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013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1" y="180136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80136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728216"/>
            <a:ext cx="4572000" cy="256032"/>
          </a:xfrm>
          <a:prstGeom prst="rect">
            <a:avLst/>
          </a:prstGeom>
          <a:noFill/>
        </p:spPr>
        <p:txBody>
          <a:bodyPr wrap="none">
            <a:spAutoFit/>
          </a:bodyPr>
          <a:lstStyle/>
          <a:p>
            <a:pPr>
              <a:defRPr sz="900">
                <a:solidFill>
                  <a:srgbClr val="38BDF8"/>
                </a:solidFill>
                <a:latin typeface="JetBrains Mono"/>
              </a:defRPr>
            </a:pPr>
            <a:r>
              <a:t>terminal · sp_CheckoutItem.sql (Transaction + Lock)</a:t>
            </a:r>
          </a:p>
        </p:txBody>
      </p:sp>
      <p:sp>
        <p:nvSpPr>
          <p:cNvPr id="13" name="TextBox 12"/>
          <p:cNvSpPr txBox="1"/>
          <p:nvPr/>
        </p:nvSpPr>
        <p:spPr>
          <a:xfrm>
            <a:off x="1051560" y="1984248"/>
            <a:ext cx="6309360" cy="3840480"/>
          </a:xfrm>
          <a:prstGeom prst="rect">
            <a:avLst/>
          </a:prstGeom>
          <a:noFill/>
        </p:spPr>
        <p:txBody>
          <a:bodyPr wrap="square" tIns="18288" bIns="18288" lIns="45720" rIns="45720">
            <a:spAutoFit/>
          </a:bodyPr>
          <a:lstStyle/>
          <a:p>
            <a:pPr>
              <a:spcAft>
                <a:spcPts val="0"/>
              </a:spcAft>
            </a:pPr>
            <a:r>
              <a:rPr sz="720" b="1">
                <a:solidFill>
                  <a:srgbClr val="00E5FF"/>
                </a:solidFill>
                <a:latin typeface="JetBrains Mono"/>
              </a:rPr>
              <a:t>DELIMITER</a:t>
            </a:r>
            <a:r>
              <a:rPr sz="720">
                <a:solidFill>
                  <a:srgbClr val="F1F5F9"/>
                </a:solidFill>
                <a:latin typeface="JetBrains Mono"/>
              </a:rPr>
              <a:t> </a:t>
            </a:r>
            <a:r>
              <a:rPr sz="720">
                <a:solidFill>
                  <a:srgbClr val="F1F5F9"/>
                </a:solidFill>
                <a:latin typeface="JetBrains Mono"/>
              </a:rPr>
              <a:t>$$</a:t>
            </a:r>
          </a:p>
          <a:p>
            <a:pPr>
              <a:spcAft>
                <a:spcPts val="0"/>
              </a:spcAft>
            </a:pPr>
            <a:r>
              <a:rPr sz="720" b="1">
                <a:solidFill>
                  <a:srgbClr val="00E5FF"/>
                </a:solidFill>
                <a:latin typeface="JetBrains Mono"/>
              </a:rPr>
              <a:t>CREATE</a:t>
            </a:r>
            <a:r>
              <a:rPr sz="720">
                <a:solidFill>
                  <a:srgbClr val="F1F5F9"/>
                </a:solidFill>
                <a:latin typeface="JetBrains Mono"/>
              </a:rPr>
              <a:t> </a:t>
            </a:r>
            <a:r>
              <a:rPr sz="720" b="1">
                <a:solidFill>
                  <a:srgbClr val="00E5FF"/>
                </a:solidFill>
                <a:latin typeface="JetBrains Mono"/>
              </a:rPr>
              <a:t>PROCEDURE</a:t>
            </a:r>
            <a:r>
              <a:rPr sz="720">
                <a:solidFill>
                  <a:srgbClr val="F1F5F9"/>
                </a:solidFill>
                <a:latin typeface="JetBrains Mono"/>
              </a:rPr>
              <a:t> </a:t>
            </a:r>
            <a:r>
              <a:rPr sz="720">
                <a:solidFill>
                  <a:srgbClr val="F1F5F9"/>
                </a:solidFill>
                <a:latin typeface="JetBrains Mono"/>
              </a:rPr>
              <a:t>sp_CheckoutItem</a:t>
            </a:r>
            <a:r>
              <a:rPr sz="720">
                <a:solidFill>
                  <a:srgbClr val="F1F5F9"/>
                </a:solidFill>
                <a:latin typeface="JetBrains Mono"/>
              </a:rPr>
              <a:t>(</a:t>
            </a:r>
          </a:p>
          <a:p>
            <a:pPr>
              <a:spcAft>
                <a:spcPts val="0"/>
              </a:spcAft>
            </a:pPr>
            <a:r>
              <a:rPr sz="720">
                <a:solidFill>
                  <a:srgbClr val="F1F5F9"/>
                </a:solidFill>
                <a:latin typeface="JetBrains Mono"/>
              </a:rPr>
              <a:t>    </a:t>
            </a:r>
            <a:r>
              <a:rPr sz="720">
                <a:solidFill>
                  <a:srgbClr val="F1F5F9"/>
                </a:solidFill>
                <a:latin typeface="JetBrains Mono"/>
              </a:rPr>
              <a:t>IN</a:t>
            </a:r>
            <a:r>
              <a:rPr sz="720">
                <a:solidFill>
                  <a:srgbClr val="F1F5F9"/>
                </a:solidFill>
                <a:latin typeface="JetBrains Mono"/>
              </a:rPr>
              <a:t> </a:t>
            </a:r>
            <a:r>
              <a:rPr sz="720">
                <a:solidFill>
                  <a:srgbClr val="F59E0B"/>
                </a:solidFill>
                <a:latin typeface="JetBrains Mono"/>
              </a:rPr>
              <a:t>p_Nonota</a:t>
            </a:r>
            <a:r>
              <a:rPr sz="720">
                <a:solidFill>
                  <a:srgbClr val="F1F5F9"/>
                </a:solidFill>
                <a:latin typeface="JetBrains Mono"/>
              </a:rPr>
              <a:t> </a:t>
            </a:r>
            <a:r>
              <a:rPr sz="720" b="1">
                <a:solidFill>
                  <a:srgbClr val="C084FC"/>
                </a:solidFill>
                <a:latin typeface="JetBrains Mono"/>
              </a:rPr>
              <a:t>CHAR</a:t>
            </a:r>
            <a:r>
              <a:rPr sz="720">
                <a:solidFill>
                  <a:srgbClr val="F1F5F9"/>
                </a:solidFill>
                <a:latin typeface="JetBrains Mono"/>
              </a:rPr>
              <a:t>(</a:t>
            </a:r>
            <a:r>
              <a:rPr sz="720">
                <a:solidFill>
                  <a:srgbClr val="F87171"/>
                </a:solidFill>
                <a:latin typeface="JetBrains Mono"/>
              </a:rPr>
              <a:t>10</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IN</a:t>
            </a:r>
            <a:r>
              <a:rPr sz="720">
                <a:solidFill>
                  <a:srgbClr val="F1F5F9"/>
                </a:solidFill>
                <a:latin typeface="JetBrains Mono"/>
              </a:rPr>
              <a:t> </a:t>
            </a:r>
            <a:r>
              <a:rPr sz="720">
                <a:solidFill>
                  <a:srgbClr val="F59E0B"/>
                </a:solidFill>
                <a:latin typeface="JetBrains Mono"/>
              </a:rPr>
              <a:t>p_KodeProduk</a:t>
            </a:r>
            <a:r>
              <a:rPr sz="720">
                <a:solidFill>
                  <a:srgbClr val="F1F5F9"/>
                </a:solidFill>
                <a:latin typeface="JetBrains Mono"/>
              </a:rPr>
              <a:t> </a:t>
            </a:r>
            <a:r>
              <a:rPr sz="720" b="1">
                <a:solidFill>
                  <a:srgbClr val="C084FC"/>
                </a:solidFill>
                <a:latin typeface="JetBrains Mono"/>
              </a:rPr>
              <a:t>CHAR</a:t>
            </a:r>
            <a:r>
              <a:rPr sz="720">
                <a:solidFill>
                  <a:srgbClr val="F1F5F9"/>
                </a:solidFill>
                <a:latin typeface="JetBrains Mono"/>
              </a:rPr>
              <a:t>(</a:t>
            </a:r>
            <a:r>
              <a:rPr sz="720">
                <a:solidFill>
                  <a:srgbClr val="F87171"/>
                </a:solidFill>
                <a:latin typeface="JetBrains Mono"/>
              </a:rPr>
              <a:t>4</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IN</a:t>
            </a:r>
            <a:r>
              <a:rPr sz="720">
                <a:solidFill>
                  <a:srgbClr val="F1F5F9"/>
                </a:solidFill>
                <a:latin typeface="JetBrains Mono"/>
              </a:rPr>
              <a:t> </a:t>
            </a:r>
            <a:r>
              <a:rPr sz="720">
                <a:solidFill>
                  <a:srgbClr val="F59E0B"/>
                </a:solidFill>
                <a:latin typeface="JetBrains Mono"/>
              </a:rPr>
              <a:t>p_Qty</a:t>
            </a:r>
            <a:r>
              <a:rPr sz="720">
                <a:solidFill>
                  <a:srgbClr val="F1F5F9"/>
                </a:solidFill>
                <a:latin typeface="JetBrains Mono"/>
              </a:rPr>
              <a:t> </a:t>
            </a:r>
            <a:r>
              <a:rPr sz="720" b="1">
                <a:solidFill>
                  <a:srgbClr val="C084FC"/>
                </a:solidFill>
                <a:latin typeface="JetBrains Mono"/>
              </a:rPr>
              <a:t>INT</a:t>
            </a:r>
          </a:p>
          <a:p>
            <a:pPr>
              <a:spcAft>
                <a:spcPts val="0"/>
              </a:spcAft>
            </a:pPr>
            <a:r>
              <a:rPr sz="720">
                <a:solidFill>
                  <a:srgbClr val="F1F5F9"/>
                </a:solidFill>
                <a:latin typeface="JetBrains Mono"/>
              </a:rPr>
              <a:t>)</a:t>
            </a:r>
          </a:p>
          <a:p>
            <a:pPr>
              <a:spcAft>
                <a:spcPts val="0"/>
              </a:spcAft>
            </a:pPr>
            <a:r>
              <a:rPr sz="720" b="1">
                <a:solidFill>
                  <a:srgbClr val="00E5FF"/>
                </a:solidFill>
                <a:latin typeface="JetBrains Mono"/>
              </a:rPr>
              <a:t>BEGIN</a:t>
            </a:r>
          </a:p>
          <a:p>
            <a:pPr>
              <a:spcAft>
                <a:spcPts val="0"/>
              </a:spcAft>
            </a:pPr>
            <a:r>
              <a:rPr sz="720">
                <a:solidFill>
                  <a:srgbClr val="F1F5F9"/>
                </a:solidFill>
                <a:latin typeface="JetBrains Mono"/>
              </a:rPr>
              <a:t>    </a:t>
            </a:r>
            <a:r>
              <a:rPr sz="720" b="1">
                <a:solidFill>
                  <a:srgbClr val="00E5FF"/>
                </a:solidFill>
                <a:latin typeface="JetBrains Mono"/>
              </a:rPr>
              <a:t>DECLARE</a:t>
            </a:r>
            <a:r>
              <a:rPr sz="720">
                <a:solidFill>
                  <a:srgbClr val="F1F5F9"/>
                </a:solidFill>
                <a:latin typeface="JetBrains Mono"/>
              </a:rPr>
              <a:t> </a:t>
            </a:r>
            <a:r>
              <a:rPr sz="720">
                <a:solidFill>
                  <a:srgbClr val="F59E0B"/>
                </a:solidFill>
                <a:latin typeface="JetBrains Mono"/>
              </a:rPr>
              <a:t>v_stok_saat_ini</a:t>
            </a:r>
            <a:r>
              <a:rPr sz="720">
                <a:solidFill>
                  <a:srgbClr val="F1F5F9"/>
                </a:solidFill>
                <a:latin typeface="JetBrains Mono"/>
              </a:rPr>
              <a:t> </a:t>
            </a:r>
            <a:r>
              <a:rPr sz="720" b="1">
                <a:solidFill>
                  <a:srgbClr val="C084FC"/>
                </a:solidFill>
                <a:latin typeface="JetBrains Mono"/>
              </a:rPr>
              <a:t>INT</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DECLARE</a:t>
            </a:r>
            <a:r>
              <a:rPr sz="720">
                <a:solidFill>
                  <a:srgbClr val="F1F5F9"/>
                </a:solidFill>
                <a:latin typeface="JetBrains Mono"/>
              </a:rPr>
              <a:t> </a:t>
            </a:r>
            <a:r>
              <a:rPr sz="720">
                <a:solidFill>
                  <a:srgbClr val="F59E0B"/>
                </a:solidFill>
                <a:latin typeface="JetBrains Mono"/>
              </a:rPr>
              <a:t>v_harga_produk</a:t>
            </a:r>
            <a:r>
              <a:rPr sz="720">
                <a:solidFill>
                  <a:srgbClr val="F1F5F9"/>
                </a:solidFill>
                <a:latin typeface="JetBrains Mono"/>
              </a:rPr>
              <a:t> </a:t>
            </a:r>
            <a:r>
              <a:rPr sz="720" b="1">
                <a:solidFill>
                  <a:srgbClr val="C084FC"/>
                </a:solidFill>
                <a:latin typeface="JetBrains Mono"/>
              </a:rPr>
              <a:t>INT</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DECLARE</a:t>
            </a:r>
            <a:r>
              <a:rPr sz="720">
                <a:solidFill>
                  <a:srgbClr val="F1F5F9"/>
                </a:solidFill>
                <a:latin typeface="JetBrains Mono"/>
              </a:rPr>
              <a:t> </a:t>
            </a:r>
            <a:r>
              <a:rPr sz="720" b="1">
                <a:solidFill>
                  <a:srgbClr val="00E5FF"/>
                </a:solidFill>
                <a:latin typeface="JetBrains Mono"/>
              </a:rPr>
              <a:t>EXIT</a:t>
            </a:r>
            <a:r>
              <a:rPr sz="720">
                <a:solidFill>
                  <a:srgbClr val="F1F5F9"/>
                </a:solidFill>
                <a:latin typeface="JetBrains Mono"/>
              </a:rPr>
              <a:t> </a:t>
            </a:r>
            <a:r>
              <a:rPr sz="720" b="1">
                <a:solidFill>
                  <a:srgbClr val="00E5FF"/>
                </a:solidFill>
                <a:latin typeface="JetBrains Mono"/>
              </a:rPr>
              <a:t>HANDLER</a:t>
            </a:r>
            <a:r>
              <a:rPr sz="720">
                <a:solidFill>
                  <a:srgbClr val="F1F5F9"/>
                </a:solidFill>
                <a:latin typeface="JetBrains Mono"/>
              </a:rPr>
              <a:t> </a:t>
            </a:r>
            <a:r>
              <a:rPr sz="720" b="1">
                <a:solidFill>
                  <a:srgbClr val="00E5FF"/>
                </a:solidFill>
                <a:latin typeface="JetBrains Mono"/>
              </a:rPr>
              <a:t>FOR</a:t>
            </a:r>
            <a:r>
              <a:rPr sz="720">
                <a:solidFill>
                  <a:srgbClr val="F1F5F9"/>
                </a:solidFill>
                <a:latin typeface="JetBrains Mono"/>
              </a:rPr>
              <a:t> </a:t>
            </a:r>
            <a:r>
              <a:rPr sz="720">
                <a:solidFill>
                  <a:srgbClr val="F1F5F9"/>
                </a:solidFill>
                <a:latin typeface="JetBrains Mono"/>
              </a:rPr>
              <a:t>SQLEXCEPTION</a:t>
            </a:r>
          </a:p>
          <a:p>
            <a:pPr>
              <a:spcAft>
                <a:spcPts val="0"/>
              </a:spcAft>
            </a:pPr>
            <a:r>
              <a:rPr sz="720">
                <a:solidFill>
                  <a:srgbClr val="F1F5F9"/>
                </a:solidFill>
                <a:latin typeface="JetBrains Mono"/>
              </a:rPr>
              <a:t>    </a:t>
            </a:r>
            <a:r>
              <a:rPr sz="720" b="1">
                <a:solidFill>
                  <a:srgbClr val="00E5FF"/>
                </a:solidFill>
                <a:latin typeface="JetBrains Mono"/>
              </a:rPr>
              <a:t>BEGIN</a:t>
            </a:r>
          </a:p>
          <a:p>
            <a:pPr>
              <a:spcAft>
                <a:spcPts val="0"/>
              </a:spcAft>
            </a:pPr>
            <a:r>
              <a:rPr sz="720">
                <a:solidFill>
                  <a:srgbClr val="F1F5F9"/>
                </a:solidFill>
                <a:latin typeface="JetBrains Mono"/>
              </a:rPr>
              <a:t>        </a:t>
            </a:r>
            <a:r>
              <a:rPr sz="720" b="1">
                <a:solidFill>
                  <a:srgbClr val="00E5FF"/>
                </a:solidFill>
                <a:latin typeface="JetBrains Mono"/>
              </a:rPr>
              <a:t>ROLLBACK</a:t>
            </a:r>
            <a:r>
              <a:rPr sz="720">
                <a:solidFill>
                  <a:srgbClr val="F1F5F9"/>
                </a:solidFill>
                <a:latin typeface="JetBrains Mono"/>
              </a:rPr>
              <a:t>;</a:t>
            </a:r>
            <a:r>
              <a:rPr sz="720">
                <a:solidFill>
                  <a:srgbClr val="F1F5F9"/>
                </a:solidFill>
                <a:latin typeface="JetBrains Mono"/>
              </a:rPr>
              <a:t> </a:t>
            </a:r>
            <a:r>
              <a:rPr sz="720" i="1">
                <a:solidFill>
                  <a:srgbClr val="94A3B8"/>
                </a:solidFill>
                <a:latin typeface="JetBrains Mono"/>
              </a:rPr>
              <a:t>-- Batalkan seluruh perubahan jika terjadi galat</a:t>
            </a:r>
          </a:p>
          <a:p>
            <a:pPr>
              <a:spcAft>
                <a:spcPts val="0"/>
              </a:spcAft>
            </a:pPr>
            <a:r>
              <a:rPr sz="720">
                <a:solidFill>
                  <a:srgbClr val="F1F5F9"/>
                </a:solidFill>
                <a:latin typeface="JetBrains Mono"/>
              </a:rPr>
              <a:t>        </a:t>
            </a:r>
            <a:r>
              <a:rPr sz="720" b="1">
                <a:solidFill>
                  <a:srgbClr val="00E5FF"/>
                </a:solidFill>
                <a:latin typeface="JetBrains Mono"/>
              </a:rPr>
              <a:t>SIGNAL</a:t>
            </a:r>
            <a:r>
              <a:rPr sz="720">
                <a:solidFill>
                  <a:srgbClr val="F1F5F9"/>
                </a:solidFill>
                <a:latin typeface="JetBrains Mono"/>
              </a:rPr>
              <a:t> </a:t>
            </a:r>
            <a:r>
              <a:rPr sz="720" b="1">
                <a:solidFill>
                  <a:srgbClr val="00E5FF"/>
                </a:solidFill>
                <a:latin typeface="JetBrains Mono"/>
              </a:rPr>
              <a:t>SQLSTATE</a:t>
            </a:r>
            <a:r>
              <a:rPr sz="720">
                <a:solidFill>
                  <a:srgbClr val="F1F5F9"/>
                </a:solidFill>
                <a:latin typeface="JetBrains Mono"/>
              </a:rPr>
              <a:t> </a:t>
            </a:r>
            <a:r>
              <a:rPr sz="720">
                <a:solidFill>
                  <a:srgbClr val="34D399"/>
                </a:solidFill>
                <a:latin typeface="JetBrains Mono"/>
              </a:rPr>
              <a:t>'45000'</a:t>
            </a:r>
            <a:r>
              <a:rPr sz="720">
                <a:solidFill>
                  <a:srgbClr val="F1F5F9"/>
                </a:solidFill>
                <a:latin typeface="JetBrains Mono"/>
              </a:rPr>
              <a:t> </a:t>
            </a:r>
            <a:r>
              <a:rPr sz="720" b="1">
                <a:solidFill>
                  <a:srgbClr val="00E5FF"/>
                </a:solidFill>
                <a:latin typeface="JetBrains Mono"/>
              </a:rPr>
              <a:t>SET</a:t>
            </a:r>
            <a:r>
              <a:rPr sz="720">
                <a:solidFill>
                  <a:srgbClr val="F1F5F9"/>
                </a:solidFill>
                <a:latin typeface="JetBrains Mono"/>
              </a:rPr>
              <a:t> </a:t>
            </a:r>
            <a:r>
              <a:rPr sz="720">
                <a:solidFill>
                  <a:srgbClr val="F1F5F9"/>
                </a:solidFill>
                <a:latin typeface="JetBrains Mono"/>
              </a:rPr>
              <a:t>MESSAGE_TEXT</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 </a:t>
            </a:r>
            <a:r>
              <a:rPr sz="720">
                <a:solidFill>
                  <a:srgbClr val="34D399"/>
                </a:solidFill>
                <a:latin typeface="JetBrains Mono"/>
              </a:rPr>
              <a:t>'Transaksi kasir gagal. Rollback executed.'</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END</a:t>
            </a:r>
            <a:r>
              <a:rPr sz="720">
                <a:solidFill>
                  <a:srgbClr val="F1F5F9"/>
                </a:solidFill>
                <a:latin typeface="JetBrains Mono"/>
              </a:rPr>
              <a:t>;</a:t>
            </a:r>
          </a:p>
          <a:p>
            <a:pPr>
              <a:spcAft>
                <a:spcPts val="0"/>
              </a:spcAft>
            </a:pPr>
            <a:r>
              <a:t> </a:t>
            </a:r>
          </a:p>
          <a:p>
            <a:pPr>
              <a:spcAft>
                <a:spcPts val="0"/>
              </a:spcAft>
            </a:pPr>
            <a:r>
              <a:rPr sz="720">
                <a:solidFill>
                  <a:srgbClr val="F1F5F9"/>
                </a:solidFill>
                <a:latin typeface="JetBrains Mono"/>
              </a:rPr>
              <a:t>    </a:t>
            </a:r>
            <a:r>
              <a:rPr sz="720" b="1">
                <a:solidFill>
                  <a:srgbClr val="00E5FF"/>
                </a:solidFill>
                <a:latin typeface="JetBrains Mono"/>
              </a:rPr>
              <a:t>START</a:t>
            </a:r>
            <a:r>
              <a:rPr sz="720">
                <a:solidFill>
                  <a:srgbClr val="F1F5F9"/>
                </a:solidFill>
                <a:latin typeface="JetBrains Mono"/>
              </a:rPr>
              <a:t> </a:t>
            </a:r>
            <a:r>
              <a:rPr sz="720" b="1">
                <a:solidFill>
                  <a:srgbClr val="00E5FF"/>
                </a:solidFill>
                <a:latin typeface="JetBrains Mono"/>
              </a:rPr>
              <a:t>TRANSACTION</a:t>
            </a:r>
            <a:r>
              <a:rPr sz="720">
                <a:solidFill>
                  <a:srgbClr val="F1F5F9"/>
                </a:solidFill>
                <a:latin typeface="JetBrains Mono"/>
              </a:rPr>
              <a:t>;</a:t>
            </a:r>
          </a:p>
          <a:p>
            <a:pPr>
              <a:spcAft>
                <a:spcPts val="0"/>
              </a:spcAft>
            </a:pPr>
            <a:r>
              <a:rPr sz="720">
                <a:solidFill>
                  <a:srgbClr val="F1F5F9"/>
                </a:solidFill>
                <a:latin typeface="JetBrains Mono"/>
              </a:rPr>
              <a:t>    </a:t>
            </a:r>
            <a:r>
              <a:rPr sz="720" i="1">
                <a:solidFill>
                  <a:srgbClr val="94A3B8"/>
                </a:solidFill>
                <a:latin typeface="JetBrains Mono"/>
              </a:rPr>
              <a:t>-- 1. Validasi persediaan stok barang</a:t>
            </a:r>
          </a:p>
          <a:p>
            <a:pPr>
              <a:spcAft>
                <a:spcPts val="0"/>
              </a:spcAft>
            </a:pPr>
            <a:r>
              <a:rPr sz="720">
                <a:solidFill>
                  <a:srgbClr val="F1F5F9"/>
                </a:solidFill>
                <a:latin typeface="JetBrains Mono"/>
              </a:rPr>
              <a:t>    </a:t>
            </a:r>
            <a:r>
              <a:rPr sz="720" b="1">
                <a:solidFill>
                  <a:srgbClr val="00E5FF"/>
                </a:solidFill>
                <a:latin typeface="JetBrains Mono"/>
              </a:rPr>
              <a:t>SELECT</a:t>
            </a:r>
            <a:r>
              <a:rPr sz="720">
                <a:solidFill>
                  <a:srgbClr val="F1F5F9"/>
                </a:solidFill>
                <a:latin typeface="JetBrains Mono"/>
              </a:rPr>
              <a:t> </a:t>
            </a:r>
            <a:r>
              <a:rPr sz="720">
                <a:solidFill>
                  <a:srgbClr val="F1F5F9"/>
                </a:solidFill>
                <a:latin typeface="JetBrains Mono"/>
              </a:rPr>
              <a:t>stok</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Harga</a:t>
            </a:r>
            <a:r>
              <a:rPr sz="720">
                <a:solidFill>
                  <a:srgbClr val="F1F5F9"/>
                </a:solidFill>
                <a:latin typeface="JetBrains Mono"/>
              </a:rPr>
              <a:t> </a:t>
            </a:r>
            <a:r>
              <a:rPr sz="720" b="1">
                <a:solidFill>
                  <a:srgbClr val="00E5FF"/>
                </a:solidFill>
                <a:latin typeface="JetBrains Mono"/>
              </a:rPr>
              <a:t>INTO</a:t>
            </a:r>
            <a:r>
              <a:rPr sz="720">
                <a:solidFill>
                  <a:srgbClr val="F1F5F9"/>
                </a:solidFill>
                <a:latin typeface="JetBrains Mono"/>
              </a:rPr>
              <a:t> </a:t>
            </a:r>
            <a:r>
              <a:rPr sz="720">
                <a:solidFill>
                  <a:srgbClr val="F59E0B"/>
                </a:solidFill>
                <a:latin typeface="JetBrains Mono"/>
              </a:rPr>
              <a:t>v_stok_saat_ini</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v_harga_produk</a:t>
            </a:r>
            <a:r>
              <a:rPr sz="720">
                <a:solidFill>
                  <a:srgbClr val="F1F5F9"/>
                </a:solidFill>
                <a:latin typeface="JetBrains Mono"/>
              </a:rPr>
              <a:t> </a:t>
            </a:r>
            <a:r>
              <a:rPr sz="720" b="1">
                <a:solidFill>
                  <a:srgbClr val="00E5FF"/>
                </a:solidFill>
                <a:latin typeface="JetBrains Mono"/>
              </a:rPr>
              <a:t>FROM</a:t>
            </a:r>
            <a:r>
              <a:rPr sz="720">
                <a:solidFill>
                  <a:srgbClr val="F1F5F9"/>
                </a:solidFill>
                <a:latin typeface="JetBrains Mono"/>
              </a:rPr>
              <a:t> </a:t>
            </a:r>
            <a:r>
              <a:rPr sz="720">
                <a:solidFill>
                  <a:srgbClr val="F1F5F9"/>
                </a:solidFill>
                <a:latin typeface="JetBrains Mono"/>
              </a:rPr>
              <a:t>produk</a:t>
            </a:r>
            <a:r>
              <a:rPr sz="720">
                <a:solidFill>
                  <a:srgbClr val="F1F5F9"/>
                </a:solidFill>
                <a:latin typeface="JetBrains Mono"/>
              </a:rPr>
              <a:t> </a:t>
            </a:r>
            <a:r>
              <a:rPr sz="720" b="1">
                <a:solidFill>
                  <a:srgbClr val="00E5FF"/>
                </a:solidFill>
                <a:latin typeface="JetBrains Mono"/>
              </a:rPr>
              <a:t>WHERE</a:t>
            </a:r>
            <a:r>
              <a:rPr sz="720">
                <a:solidFill>
                  <a:srgbClr val="F1F5F9"/>
                </a:solidFill>
                <a:latin typeface="JetBrains Mono"/>
              </a:rPr>
              <a:t> </a:t>
            </a:r>
            <a:r>
              <a:rPr sz="720">
                <a:solidFill>
                  <a:srgbClr val="F1F5F9"/>
                </a:solidFill>
                <a:latin typeface="JetBrains Mono"/>
              </a:rPr>
              <a:t>KodeProduk</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p_KodeProduk</a:t>
            </a:r>
            <a:r>
              <a:rPr sz="720">
                <a:solidFill>
                  <a:srgbClr val="F1F5F9"/>
                </a:solidFill>
                <a:latin typeface="JetBrains Mono"/>
              </a:rPr>
              <a:t> </a:t>
            </a:r>
            <a:r>
              <a:rPr sz="720" b="1">
                <a:solidFill>
                  <a:srgbClr val="00E5FF"/>
                </a:solidFill>
                <a:latin typeface="JetBrains Mono"/>
              </a:rPr>
              <a:t>FOR</a:t>
            </a:r>
            <a:r>
              <a:rPr sz="720">
                <a:solidFill>
                  <a:srgbClr val="F1F5F9"/>
                </a:solidFill>
                <a:latin typeface="JetBrains Mono"/>
              </a:rPr>
              <a:t> </a:t>
            </a:r>
            <a:r>
              <a:rPr sz="720" b="1">
                <a:solidFill>
                  <a:srgbClr val="00E5FF"/>
                </a:solidFill>
                <a:latin typeface="JetBrains Mono"/>
              </a:rPr>
              <a:t>UPDATE</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IF</a:t>
            </a:r>
            <a:r>
              <a:rPr sz="720">
                <a:solidFill>
                  <a:srgbClr val="F1F5F9"/>
                </a:solidFill>
                <a:latin typeface="JetBrains Mono"/>
              </a:rPr>
              <a:t> </a:t>
            </a:r>
            <a:r>
              <a:rPr sz="720">
                <a:solidFill>
                  <a:srgbClr val="F59E0B"/>
                </a:solidFill>
                <a:latin typeface="JetBrains Mono"/>
              </a:rPr>
              <a:t>v_stok_saat_ini</a:t>
            </a:r>
            <a:r>
              <a:rPr sz="720">
                <a:solidFill>
                  <a:srgbClr val="F1F5F9"/>
                </a:solidFill>
                <a:latin typeface="JetBrains Mono"/>
              </a:rPr>
              <a:t> </a:t>
            </a:r>
            <a:r>
              <a:rPr sz="720">
                <a:solidFill>
                  <a:srgbClr val="F1F5F9"/>
                </a:solidFill>
                <a:latin typeface="JetBrains Mono"/>
              </a:rPr>
              <a:t>&lt;</a:t>
            </a:r>
            <a:r>
              <a:rPr sz="720">
                <a:solidFill>
                  <a:srgbClr val="F1F5F9"/>
                </a:solidFill>
                <a:latin typeface="JetBrains Mono"/>
              </a:rPr>
              <a:t> </a:t>
            </a:r>
            <a:r>
              <a:rPr sz="720">
                <a:solidFill>
                  <a:srgbClr val="F59E0B"/>
                </a:solidFill>
                <a:latin typeface="JetBrains Mono"/>
              </a:rPr>
              <a:t>p_Qty</a:t>
            </a:r>
            <a:r>
              <a:rPr sz="720">
                <a:solidFill>
                  <a:srgbClr val="F1F5F9"/>
                </a:solidFill>
                <a:latin typeface="JetBrains Mono"/>
              </a:rPr>
              <a:t> </a:t>
            </a:r>
            <a:r>
              <a:rPr sz="720" b="1">
                <a:solidFill>
                  <a:srgbClr val="00E5FF"/>
                </a:solidFill>
                <a:latin typeface="JetBrains Mono"/>
              </a:rPr>
              <a:t>THEN</a:t>
            </a:r>
          </a:p>
          <a:p>
            <a:pPr>
              <a:spcAft>
                <a:spcPts val="0"/>
              </a:spcAft>
            </a:pPr>
            <a:r>
              <a:rPr sz="720">
                <a:solidFill>
                  <a:srgbClr val="F1F5F9"/>
                </a:solidFill>
                <a:latin typeface="JetBrains Mono"/>
              </a:rPr>
              <a:t>        </a:t>
            </a:r>
            <a:r>
              <a:rPr sz="720" b="1">
                <a:solidFill>
                  <a:srgbClr val="00E5FF"/>
                </a:solidFill>
                <a:latin typeface="JetBrains Mono"/>
              </a:rPr>
              <a:t>SIGNAL</a:t>
            </a:r>
            <a:r>
              <a:rPr sz="720">
                <a:solidFill>
                  <a:srgbClr val="F1F5F9"/>
                </a:solidFill>
                <a:latin typeface="JetBrains Mono"/>
              </a:rPr>
              <a:t> </a:t>
            </a:r>
            <a:r>
              <a:rPr sz="720" b="1">
                <a:solidFill>
                  <a:srgbClr val="00E5FF"/>
                </a:solidFill>
                <a:latin typeface="JetBrains Mono"/>
              </a:rPr>
              <a:t>SQLSTATE</a:t>
            </a:r>
            <a:r>
              <a:rPr sz="720">
                <a:solidFill>
                  <a:srgbClr val="F1F5F9"/>
                </a:solidFill>
                <a:latin typeface="JetBrains Mono"/>
              </a:rPr>
              <a:t> </a:t>
            </a:r>
            <a:r>
              <a:rPr sz="720">
                <a:solidFill>
                  <a:srgbClr val="34D399"/>
                </a:solidFill>
                <a:latin typeface="JetBrains Mono"/>
              </a:rPr>
              <a:t>'45000'</a:t>
            </a:r>
            <a:r>
              <a:rPr sz="720">
                <a:solidFill>
                  <a:srgbClr val="F1F5F9"/>
                </a:solidFill>
                <a:latin typeface="JetBrains Mono"/>
              </a:rPr>
              <a:t> </a:t>
            </a:r>
            <a:r>
              <a:rPr sz="720" b="1">
                <a:solidFill>
                  <a:srgbClr val="00E5FF"/>
                </a:solidFill>
                <a:latin typeface="JetBrains Mono"/>
              </a:rPr>
              <a:t>SET</a:t>
            </a:r>
            <a:r>
              <a:rPr sz="720">
                <a:solidFill>
                  <a:srgbClr val="F1F5F9"/>
                </a:solidFill>
                <a:latin typeface="JetBrains Mono"/>
              </a:rPr>
              <a:t> </a:t>
            </a:r>
            <a:r>
              <a:rPr sz="720">
                <a:solidFill>
                  <a:srgbClr val="F1F5F9"/>
                </a:solidFill>
                <a:latin typeface="JetBrains Mono"/>
              </a:rPr>
              <a:t>MESSAGE_TEXT</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 </a:t>
            </a:r>
            <a:r>
              <a:rPr sz="720">
                <a:solidFill>
                  <a:srgbClr val="34D399"/>
                </a:solidFill>
                <a:latin typeface="JetBrains Mono"/>
              </a:rPr>
              <a:t>'Stok barang tidak mencukupi untuk checkout.'</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END</a:t>
            </a:r>
            <a:r>
              <a:rPr sz="720">
                <a:solidFill>
                  <a:srgbClr val="F1F5F9"/>
                </a:solidFill>
                <a:latin typeface="JetBrains Mono"/>
              </a:rPr>
              <a:t> </a:t>
            </a:r>
            <a:r>
              <a:rPr sz="720" b="1">
                <a:solidFill>
                  <a:srgbClr val="00E5FF"/>
                </a:solidFill>
                <a:latin typeface="JetBrains Mono"/>
              </a:rPr>
              <a:t>IF</a:t>
            </a:r>
            <a:r>
              <a:rPr sz="720">
                <a:solidFill>
                  <a:srgbClr val="F1F5F9"/>
                </a:solidFill>
                <a:latin typeface="JetBrains Mono"/>
              </a:rPr>
              <a:t>;</a:t>
            </a:r>
          </a:p>
          <a:p>
            <a:pPr>
              <a:spcAft>
                <a:spcPts val="0"/>
              </a:spcAft>
            </a:pPr>
            <a:r>
              <a:t> </a:t>
            </a:r>
          </a:p>
          <a:p>
            <a:pPr>
              <a:spcAft>
                <a:spcPts val="0"/>
              </a:spcAft>
            </a:pPr>
            <a:r>
              <a:rPr sz="720">
                <a:solidFill>
                  <a:srgbClr val="F1F5F9"/>
                </a:solidFill>
                <a:latin typeface="JetBrains Mono"/>
              </a:rPr>
              <a:t>    </a:t>
            </a:r>
            <a:r>
              <a:rPr sz="720" i="1">
                <a:solidFill>
                  <a:srgbClr val="94A3B8"/>
                </a:solidFill>
                <a:latin typeface="JetBrains Mono"/>
              </a:rPr>
              <a:t>-- 2. Masukkan item transaksi &amp; kurangi stok fisik</a:t>
            </a:r>
          </a:p>
          <a:p>
            <a:pPr>
              <a:spcAft>
                <a:spcPts val="0"/>
              </a:spcAft>
            </a:pPr>
            <a:r>
              <a:rPr sz="720">
                <a:solidFill>
                  <a:srgbClr val="F1F5F9"/>
                </a:solidFill>
                <a:latin typeface="JetBrains Mono"/>
              </a:rPr>
              <a:t>    </a:t>
            </a:r>
            <a:r>
              <a:rPr sz="720" b="1">
                <a:solidFill>
                  <a:srgbClr val="00E5FF"/>
                </a:solidFill>
                <a:latin typeface="JetBrains Mono"/>
              </a:rPr>
              <a:t>INSERT</a:t>
            </a:r>
            <a:r>
              <a:rPr sz="720">
                <a:solidFill>
                  <a:srgbClr val="F1F5F9"/>
                </a:solidFill>
                <a:latin typeface="JetBrains Mono"/>
              </a:rPr>
              <a:t> </a:t>
            </a:r>
            <a:r>
              <a:rPr sz="720" b="1">
                <a:solidFill>
                  <a:srgbClr val="00E5FF"/>
                </a:solidFill>
                <a:latin typeface="JetBrains Mono"/>
              </a:rPr>
              <a:t>INTO</a:t>
            </a:r>
            <a:r>
              <a:rPr sz="720">
                <a:solidFill>
                  <a:srgbClr val="F1F5F9"/>
                </a:solidFill>
                <a:latin typeface="JetBrains Mono"/>
              </a:rPr>
              <a:t> </a:t>
            </a:r>
            <a:r>
              <a:rPr sz="720">
                <a:solidFill>
                  <a:srgbClr val="F1F5F9"/>
                </a:solidFill>
                <a:latin typeface="JetBrains Mono"/>
              </a:rPr>
              <a:t>itemnota</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Nonota</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KodeProduk</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banyak</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hargajual</a:t>
            </a:r>
            <a:r>
              <a:rPr sz="720">
                <a:solidFill>
                  <a:srgbClr val="F1F5F9"/>
                </a:solidFill>
                <a:latin typeface="JetBrains Mono"/>
              </a:rPr>
              <a:t>)</a:t>
            </a:r>
            <a:r>
              <a:rPr sz="720">
                <a:solidFill>
                  <a:srgbClr val="F1F5F9"/>
                </a:solidFill>
                <a:latin typeface="JetBrains Mono"/>
              </a:rPr>
              <a:t> </a:t>
            </a:r>
            <a:r>
              <a:rPr sz="720" b="1">
                <a:solidFill>
                  <a:srgbClr val="00E5FF"/>
                </a:solidFill>
                <a:latin typeface="JetBrains Mono"/>
              </a:rPr>
              <a:t>VALUES</a:t>
            </a:r>
            <a:r>
              <a:rPr sz="720">
                <a:solidFill>
                  <a:srgbClr val="F1F5F9"/>
                </a:solidFill>
                <a:latin typeface="JetBrains Mono"/>
              </a:rPr>
              <a:t> </a:t>
            </a:r>
            <a:r>
              <a:rPr sz="720">
                <a:solidFill>
                  <a:srgbClr val="F1F5F9"/>
                </a:solidFill>
                <a:latin typeface="JetBrains Mono"/>
              </a:rPr>
              <a:t>(</a:t>
            </a:r>
            <a:r>
              <a:rPr sz="720">
                <a:solidFill>
                  <a:srgbClr val="F59E0B"/>
                </a:solidFill>
                <a:latin typeface="JetBrains Mono"/>
              </a:rPr>
              <a:t>p_Nonota</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p_KodeProduk</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p_Qty</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v_harga_produk</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UPDATE</a:t>
            </a:r>
            <a:r>
              <a:rPr sz="720">
                <a:solidFill>
                  <a:srgbClr val="F1F5F9"/>
                </a:solidFill>
                <a:latin typeface="JetBrains Mono"/>
              </a:rPr>
              <a:t> </a:t>
            </a:r>
            <a:r>
              <a:rPr sz="720">
                <a:solidFill>
                  <a:srgbClr val="F1F5F9"/>
                </a:solidFill>
                <a:latin typeface="JetBrains Mono"/>
              </a:rPr>
              <a:t>produk</a:t>
            </a:r>
            <a:r>
              <a:rPr sz="720">
                <a:solidFill>
                  <a:srgbClr val="F1F5F9"/>
                </a:solidFill>
                <a:latin typeface="JetBrains Mono"/>
              </a:rPr>
              <a:t> </a:t>
            </a:r>
            <a:r>
              <a:rPr sz="720" b="1">
                <a:solidFill>
                  <a:srgbClr val="00E5FF"/>
                </a:solidFill>
                <a:latin typeface="JetBrains Mono"/>
              </a:rPr>
              <a:t>SET</a:t>
            </a:r>
            <a:r>
              <a:rPr sz="720">
                <a:solidFill>
                  <a:srgbClr val="F1F5F9"/>
                </a:solidFill>
                <a:latin typeface="JetBrains Mono"/>
              </a:rPr>
              <a:t> </a:t>
            </a:r>
            <a:r>
              <a:rPr sz="720">
                <a:solidFill>
                  <a:srgbClr val="F1F5F9"/>
                </a:solidFill>
                <a:latin typeface="JetBrains Mono"/>
              </a:rPr>
              <a:t>stok</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 </a:t>
            </a:r>
            <a:r>
              <a:rPr sz="720">
                <a:solidFill>
                  <a:srgbClr val="F1F5F9"/>
                </a:solidFill>
                <a:latin typeface="JetBrains Mono"/>
              </a:rPr>
              <a:t>stok</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p_Qty</a:t>
            </a:r>
            <a:r>
              <a:rPr sz="720">
                <a:solidFill>
                  <a:srgbClr val="F1F5F9"/>
                </a:solidFill>
                <a:latin typeface="JetBrains Mono"/>
              </a:rPr>
              <a:t> </a:t>
            </a:r>
            <a:r>
              <a:rPr sz="720" b="1">
                <a:solidFill>
                  <a:srgbClr val="00E5FF"/>
                </a:solidFill>
                <a:latin typeface="JetBrains Mono"/>
              </a:rPr>
              <a:t>WHERE</a:t>
            </a:r>
            <a:r>
              <a:rPr sz="720">
                <a:solidFill>
                  <a:srgbClr val="F1F5F9"/>
                </a:solidFill>
                <a:latin typeface="JetBrains Mono"/>
              </a:rPr>
              <a:t> </a:t>
            </a:r>
            <a:r>
              <a:rPr sz="720">
                <a:solidFill>
                  <a:srgbClr val="F1F5F9"/>
                </a:solidFill>
                <a:latin typeface="JetBrains Mono"/>
              </a:rPr>
              <a:t>KodeProduk</a:t>
            </a:r>
            <a:r>
              <a:rPr sz="720">
                <a:solidFill>
                  <a:srgbClr val="F1F5F9"/>
                </a:solidFill>
                <a:latin typeface="JetBrains Mono"/>
              </a:rPr>
              <a:t> </a:t>
            </a:r>
            <a:r>
              <a:rPr sz="720">
                <a:solidFill>
                  <a:srgbClr val="F1F5F9"/>
                </a:solidFill>
                <a:latin typeface="JetBrains Mono"/>
              </a:rPr>
              <a:t>=</a:t>
            </a:r>
            <a:r>
              <a:rPr sz="720">
                <a:solidFill>
                  <a:srgbClr val="F1F5F9"/>
                </a:solidFill>
                <a:latin typeface="JetBrains Mono"/>
              </a:rPr>
              <a:t> </a:t>
            </a:r>
            <a:r>
              <a:rPr sz="720">
                <a:solidFill>
                  <a:srgbClr val="F59E0B"/>
                </a:solidFill>
                <a:latin typeface="JetBrains Mono"/>
              </a:rPr>
              <a:t>p_KodeProduk</a:t>
            </a:r>
            <a:r>
              <a:rPr sz="720">
                <a:solidFill>
                  <a:srgbClr val="F1F5F9"/>
                </a:solidFill>
                <a:latin typeface="JetBrains Mono"/>
              </a:rPr>
              <a:t>;</a:t>
            </a:r>
          </a:p>
          <a:p>
            <a:pPr>
              <a:spcAft>
                <a:spcPts val="0"/>
              </a:spcAft>
            </a:pPr>
            <a:r>
              <a:rPr sz="720">
                <a:solidFill>
                  <a:srgbClr val="F1F5F9"/>
                </a:solidFill>
                <a:latin typeface="JetBrains Mono"/>
              </a:rPr>
              <a:t>    </a:t>
            </a:r>
            <a:r>
              <a:rPr sz="720" b="1">
                <a:solidFill>
                  <a:srgbClr val="00E5FF"/>
                </a:solidFill>
                <a:latin typeface="JetBrains Mono"/>
              </a:rPr>
              <a:t>COMMIT</a:t>
            </a:r>
            <a:r>
              <a:rPr sz="720">
                <a:solidFill>
                  <a:srgbClr val="F1F5F9"/>
                </a:solidFill>
                <a:latin typeface="JetBrains Mono"/>
              </a:rPr>
              <a:t>;</a:t>
            </a:r>
            <a:r>
              <a:rPr sz="720">
                <a:solidFill>
                  <a:srgbClr val="F1F5F9"/>
                </a:solidFill>
                <a:latin typeface="JetBrains Mono"/>
              </a:rPr>
              <a:t> </a:t>
            </a:r>
            <a:r>
              <a:rPr sz="720" i="1">
                <a:solidFill>
                  <a:srgbClr val="94A3B8"/>
                </a:solidFill>
                <a:latin typeface="JetBrains Mono"/>
              </a:rPr>
              <a:t>-- Simpan permanen perubahan transaksi</a:t>
            </a:r>
          </a:p>
          <a:p>
            <a:pPr>
              <a:spcAft>
                <a:spcPts val="0"/>
              </a:spcAft>
            </a:pPr>
            <a:r>
              <a:rPr sz="720" b="1">
                <a:solidFill>
                  <a:srgbClr val="00E5FF"/>
                </a:solidFill>
                <a:latin typeface="JetBrains Mono"/>
              </a:rPr>
              <a:t>END</a:t>
            </a:r>
            <a:r>
              <a:rPr sz="720">
                <a:solidFill>
                  <a:srgbClr val="F1F5F9"/>
                </a:solidFill>
                <a:latin typeface="JetBrains Mono"/>
              </a:rPr>
              <a:t>$$</a:t>
            </a:r>
          </a:p>
          <a:p>
            <a:pPr>
              <a:spcAft>
                <a:spcPts val="0"/>
              </a:spcAft>
            </a:pPr>
            <a:r>
              <a:rPr sz="720" b="1">
                <a:solidFill>
                  <a:srgbClr val="00E5FF"/>
                </a:solidFill>
                <a:latin typeface="JetBrains Mono"/>
              </a:rPr>
              <a:t>DELIMITER</a:t>
            </a:r>
            <a:r>
              <a:rPr sz="720">
                <a:solidFill>
                  <a:srgbClr val="F1F5F9"/>
                </a:solidFill>
                <a:latin typeface="JetBrains Mono"/>
              </a:rPr>
              <a:t> </a:t>
            </a:r>
            <a:r>
              <a:rPr sz="720">
                <a:solidFill>
                  <a:srgbClr val="F1F5F9"/>
                </a:solidFill>
                <a:latin typeface="JetBrains Mono"/>
              </a:rPr>
              <a:t>;</a:t>
            </a:r>
          </a:p>
        </p:txBody>
      </p:sp>
      <p:sp>
        <p:nvSpPr>
          <p:cNvPr id="14" name="Rounded Rectangle 13"/>
          <p:cNvSpPr/>
          <p:nvPr/>
        </p:nvSpPr>
        <p:spPr>
          <a:xfrm>
            <a:off x="7680960" y="1691640"/>
            <a:ext cx="3566160" cy="201168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5552" y="1819656"/>
            <a:ext cx="3236976" cy="1755648"/>
          </a:xfrm>
          <a:prstGeom prst="rect">
            <a:avLst/>
          </a:prstGeom>
          <a:noFill/>
        </p:spPr>
        <p:txBody>
          <a:bodyPr wrap="square">
            <a:spAutoFit/>
          </a:bodyPr>
          <a:lstStyle/>
          <a:p>
            <a:r>
              <a:rPr sz="1200" b="1">
                <a:solidFill>
                  <a:srgbClr val="FFFFFF"/>
                </a:solidFill>
                <a:latin typeface="Plus Jakarta Sans"/>
              </a:rPr>
              <a:t>Pessimistic Locking (FOR UPDATE)</a:t>
            </a:r>
          </a:p>
          <a:p>
            <a:pPr>
              <a:spcBef>
                <a:spcPts val="600"/>
              </a:spcBef>
            </a:pPr>
            <a:r>
              <a:rPr sz="950">
                <a:solidFill>
                  <a:srgbClr val="CBD5E1"/>
                </a:solidFill>
                <a:latin typeface="Inter"/>
              </a:rPr>
              <a:t>Klausa 'FOR UPDATE' mengunci baris produk yang sedang dibeli agar tidak dibaca/diubah transaksi lain secara bersamaan, mencegah masalah *race condition* stok negatif.</a:t>
            </a:r>
          </a:p>
        </p:txBody>
      </p:sp>
      <p:sp>
        <p:nvSpPr>
          <p:cNvPr id="16" name="Rounded Rectangle 15"/>
          <p:cNvSpPr/>
          <p:nvPr/>
        </p:nvSpPr>
        <p:spPr>
          <a:xfrm>
            <a:off x="7680960" y="3886200"/>
            <a:ext cx="3566160" cy="201168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45552" y="4014216"/>
            <a:ext cx="3236976" cy="1755648"/>
          </a:xfrm>
          <a:prstGeom prst="rect">
            <a:avLst/>
          </a:prstGeom>
          <a:noFill/>
        </p:spPr>
        <p:txBody>
          <a:bodyPr wrap="square">
            <a:spAutoFit/>
          </a:bodyPr>
          <a:lstStyle/>
          <a:p>
            <a:r>
              <a:rPr sz="1200" b="1">
                <a:solidFill>
                  <a:srgbClr val="FFFFFF"/>
                </a:solidFill>
                <a:latin typeface="Plus Jakarta Sans"/>
              </a:rPr>
              <a:t>ACID: START &amp; ROLLBACK</a:t>
            </a:r>
          </a:p>
          <a:p>
            <a:pPr>
              <a:spcBef>
                <a:spcPts val="600"/>
              </a:spcBef>
            </a:pPr>
            <a:r>
              <a:rPr sz="950">
                <a:solidFill>
                  <a:srgbClr val="CBD5E1"/>
                </a:solidFill>
                <a:latin typeface="Inter"/>
              </a:rPr>
              <a:t>Jika operasi insert ke itemnota berhasil namun update stok gagal, perintah ROLLBACK memastikan basis data kembali ke status awal yang bersih.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10 · LEMBAR TUGAS</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4 Tingkat Kesulitan Berjenjang</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10 Soal Praktikum Mandiri Bertingkat </a:t>
            </a:r>
            <a:r>
              <a:rPr sz="2100" b="1">
                <a:solidFill>
                  <a:srgbClr val="00E5FF"/>
                </a:solidFill>
                <a:latin typeface="Plus Jakarta Sans"/>
              </a:rPr>
              <a:t>Latihan Mandiri Mahasiswa</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2450592" cy="4206240"/>
          </a:xfrm>
          <a:prstGeom prst="roundRect">
            <a:avLst/>
          </a:prstGeom>
          <a:solidFill>
            <a:srgbClr val="132040"/>
          </a:solidFill>
          <a:ln w="1587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819656"/>
            <a:ext cx="2121408" cy="3950208"/>
          </a:xfrm>
          <a:prstGeom prst="rect">
            <a:avLst/>
          </a:prstGeom>
          <a:noFill/>
        </p:spPr>
        <p:txBody>
          <a:bodyPr wrap="square">
            <a:spAutoFit/>
          </a:bodyPr>
          <a:lstStyle/>
          <a:p>
            <a:r>
              <a:rPr sz="1050" b="1">
                <a:solidFill>
                  <a:srgbClr val="00E5FF"/>
                </a:solidFill>
                <a:latin typeface="JetBrains Mono"/>
              </a:rPr>
              <a:t>[Level 1] </a:t>
            </a:r>
            <a:r>
              <a:rPr sz="1200" b="1">
                <a:solidFill>
                  <a:srgbClr val="FFFFFF"/>
                </a:solidFill>
                <a:latin typeface="Plus Jakarta Sans"/>
              </a:rPr>
              <a:t>Tingkat 1: UDF Skalar</a:t>
            </a:r>
          </a:p>
          <a:p>
            <a:pPr>
              <a:spcBef>
                <a:spcPts val="600"/>
              </a:spcBef>
            </a:pPr>
            <a:r>
              <a:rPr sz="950">
                <a:solidFill>
                  <a:srgbClr val="CBD5E1"/>
                </a:solidFill>
                <a:latin typeface="Inter"/>
              </a:rPr>
              <a:t>• Soal 1: UDF fcCekStatusStok (KOSONG, KRITIS, TERSEDIA)
• Soal 2: UDF fcLevelLoyalitas (PLATINUM, GOLD, SILVER, BRONZE)
• Soal 3: UDF fcFormatRupiah ('Rp. 15.000')</a:t>
            </a:r>
          </a:p>
        </p:txBody>
      </p:sp>
      <p:sp>
        <p:nvSpPr>
          <p:cNvPr id="10" name="Rounded Rectangle 9"/>
          <p:cNvSpPr/>
          <p:nvPr/>
        </p:nvSpPr>
        <p:spPr>
          <a:xfrm>
            <a:off x="3547872" y="1691640"/>
            <a:ext cx="2450592" cy="4206240"/>
          </a:xfrm>
          <a:prstGeom prst="roundRect">
            <a:avLst/>
          </a:prstGeom>
          <a:solidFill>
            <a:srgbClr val="101A34"/>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2464" y="1819656"/>
            <a:ext cx="2121408" cy="3950208"/>
          </a:xfrm>
          <a:prstGeom prst="rect">
            <a:avLst/>
          </a:prstGeom>
          <a:noFill/>
        </p:spPr>
        <p:txBody>
          <a:bodyPr wrap="square">
            <a:spAutoFit/>
          </a:bodyPr>
          <a:lstStyle/>
          <a:p>
            <a:r>
              <a:rPr sz="1050" b="1">
                <a:solidFill>
                  <a:srgbClr val="00E5FF"/>
                </a:solidFill>
                <a:latin typeface="JetBrains Mono"/>
              </a:rPr>
              <a:t>[Level 2] </a:t>
            </a:r>
            <a:r>
              <a:rPr sz="1200" b="1">
                <a:solidFill>
                  <a:srgbClr val="FFFFFF"/>
                </a:solidFill>
                <a:latin typeface="Plus Jakarta Sans"/>
              </a:rPr>
              <a:t>Tingkat 2: Stored Procedure</a:t>
            </a:r>
          </a:p>
          <a:p>
            <a:pPr>
              <a:spcBef>
                <a:spcPts val="600"/>
              </a:spcBef>
            </a:pPr>
            <a:r>
              <a:rPr sz="950">
                <a:solidFill>
                  <a:srgbClr val="CBD5E1"/>
                </a:solidFill>
                <a:latin typeface="Inter"/>
              </a:rPr>
              <a:t>• Soal 4: SP sp_RegistrasiCustomer (Insert + auto umur)
• Soal 5: SP sp_GantiPasswordKasir (Validasi 6 digit)
• Soal 6: SP sp_TotalBelanjaNota (Parameter OUT grand total)</a:t>
            </a:r>
          </a:p>
        </p:txBody>
      </p:sp>
      <p:sp>
        <p:nvSpPr>
          <p:cNvPr id="12" name="Rounded Rectangle 11"/>
          <p:cNvSpPr/>
          <p:nvPr/>
        </p:nvSpPr>
        <p:spPr>
          <a:xfrm>
            <a:off x="6181344" y="1691640"/>
            <a:ext cx="2450592" cy="4206240"/>
          </a:xfrm>
          <a:prstGeom prst="roundRect">
            <a:avLst/>
          </a:prstGeom>
          <a:solidFill>
            <a:srgbClr val="101A3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819656"/>
            <a:ext cx="2121408" cy="3950208"/>
          </a:xfrm>
          <a:prstGeom prst="rect">
            <a:avLst/>
          </a:prstGeom>
          <a:noFill/>
        </p:spPr>
        <p:txBody>
          <a:bodyPr wrap="square">
            <a:spAutoFit/>
          </a:bodyPr>
          <a:lstStyle/>
          <a:p>
            <a:r>
              <a:rPr sz="1050" b="1">
                <a:solidFill>
                  <a:srgbClr val="00E5FF"/>
                </a:solidFill>
                <a:latin typeface="JetBrains Mono"/>
              </a:rPr>
              <a:t>[Level 3] </a:t>
            </a:r>
            <a:r>
              <a:rPr sz="1200" b="1">
                <a:solidFill>
                  <a:srgbClr val="FFFFFF"/>
                </a:solidFill>
                <a:latin typeface="Plus Jakarta Sans"/>
              </a:rPr>
              <a:t>Tingkat 3: CURSOR Loop</a:t>
            </a:r>
          </a:p>
          <a:p>
            <a:pPr>
              <a:spcBef>
                <a:spcPts val="600"/>
              </a:spcBef>
            </a:pPr>
            <a:r>
              <a:rPr sz="950">
                <a:solidFill>
                  <a:srgbClr val="CBD5E1"/>
                </a:solidFill>
                <a:latin typeface="Inter"/>
              </a:rPr>
              <a:t>• Soal 7: SP sp_AkumulasiPoinNota (Loop baris per customer)
• Soal 8: SP sp_LaporanRestokOtomatis (Loop stok &lt; 10)</a:t>
            </a:r>
          </a:p>
        </p:txBody>
      </p:sp>
      <p:sp>
        <p:nvSpPr>
          <p:cNvPr id="14" name="Rounded Rectangle 13"/>
          <p:cNvSpPr/>
          <p:nvPr/>
        </p:nvSpPr>
        <p:spPr>
          <a:xfrm>
            <a:off x="8814816" y="1691640"/>
            <a:ext cx="2450592" cy="4206240"/>
          </a:xfrm>
          <a:prstGeom prst="roundRect">
            <a:avLst/>
          </a:prstGeom>
          <a:solidFill>
            <a:srgbClr val="101A34"/>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79408" y="1819656"/>
            <a:ext cx="2121408" cy="3950208"/>
          </a:xfrm>
          <a:prstGeom prst="rect">
            <a:avLst/>
          </a:prstGeom>
          <a:noFill/>
        </p:spPr>
        <p:txBody>
          <a:bodyPr wrap="square">
            <a:spAutoFit/>
          </a:bodyPr>
          <a:lstStyle/>
          <a:p>
            <a:r>
              <a:rPr sz="1050" b="1">
                <a:solidFill>
                  <a:srgbClr val="00E5FF"/>
                </a:solidFill>
                <a:latin typeface="JetBrains Mono"/>
              </a:rPr>
              <a:t>[Level 4] </a:t>
            </a:r>
            <a:r>
              <a:rPr sz="1200" b="1">
                <a:solidFill>
                  <a:srgbClr val="FFFFFF"/>
                </a:solidFill>
                <a:latin typeface="Plus Jakarta Sans"/>
              </a:rPr>
              <a:t>Tingkat 4: Error Handling</a:t>
            </a:r>
          </a:p>
          <a:p>
            <a:pPr>
              <a:spcBef>
                <a:spcPts val="600"/>
              </a:spcBef>
            </a:pPr>
            <a:r>
              <a:rPr sz="950">
                <a:solidFill>
                  <a:srgbClr val="CBD5E1"/>
                </a:solidFill>
                <a:latin typeface="Inter"/>
              </a:rPr>
              <a:t>• Soal 9: SP sp_BatalNotaTransaksi (Rollback stok + SIGNAL)
• Soal 10: SP sp_AuditKasirProteksi (Catat log ke tabel audit)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g_16_9.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365760"/>
            <a:ext cx="11002975" cy="6126480"/>
          </a:xfrm>
          <a:prstGeom prst="roundRect">
            <a:avLst/>
          </a:prstGeom>
          <a:solidFill>
            <a:srgbClr val="0B1122"/>
          </a:solidFill>
          <a:ln w="15875">
            <a:solidFill>
              <a:srgbClr val="28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94360"/>
            <a:ext cx="2468880" cy="329184"/>
          </a:xfrm>
          <a:prstGeom prst="roundRect">
            <a:avLst/>
          </a:prstGeom>
          <a:solidFill>
            <a:srgbClr val="0C1C38"/>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JetBrains Mono"/>
              </a:defRPr>
            </a:pPr>
            <a:r>
              <a:t>● 11 · PANDUAN ASPRAK</a:t>
            </a:r>
          </a:p>
        </p:txBody>
      </p:sp>
      <p:sp>
        <p:nvSpPr>
          <p:cNvPr id="5" name="TextBox 4"/>
          <p:cNvSpPr txBox="1"/>
          <p:nvPr/>
        </p:nvSpPr>
        <p:spPr>
          <a:xfrm>
            <a:off x="6400800" y="594360"/>
            <a:ext cx="4846320" cy="329184"/>
          </a:xfrm>
          <a:prstGeom prst="rect">
            <a:avLst/>
          </a:prstGeom>
          <a:noFill/>
        </p:spPr>
        <p:txBody>
          <a:bodyPr wrap="none">
            <a:spAutoFit/>
          </a:bodyPr>
          <a:lstStyle/>
          <a:p>
            <a:pPr algn="r">
              <a:defRPr sz="1000">
                <a:solidFill>
                  <a:srgbClr val="94A3B8"/>
                </a:solidFill>
                <a:latin typeface="Inter"/>
              </a:defRPr>
            </a:pPr>
            <a:r>
              <a:t>Pedoman Khusus Dosen &amp; Asisten</a:t>
            </a:r>
          </a:p>
        </p:txBody>
      </p:sp>
      <p:sp>
        <p:nvSpPr>
          <p:cNvPr id="6" name="TextBox 5"/>
          <p:cNvSpPr txBox="1"/>
          <p:nvPr/>
        </p:nvSpPr>
        <p:spPr>
          <a:xfrm>
            <a:off x="914400" y="960120"/>
            <a:ext cx="10332720" cy="594360"/>
          </a:xfrm>
          <a:prstGeom prst="rect">
            <a:avLst/>
          </a:prstGeom>
          <a:noFill/>
        </p:spPr>
        <p:txBody>
          <a:bodyPr wrap="square">
            <a:spAutoFit/>
          </a:bodyPr>
          <a:lstStyle/>
          <a:p>
            <a:r>
              <a:rPr sz="2100" b="1">
                <a:solidFill>
                  <a:srgbClr val="FFFFFF"/>
                </a:solidFill>
                <a:latin typeface="Plus Jakarta Sans"/>
              </a:rPr>
              <a:t>Kunci Jawaban &amp; Panduan Verifikasi Teknis </a:t>
            </a:r>
            <a:r>
              <a:rPr sz="2100" b="1">
                <a:solidFill>
                  <a:srgbClr val="00E5FF"/>
                </a:solidFill>
                <a:latin typeface="Plus Jakarta Sans"/>
              </a:rPr>
              <a:t>🔒 Akses Terproteksi</a:t>
            </a:r>
          </a:p>
        </p:txBody>
      </p:sp>
      <p:sp>
        <p:nvSpPr>
          <p:cNvPr id="7" name="TextBox 6"/>
          <p:cNvSpPr txBox="1"/>
          <p:nvPr/>
        </p:nvSpPr>
        <p:spPr>
          <a:xfrm>
            <a:off x="914400" y="6080760"/>
            <a:ext cx="7315200" cy="320040"/>
          </a:xfrm>
          <a:prstGeom prst="rect">
            <a:avLst/>
          </a:prstGeom>
          <a:noFill/>
        </p:spPr>
        <p:txBody>
          <a:bodyPr wrap="none">
            <a:spAutoFit/>
          </a:bodyPr>
          <a:lstStyle/>
          <a:p>
            <a:pPr>
              <a:defRPr sz="900">
                <a:solidFill>
                  <a:srgbClr val="94A3B8"/>
                </a:solidFill>
                <a:latin typeface="Inter"/>
              </a:defRPr>
            </a:pPr>
            <a:r>
              <a:t>Laboratorium Sistem Informasi · Pengayaan SMBD Lanjut · Universitas Amikom Yogyakarta</a:t>
            </a:r>
          </a:p>
        </p:txBody>
      </p:sp>
      <p:sp>
        <p:nvSpPr>
          <p:cNvPr id="8" name="Rounded Rectangle 7"/>
          <p:cNvSpPr/>
          <p:nvPr/>
        </p:nvSpPr>
        <p:spPr>
          <a:xfrm>
            <a:off x="914400" y="1691640"/>
            <a:ext cx="6583680" cy="4206240"/>
          </a:xfrm>
          <a:prstGeom prst="roundRect">
            <a:avLst/>
          </a:prstGeom>
          <a:solidFill>
            <a:srgbClr val="03071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013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1" y="180136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801368"/>
            <a:ext cx="100584" cy="10058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728216"/>
            <a:ext cx="4572000" cy="256032"/>
          </a:xfrm>
          <a:prstGeom prst="rect">
            <a:avLst/>
          </a:prstGeom>
          <a:noFill/>
        </p:spPr>
        <p:txBody>
          <a:bodyPr wrap="none">
            <a:spAutoFit/>
          </a:bodyPr>
          <a:lstStyle/>
          <a:p>
            <a:pPr>
              <a:defRPr sz="900">
                <a:solidFill>
                  <a:srgbClr val="38BDF8"/>
                </a:solidFill>
                <a:latin typeface="JetBrains Mono"/>
              </a:defRPr>
            </a:pPr>
            <a:r>
              <a:t>terminal · Solusi Resmi Soal 1 &amp; 7</a:t>
            </a:r>
          </a:p>
        </p:txBody>
      </p:sp>
      <p:sp>
        <p:nvSpPr>
          <p:cNvPr id="13" name="TextBox 12"/>
          <p:cNvSpPr txBox="1"/>
          <p:nvPr/>
        </p:nvSpPr>
        <p:spPr>
          <a:xfrm>
            <a:off x="1051560" y="1984248"/>
            <a:ext cx="6309360" cy="3840480"/>
          </a:xfrm>
          <a:prstGeom prst="rect">
            <a:avLst/>
          </a:prstGeom>
          <a:noFill/>
        </p:spPr>
        <p:txBody>
          <a:bodyPr wrap="square" tIns="18288" bIns="18288" lIns="45720" rIns="45720">
            <a:spAutoFit/>
          </a:bodyPr>
          <a:lstStyle/>
          <a:p>
            <a:pPr>
              <a:spcAft>
                <a:spcPts val="50"/>
              </a:spcAft>
            </a:pPr>
            <a:r>
              <a:rPr sz="800" i="1">
                <a:solidFill>
                  <a:srgbClr val="94A3B8"/>
                </a:solidFill>
                <a:latin typeface="JetBrains Mono"/>
              </a:rPr>
              <a:t>-- KUNCI SOAL 1: fcCekStatusStok</a:t>
            </a:r>
          </a:p>
          <a:p>
            <a:pPr>
              <a:spcAft>
                <a:spcPts val="50"/>
              </a:spcAft>
            </a:pPr>
            <a:r>
              <a:rPr sz="800" b="1">
                <a:solidFill>
                  <a:srgbClr val="00E5FF"/>
                </a:solidFill>
                <a:latin typeface="JetBrains Mono"/>
              </a:rPr>
              <a:t>CREATE</a:t>
            </a:r>
            <a:r>
              <a:rPr sz="800">
                <a:solidFill>
                  <a:srgbClr val="F1F5F9"/>
                </a:solidFill>
                <a:latin typeface="JetBrains Mono"/>
              </a:rPr>
              <a:t> </a:t>
            </a:r>
            <a:r>
              <a:rPr sz="800" b="1">
                <a:solidFill>
                  <a:srgbClr val="00E5FF"/>
                </a:solidFill>
                <a:latin typeface="JetBrains Mono"/>
              </a:rPr>
              <a:t>FUNCTION</a:t>
            </a:r>
            <a:r>
              <a:rPr sz="800">
                <a:solidFill>
                  <a:srgbClr val="F1F5F9"/>
                </a:solidFill>
                <a:latin typeface="JetBrains Mono"/>
              </a:rPr>
              <a:t> </a:t>
            </a:r>
            <a:r>
              <a:rPr sz="800">
                <a:solidFill>
                  <a:srgbClr val="F1F5F9"/>
                </a:solidFill>
                <a:latin typeface="JetBrains Mono"/>
              </a:rPr>
              <a:t>fcCekStatusStok</a:t>
            </a:r>
            <a:r>
              <a:rPr sz="800">
                <a:solidFill>
                  <a:srgbClr val="F1F5F9"/>
                </a:solidFill>
                <a:latin typeface="JetBrains Mono"/>
              </a:rPr>
              <a:t>(</a:t>
            </a:r>
            <a:r>
              <a:rPr sz="800">
                <a:solidFill>
                  <a:srgbClr val="F59E0B"/>
                </a:solidFill>
                <a:latin typeface="JetBrains Mono"/>
              </a:rPr>
              <a:t>p_kodeproduk</a:t>
            </a:r>
            <a:r>
              <a:rPr sz="800">
                <a:solidFill>
                  <a:srgbClr val="F1F5F9"/>
                </a:solidFill>
                <a:latin typeface="JetBrains Mono"/>
              </a:rPr>
              <a:t> </a:t>
            </a:r>
            <a:r>
              <a:rPr sz="800" b="1">
                <a:solidFill>
                  <a:srgbClr val="C084FC"/>
                </a:solidFill>
                <a:latin typeface="JetBrains Mono"/>
              </a:rPr>
              <a:t>CHAR</a:t>
            </a:r>
            <a:r>
              <a:rPr sz="800">
                <a:solidFill>
                  <a:srgbClr val="F1F5F9"/>
                </a:solidFill>
                <a:latin typeface="JetBrains Mono"/>
              </a:rPr>
              <a:t>(</a:t>
            </a:r>
            <a:r>
              <a:rPr sz="800">
                <a:solidFill>
                  <a:srgbClr val="F87171"/>
                </a:solidFill>
                <a:latin typeface="JetBrains Mono"/>
              </a:rPr>
              <a:t>4</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RETURNS</a:t>
            </a:r>
            <a:r>
              <a:rPr sz="800">
                <a:solidFill>
                  <a:srgbClr val="F1F5F9"/>
                </a:solidFill>
                <a:latin typeface="JetBrains Mono"/>
              </a:rPr>
              <a:t> </a:t>
            </a:r>
            <a:r>
              <a:rPr sz="800" b="1">
                <a:solidFill>
                  <a:srgbClr val="C084FC"/>
                </a:solidFill>
                <a:latin typeface="JetBrains Mono"/>
              </a:rPr>
              <a:t>VARCHAR</a:t>
            </a:r>
            <a:r>
              <a:rPr sz="800">
                <a:solidFill>
                  <a:srgbClr val="F1F5F9"/>
                </a:solidFill>
                <a:latin typeface="JetBrains Mono"/>
              </a:rPr>
              <a:t>(</a:t>
            </a:r>
            <a:r>
              <a:rPr sz="800">
                <a:solidFill>
                  <a:srgbClr val="F87171"/>
                </a:solidFill>
                <a:latin typeface="JetBrains Mono"/>
              </a:rPr>
              <a:t>30</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DETERMINISTIC</a:t>
            </a:r>
            <a:r>
              <a:rPr sz="800">
                <a:solidFill>
                  <a:srgbClr val="F1F5F9"/>
                </a:solidFill>
                <a:latin typeface="JetBrains Mono"/>
              </a:rPr>
              <a:t> </a:t>
            </a:r>
            <a:r>
              <a:rPr sz="800" b="1">
                <a:solidFill>
                  <a:srgbClr val="00E5FF"/>
                </a:solidFill>
                <a:latin typeface="JetBrains Mono"/>
              </a:rPr>
              <a:t>READS</a:t>
            </a:r>
            <a:r>
              <a:rPr sz="800">
                <a:solidFill>
                  <a:srgbClr val="F1F5F9"/>
                </a:solidFill>
                <a:latin typeface="JetBrains Mono"/>
              </a:rPr>
              <a:t> </a:t>
            </a:r>
            <a:r>
              <a:rPr sz="800" b="1">
                <a:solidFill>
                  <a:srgbClr val="00E5FF"/>
                </a:solidFill>
                <a:latin typeface="JetBrains Mono"/>
              </a:rPr>
              <a:t>SQL</a:t>
            </a:r>
            <a:r>
              <a:rPr sz="800">
                <a:solidFill>
                  <a:srgbClr val="F1F5F9"/>
                </a:solidFill>
                <a:latin typeface="JetBrains Mono"/>
              </a:rPr>
              <a:t> </a:t>
            </a:r>
            <a:r>
              <a:rPr sz="800" b="1">
                <a:solidFill>
                  <a:srgbClr val="00E5FF"/>
                </a:solidFill>
                <a:latin typeface="JetBrains Mono"/>
              </a:rPr>
              <a:t>DATA</a:t>
            </a:r>
          </a:p>
          <a:p>
            <a:pPr>
              <a:spcAft>
                <a:spcPts val="50"/>
              </a:spcAft>
            </a:pPr>
            <a:r>
              <a:rPr sz="800" b="1">
                <a:solidFill>
                  <a:srgbClr val="00E5FF"/>
                </a:solidFill>
                <a:latin typeface="JetBrains Mono"/>
              </a:rPr>
              <a:t>BEGIN</a:t>
            </a:r>
          </a:p>
          <a:p>
            <a:pPr>
              <a:spcAft>
                <a:spcPts val="50"/>
              </a:spcAft>
            </a:pPr>
            <a:r>
              <a:rPr sz="800">
                <a:solidFill>
                  <a:srgbClr val="F1F5F9"/>
                </a:solidFill>
                <a:latin typeface="JetBrains Mono"/>
              </a:rPr>
              <a:t>    </a:t>
            </a:r>
            <a:r>
              <a:rPr sz="800" b="1">
                <a:solidFill>
                  <a:srgbClr val="00E5FF"/>
                </a:solidFill>
                <a:latin typeface="JetBrains Mono"/>
              </a:rPr>
              <a:t>DECLARE</a:t>
            </a:r>
            <a:r>
              <a:rPr sz="800">
                <a:solidFill>
                  <a:srgbClr val="F1F5F9"/>
                </a:solidFill>
                <a:latin typeface="JetBrains Mono"/>
              </a:rPr>
              <a:t> </a:t>
            </a:r>
            <a:r>
              <a:rPr sz="800">
                <a:solidFill>
                  <a:srgbClr val="F59E0B"/>
                </a:solidFill>
                <a:latin typeface="JetBrains Mono"/>
              </a:rPr>
              <a:t>v_stok</a:t>
            </a:r>
            <a:r>
              <a:rPr sz="800">
                <a:solidFill>
                  <a:srgbClr val="F1F5F9"/>
                </a:solidFill>
                <a:latin typeface="JetBrains Mono"/>
              </a:rPr>
              <a:t> </a:t>
            </a:r>
            <a:r>
              <a:rPr sz="800" b="1">
                <a:solidFill>
                  <a:srgbClr val="C084FC"/>
                </a:solidFill>
                <a:latin typeface="JetBrains Mono"/>
              </a:rPr>
              <a:t>INT</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DECLARE</a:t>
            </a:r>
            <a:r>
              <a:rPr sz="800">
                <a:solidFill>
                  <a:srgbClr val="F1F5F9"/>
                </a:solidFill>
                <a:latin typeface="JetBrains Mono"/>
              </a:rPr>
              <a:t> </a:t>
            </a:r>
            <a:r>
              <a:rPr sz="800">
                <a:solidFill>
                  <a:srgbClr val="F59E0B"/>
                </a:solidFill>
                <a:latin typeface="JetBrains Mono"/>
              </a:rPr>
              <a:t>v_status</a:t>
            </a:r>
            <a:r>
              <a:rPr sz="800">
                <a:solidFill>
                  <a:srgbClr val="F1F5F9"/>
                </a:solidFill>
                <a:latin typeface="JetBrains Mono"/>
              </a:rPr>
              <a:t> </a:t>
            </a:r>
            <a:r>
              <a:rPr sz="800" b="1">
                <a:solidFill>
                  <a:srgbClr val="C084FC"/>
                </a:solidFill>
                <a:latin typeface="JetBrains Mono"/>
              </a:rPr>
              <a:t>VARCHAR</a:t>
            </a:r>
            <a:r>
              <a:rPr sz="800">
                <a:solidFill>
                  <a:srgbClr val="F1F5F9"/>
                </a:solidFill>
                <a:latin typeface="JetBrains Mono"/>
              </a:rPr>
              <a:t>(</a:t>
            </a:r>
            <a:r>
              <a:rPr sz="800">
                <a:solidFill>
                  <a:srgbClr val="F87171"/>
                </a:solidFill>
                <a:latin typeface="JetBrains Mono"/>
              </a:rPr>
              <a:t>30</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SELECT</a:t>
            </a:r>
            <a:r>
              <a:rPr sz="800">
                <a:solidFill>
                  <a:srgbClr val="F1F5F9"/>
                </a:solidFill>
                <a:latin typeface="JetBrains Mono"/>
              </a:rPr>
              <a:t> </a:t>
            </a:r>
            <a:r>
              <a:rPr sz="800">
                <a:solidFill>
                  <a:srgbClr val="F1F5F9"/>
                </a:solidFill>
                <a:latin typeface="JetBrains Mono"/>
              </a:rPr>
              <a:t>stok</a:t>
            </a:r>
            <a:r>
              <a:rPr sz="800">
                <a:solidFill>
                  <a:srgbClr val="F1F5F9"/>
                </a:solidFill>
                <a:latin typeface="JetBrains Mono"/>
              </a:rPr>
              <a:t> </a:t>
            </a:r>
            <a:r>
              <a:rPr sz="800" b="1">
                <a:solidFill>
                  <a:srgbClr val="00E5FF"/>
                </a:solidFill>
                <a:latin typeface="JetBrains Mono"/>
              </a:rPr>
              <a:t>INTO</a:t>
            </a:r>
            <a:r>
              <a:rPr sz="800">
                <a:solidFill>
                  <a:srgbClr val="F1F5F9"/>
                </a:solidFill>
                <a:latin typeface="JetBrains Mono"/>
              </a:rPr>
              <a:t> </a:t>
            </a:r>
            <a:r>
              <a:rPr sz="800">
                <a:solidFill>
                  <a:srgbClr val="F59E0B"/>
                </a:solidFill>
                <a:latin typeface="JetBrains Mono"/>
              </a:rPr>
              <a:t>v_stok</a:t>
            </a:r>
            <a:r>
              <a:rPr sz="800">
                <a:solidFill>
                  <a:srgbClr val="F1F5F9"/>
                </a:solidFill>
                <a:latin typeface="JetBrains Mono"/>
              </a:rPr>
              <a:t> </a:t>
            </a:r>
            <a:r>
              <a:rPr sz="800" b="1">
                <a:solidFill>
                  <a:srgbClr val="00E5FF"/>
                </a:solidFill>
                <a:latin typeface="JetBrains Mono"/>
              </a:rPr>
              <a:t>FROM</a:t>
            </a:r>
            <a:r>
              <a:rPr sz="800">
                <a:solidFill>
                  <a:srgbClr val="F1F5F9"/>
                </a:solidFill>
                <a:latin typeface="JetBrains Mono"/>
              </a:rPr>
              <a:t> </a:t>
            </a:r>
            <a:r>
              <a:rPr sz="800">
                <a:solidFill>
                  <a:srgbClr val="F1F5F9"/>
                </a:solidFill>
                <a:latin typeface="JetBrains Mono"/>
              </a:rPr>
              <a:t>produk</a:t>
            </a:r>
            <a:r>
              <a:rPr sz="800">
                <a:solidFill>
                  <a:srgbClr val="F1F5F9"/>
                </a:solidFill>
                <a:latin typeface="JetBrains Mono"/>
              </a:rPr>
              <a:t> </a:t>
            </a:r>
            <a:r>
              <a:rPr sz="800" b="1">
                <a:solidFill>
                  <a:srgbClr val="00E5FF"/>
                </a:solidFill>
                <a:latin typeface="JetBrains Mono"/>
              </a:rPr>
              <a:t>WHERE</a:t>
            </a:r>
            <a:r>
              <a:rPr sz="800">
                <a:solidFill>
                  <a:srgbClr val="F1F5F9"/>
                </a:solidFill>
                <a:latin typeface="JetBrains Mono"/>
              </a:rPr>
              <a:t> </a:t>
            </a:r>
            <a:r>
              <a:rPr sz="800">
                <a:solidFill>
                  <a:srgbClr val="F1F5F9"/>
                </a:solidFill>
                <a:latin typeface="JetBrains Mono"/>
              </a:rPr>
              <a:t>kodeproduk</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p_kodeproduk</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IF</a:t>
            </a:r>
            <a:r>
              <a:rPr sz="800">
                <a:solidFill>
                  <a:srgbClr val="F1F5F9"/>
                </a:solidFill>
                <a:latin typeface="JetBrains Mono"/>
              </a:rPr>
              <a:t> </a:t>
            </a:r>
            <a:r>
              <a:rPr sz="800">
                <a:solidFill>
                  <a:srgbClr val="F59E0B"/>
                </a:solidFill>
                <a:latin typeface="JetBrains Mono"/>
              </a:rPr>
              <a:t>v_stok</a:t>
            </a:r>
            <a:r>
              <a:rPr sz="800">
                <a:solidFill>
                  <a:srgbClr val="F1F5F9"/>
                </a:solidFill>
                <a:latin typeface="JetBrains Mono"/>
              </a:rPr>
              <a:t> </a:t>
            </a:r>
            <a:r>
              <a:rPr sz="800" b="1">
                <a:solidFill>
                  <a:srgbClr val="00E5FF"/>
                </a:solidFill>
                <a:latin typeface="JetBrains Mono"/>
              </a:rPr>
              <a:t>IS</a:t>
            </a:r>
            <a:r>
              <a:rPr sz="800">
                <a:solidFill>
                  <a:srgbClr val="F1F5F9"/>
                </a:solidFill>
                <a:latin typeface="JetBrains Mono"/>
              </a:rPr>
              <a:t> </a:t>
            </a:r>
            <a:r>
              <a:rPr sz="800" b="1">
                <a:solidFill>
                  <a:srgbClr val="00E5FF"/>
                </a:solidFill>
                <a:latin typeface="JetBrains Mono"/>
              </a:rPr>
              <a:t>NULL</a:t>
            </a:r>
            <a:r>
              <a:rPr sz="800">
                <a:solidFill>
                  <a:srgbClr val="F1F5F9"/>
                </a:solidFill>
                <a:latin typeface="JetBrains Mono"/>
              </a:rPr>
              <a:t> </a:t>
            </a:r>
            <a:r>
              <a:rPr sz="800" b="1">
                <a:solidFill>
                  <a:srgbClr val="00E5FF"/>
                </a:solidFill>
                <a:latin typeface="JetBrains Mono"/>
              </a:rPr>
              <a:t>THEN</a:t>
            </a: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59E0B"/>
                </a:solidFill>
                <a:latin typeface="JetBrains Mono"/>
              </a:rPr>
              <a:t>v_status</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34D399"/>
                </a:solidFill>
                <a:latin typeface="JetBrains Mono"/>
              </a:rPr>
              <a:t>'PRODUK TIDAK ADA'</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ELSEIF</a:t>
            </a:r>
            <a:r>
              <a:rPr sz="800">
                <a:solidFill>
                  <a:srgbClr val="F1F5F9"/>
                </a:solidFill>
                <a:latin typeface="JetBrains Mono"/>
              </a:rPr>
              <a:t> </a:t>
            </a:r>
            <a:r>
              <a:rPr sz="800">
                <a:solidFill>
                  <a:srgbClr val="F59E0B"/>
                </a:solidFill>
                <a:latin typeface="JetBrains Mono"/>
              </a:rPr>
              <a:t>v_stok</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87171"/>
                </a:solidFill>
                <a:latin typeface="JetBrains Mono"/>
              </a:rPr>
              <a:t>0</a:t>
            </a:r>
            <a:r>
              <a:rPr sz="800">
                <a:solidFill>
                  <a:srgbClr val="F1F5F9"/>
                </a:solidFill>
                <a:latin typeface="JetBrains Mono"/>
              </a:rPr>
              <a:t> </a:t>
            </a:r>
            <a:r>
              <a:rPr sz="800" b="1">
                <a:solidFill>
                  <a:srgbClr val="00E5FF"/>
                </a:solidFill>
                <a:latin typeface="JetBrains Mono"/>
              </a:rPr>
              <a:t>THEN</a:t>
            </a: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59E0B"/>
                </a:solidFill>
                <a:latin typeface="JetBrains Mono"/>
              </a:rPr>
              <a:t>v_status</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34D399"/>
                </a:solidFill>
                <a:latin typeface="JetBrains Mono"/>
              </a:rPr>
              <a:t>'KOSONG'</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ELSEIF</a:t>
            </a:r>
            <a:r>
              <a:rPr sz="800">
                <a:solidFill>
                  <a:srgbClr val="F1F5F9"/>
                </a:solidFill>
                <a:latin typeface="JetBrains Mono"/>
              </a:rPr>
              <a:t> </a:t>
            </a:r>
            <a:r>
              <a:rPr sz="800">
                <a:solidFill>
                  <a:srgbClr val="F59E0B"/>
                </a:solidFill>
                <a:latin typeface="JetBrains Mono"/>
              </a:rPr>
              <a:t>v_stok</a:t>
            </a:r>
            <a:r>
              <a:rPr sz="800">
                <a:solidFill>
                  <a:srgbClr val="F1F5F9"/>
                </a:solidFill>
                <a:latin typeface="JetBrains Mono"/>
              </a:rPr>
              <a:t> </a:t>
            </a:r>
            <a:r>
              <a:rPr sz="800">
                <a:solidFill>
                  <a:srgbClr val="F1F5F9"/>
                </a:solidFill>
                <a:latin typeface="JetBrains Mono"/>
              </a:rPr>
              <a:t>&lt;=</a:t>
            </a:r>
            <a:r>
              <a:rPr sz="800">
                <a:solidFill>
                  <a:srgbClr val="F1F5F9"/>
                </a:solidFill>
                <a:latin typeface="JetBrains Mono"/>
              </a:rPr>
              <a:t> </a:t>
            </a:r>
            <a:r>
              <a:rPr sz="800">
                <a:solidFill>
                  <a:srgbClr val="F87171"/>
                </a:solidFill>
                <a:latin typeface="JetBrains Mono"/>
              </a:rPr>
              <a:t>5</a:t>
            </a:r>
            <a:r>
              <a:rPr sz="800">
                <a:solidFill>
                  <a:srgbClr val="F1F5F9"/>
                </a:solidFill>
                <a:latin typeface="JetBrains Mono"/>
              </a:rPr>
              <a:t> </a:t>
            </a:r>
            <a:r>
              <a:rPr sz="800" b="1">
                <a:solidFill>
                  <a:srgbClr val="00E5FF"/>
                </a:solidFill>
                <a:latin typeface="JetBrains Mono"/>
              </a:rPr>
              <a:t>THEN</a:t>
            </a: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59E0B"/>
                </a:solidFill>
                <a:latin typeface="JetBrains Mono"/>
              </a:rPr>
              <a:t>v_status</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34D399"/>
                </a:solidFill>
                <a:latin typeface="JetBrains Mono"/>
              </a:rPr>
              <a:t>'KRITIS'</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ELSE</a:t>
            </a:r>
            <a:r>
              <a:rPr sz="800">
                <a:solidFill>
                  <a:srgbClr val="F1F5F9"/>
                </a:solidFill>
                <a:latin typeface="JetBrains Mono"/>
              </a:rPr>
              <a:t> </a:t>
            </a:r>
            <a:r>
              <a:rPr sz="800" b="1">
                <a:solidFill>
                  <a:srgbClr val="00E5FF"/>
                </a:solidFill>
                <a:latin typeface="JetBrains Mono"/>
              </a:rPr>
              <a:t>SET</a:t>
            </a:r>
            <a:r>
              <a:rPr sz="800">
                <a:solidFill>
                  <a:srgbClr val="F1F5F9"/>
                </a:solidFill>
                <a:latin typeface="JetBrains Mono"/>
              </a:rPr>
              <a:t> </a:t>
            </a:r>
            <a:r>
              <a:rPr sz="800">
                <a:solidFill>
                  <a:srgbClr val="F59E0B"/>
                </a:solidFill>
                <a:latin typeface="JetBrains Mono"/>
              </a:rPr>
              <a:t>v_status</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CONCAT</a:t>
            </a:r>
            <a:r>
              <a:rPr sz="800">
                <a:solidFill>
                  <a:srgbClr val="F1F5F9"/>
                </a:solidFill>
                <a:latin typeface="JetBrains Mono"/>
              </a:rPr>
              <a:t>('</a:t>
            </a:r>
            <a:r>
              <a:rPr sz="800">
                <a:solidFill>
                  <a:srgbClr val="F1F5F9"/>
                </a:solidFill>
                <a:latin typeface="JetBrains Mono"/>
              </a:rPr>
              <a:t>TERSEDIA</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v_stok</a:t>
            </a:r>
            <a:r>
              <a:rPr sz="800">
                <a:solidFill>
                  <a:srgbClr val="F1F5F9"/>
                </a:solidFill>
                <a:latin typeface="JetBrains Mono"/>
              </a:rPr>
              <a:t>,</a:t>
            </a:r>
            <a:r>
              <a:rPr sz="800">
                <a:solidFill>
                  <a:srgbClr val="F1F5F9"/>
                </a:solidFill>
                <a:latin typeface="JetBrains Mono"/>
              </a:rPr>
              <a:t> </a:t>
            </a:r>
            <a:r>
              <a:rPr sz="800">
                <a:solidFill>
                  <a:srgbClr val="34D399"/>
                </a:solidFill>
                <a:latin typeface="JetBrains Mono"/>
              </a:rPr>
              <a:t>' Unit)'</a:t>
            </a:r>
            <a:r>
              <a:rPr sz="800">
                <a:solidFill>
                  <a:srgbClr val="F1F5F9"/>
                </a:solidFill>
                <a:latin typeface="JetBrains Mono"/>
              </a:rPr>
              <a:t>);</a:t>
            </a:r>
          </a:p>
          <a:p>
            <a:pPr>
              <a:spcAft>
                <a:spcPts val="50"/>
              </a:spcAft>
            </a:pPr>
            <a:r>
              <a:rPr sz="800">
                <a:solidFill>
                  <a:srgbClr val="F1F5F9"/>
                </a:solidFill>
                <a:latin typeface="JetBrains Mono"/>
              </a:rPr>
              <a:t>    </a:t>
            </a:r>
            <a:r>
              <a:rPr sz="800" b="1">
                <a:solidFill>
                  <a:srgbClr val="00E5FF"/>
                </a:solidFill>
                <a:latin typeface="JetBrains Mono"/>
              </a:rPr>
              <a:t>END</a:t>
            </a:r>
            <a:r>
              <a:rPr sz="800">
                <a:solidFill>
                  <a:srgbClr val="F1F5F9"/>
                </a:solidFill>
                <a:latin typeface="JetBrains Mono"/>
              </a:rPr>
              <a:t> </a:t>
            </a:r>
            <a:r>
              <a:rPr sz="800" b="1">
                <a:solidFill>
                  <a:srgbClr val="00E5FF"/>
                </a:solidFill>
                <a:latin typeface="JetBrains Mono"/>
              </a:rPr>
              <a:t>IF</a:t>
            </a:r>
            <a:r>
              <a:rPr sz="800">
                <a:solidFill>
                  <a:srgbClr val="F1F5F9"/>
                </a:solidFill>
                <a:latin typeface="JetBrains Mono"/>
              </a:rPr>
              <a:t>;</a:t>
            </a:r>
          </a:p>
          <a:p>
            <a:pPr>
              <a:spcAft>
                <a:spcPts val="50"/>
              </a:spcAft>
            </a:pPr>
            <a:r>
              <a:rPr sz="800">
                <a:solidFill>
                  <a:srgbClr val="F1F5F9"/>
                </a:solidFill>
                <a:latin typeface="JetBrains Mono"/>
              </a:rPr>
              <a:t>    </a:t>
            </a:r>
            <a:r>
              <a:rPr sz="800">
                <a:solidFill>
                  <a:srgbClr val="F1F5F9"/>
                </a:solidFill>
                <a:latin typeface="JetBrains Mono"/>
              </a:rPr>
              <a:t>RETURN</a:t>
            </a:r>
            <a:r>
              <a:rPr sz="800">
                <a:solidFill>
                  <a:srgbClr val="F1F5F9"/>
                </a:solidFill>
                <a:latin typeface="JetBrains Mono"/>
              </a:rPr>
              <a:t> </a:t>
            </a:r>
            <a:r>
              <a:rPr sz="800">
                <a:solidFill>
                  <a:srgbClr val="F59E0B"/>
                </a:solidFill>
                <a:latin typeface="JetBrains Mono"/>
              </a:rPr>
              <a:t>v_status</a:t>
            </a:r>
            <a:r>
              <a:rPr sz="800">
                <a:solidFill>
                  <a:srgbClr val="F1F5F9"/>
                </a:solidFill>
                <a:latin typeface="JetBrains Mono"/>
              </a:rPr>
              <a:t>;</a:t>
            </a:r>
          </a:p>
          <a:p>
            <a:pPr>
              <a:spcAft>
                <a:spcPts val="50"/>
              </a:spcAft>
            </a:pPr>
            <a:r>
              <a:rPr sz="800" b="1">
                <a:solidFill>
                  <a:srgbClr val="00E5FF"/>
                </a:solidFill>
                <a:latin typeface="JetBrains Mono"/>
              </a:rPr>
              <a:t>END</a:t>
            </a:r>
            <a:r>
              <a:rPr sz="800">
                <a:solidFill>
                  <a:srgbClr val="F1F5F9"/>
                </a:solidFill>
                <a:latin typeface="JetBrains Mono"/>
              </a:rPr>
              <a:t>;</a:t>
            </a:r>
          </a:p>
          <a:p>
            <a:pPr>
              <a:spcAft>
                <a:spcPts val="50"/>
              </a:spcAft>
            </a:pPr>
            <a:r>
              <a:t> </a:t>
            </a:r>
          </a:p>
          <a:p>
            <a:pPr>
              <a:spcAft>
                <a:spcPts val="50"/>
              </a:spcAft>
            </a:pPr>
            <a:r>
              <a:rPr sz="800" i="1">
                <a:solidFill>
                  <a:srgbClr val="94A3B8"/>
                </a:solidFill>
                <a:latin typeface="JetBrains Mono"/>
              </a:rPr>
              <a:t>-- KUNCI SOAL 7: sp_AkumulasiPoinNota (CURSOR)</a:t>
            </a:r>
          </a:p>
          <a:p>
            <a:pPr>
              <a:spcAft>
                <a:spcPts val="50"/>
              </a:spcAft>
            </a:pPr>
            <a:r>
              <a:rPr sz="800" b="1">
                <a:solidFill>
                  <a:srgbClr val="00E5FF"/>
                </a:solidFill>
                <a:latin typeface="JetBrains Mono"/>
              </a:rPr>
              <a:t>CREATE</a:t>
            </a:r>
            <a:r>
              <a:rPr sz="800">
                <a:solidFill>
                  <a:srgbClr val="F1F5F9"/>
                </a:solidFill>
                <a:latin typeface="JetBrains Mono"/>
              </a:rPr>
              <a:t> </a:t>
            </a:r>
            <a:r>
              <a:rPr sz="800" b="1">
                <a:solidFill>
                  <a:srgbClr val="00E5FF"/>
                </a:solidFill>
                <a:latin typeface="JetBrains Mono"/>
              </a:rPr>
              <a:t>PROCEDURE</a:t>
            </a:r>
            <a:r>
              <a:rPr sz="800">
                <a:solidFill>
                  <a:srgbClr val="F1F5F9"/>
                </a:solidFill>
                <a:latin typeface="JetBrains Mono"/>
              </a:rPr>
              <a:t> </a:t>
            </a:r>
            <a:r>
              <a:rPr sz="800">
                <a:solidFill>
                  <a:srgbClr val="F1F5F9"/>
                </a:solidFill>
                <a:latin typeface="JetBrains Mono"/>
              </a:rPr>
              <a:t>sp_HitungTotalBelanjaKasir</a:t>
            </a:r>
            <a:r>
              <a:rPr sz="800">
                <a:solidFill>
                  <a:srgbClr val="F1F5F9"/>
                </a:solidFill>
                <a:latin typeface="JetBrains Mono"/>
              </a:rPr>
              <a:t>(</a:t>
            </a:r>
            <a:r>
              <a:rPr sz="800">
                <a:solidFill>
                  <a:srgbClr val="F1F5F9"/>
                </a:solidFill>
                <a:latin typeface="JetBrains Mono"/>
              </a:rPr>
              <a:t>IN</a:t>
            </a:r>
            <a:r>
              <a:rPr sz="800">
                <a:solidFill>
                  <a:srgbClr val="F1F5F9"/>
                </a:solidFill>
                <a:latin typeface="JetBrains Mono"/>
              </a:rPr>
              <a:t> </a:t>
            </a:r>
            <a:r>
              <a:rPr sz="800">
                <a:solidFill>
                  <a:srgbClr val="F59E0B"/>
                </a:solidFill>
                <a:latin typeface="JetBrains Mono"/>
              </a:rPr>
              <a:t>p_KodeKasir</a:t>
            </a:r>
            <a:r>
              <a:rPr sz="800">
                <a:solidFill>
                  <a:srgbClr val="F1F5F9"/>
                </a:solidFill>
                <a:latin typeface="JetBrains Mono"/>
              </a:rPr>
              <a:t> </a:t>
            </a:r>
            <a:r>
              <a:rPr sz="800" b="1">
                <a:solidFill>
                  <a:srgbClr val="C084FC"/>
                </a:solidFill>
                <a:latin typeface="JetBrains Mono"/>
              </a:rPr>
              <a:t>CHAR</a:t>
            </a:r>
            <a:r>
              <a:rPr sz="800">
                <a:solidFill>
                  <a:srgbClr val="F1F5F9"/>
                </a:solidFill>
                <a:latin typeface="JetBrains Mono"/>
              </a:rPr>
              <a:t>(</a:t>
            </a:r>
            <a:r>
              <a:rPr sz="800">
                <a:solidFill>
                  <a:srgbClr val="F87171"/>
                </a:solidFill>
                <a:latin typeface="JetBrains Mono"/>
              </a:rPr>
              <a:t>3</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OUT</a:t>
            </a:r>
            <a:r>
              <a:rPr sz="800">
                <a:solidFill>
                  <a:srgbClr val="F1F5F9"/>
                </a:solidFill>
                <a:latin typeface="JetBrains Mono"/>
              </a:rPr>
              <a:t> </a:t>
            </a:r>
            <a:r>
              <a:rPr sz="800">
                <a:solidFill>
                  <a:srgbClr val="F59E0B"/>
                </a:solidFill>
                <a:latin typeface="JetBrains Mono"/>
              </a:rPr>
              <a:t>p_GrandTotal</a:t>
            </a:r>
            <a:r>
              <a:rPr sz="800">
                <a:solidFill>
                  <a:srgbClr val="F1F5F9"/>
                </a:solidFill>
                <a:latin typeface="JetBrains Mono"/>
              </a:rPr>
              <a:t> </a:t>
            </a:r>
            <a:r>
              <a:rPr sz="800" b="1">
                <a:solidFill>
                  <a:srgbClr val="C084FC"/>
                </a:solidFill>
                <a:latin typeface="JetBrains Mono"/>
              </a:rPr>
              <a:t>INT</a:t>
            </a:r>
            <a:r>
              <a:rPr sz="800">
                <a:solidFill>
                  <a:srgbClr val="F1F5F9"/>
                </a:solidFill>
                <a:latin typeface="JetBrains Mono"/>
              </a:rPr>
              <a:t>)</a:t>
            </a:r>
          </a:p>
          <a:p>
            <a:pPr>
              <a:spcAft>
                <a:spcPts val="50"/>
              </a:spcAft>
            </a:pPr>
            <a:r>
              <a:rPr sz="800" b="1">
                <a:solidFill>
                  <a:srgbClr val="00E5FF"/>
                </a:solidFill>
                <a:latin typeface="JetBrains Mono"/>
              </a:rPr>
              <a:t>BEGIN</a:t>
            </a:r>
          </a:p>
          <a:p>
            <a:pPr>
              <a:spcAft>
                <a:spcPts val="50"/>
              </a:spcAft>
            </a:pPr>
            <a:r>
              <a:rPr sz="800">
                <a:solidFill>
                  <a:srgbClr val="F1F5F9"/>
                </a:solidFill>
                <a:latin typeface="JetBrains Mono"/>
              </a:rPr>
              <a:t>    </a:t>
            </a:r>
            <a:r>
              <a:rPr sz="800" b="1">
                <a:solidFill>
                  <a:srgbClr val="00E5FF"/>
                </a:solidFill>
                <a:latin typeface="JetBrains Mono"/>
              </a:rPr>
              <a:t>SELECT</a:t>
            </a:r>
            <a:r>
              <a:rPr sz="800">
                <a:solidFill>
                  <a:srgbClr val="F1F5F9"/>
                </a:solidFill>
                <a:latin typeface="JetBrains Mono"/>
              </a:rPr>
              <a:t> </a:t>
            </a:r>
            <a:r>
              <a:rPr sz="800" b="1">
                <a:solidFill>
                  <a:srgbClr val="00E5FF"/>
                </a:solidFill>
                <a:latin typeface="JetBrains Mono"/>
              </a:rPr>
              <a:t>COALESCE</a:t>
            </a:r>
            <a:r>
              <a:rPr sz="800">
                <a:solidFill>
                  <a:srgbClr val="F1F5F9"/>
                </a:solidFill>
                <a:latin typeface="JetBrains Mono"/>
              </a:rPr>
              <a:t>(</a:t>
            </a:r>
            <a:r>
              <a:rPr sz="800" b="1">
                <a:solidFill>
                  <a:srgbClr val="00E5FF"/>
                </a:solidFill>
                <a:latin typeface="JetBrains Mono"/>
              </a:rPr>
              <a:t>SUM</a:t>
            </a:r>
            <a:r>
              <a:rPr sz="800">
                <a:solidFill>
                  <a:srgbClr val="F1F5F9"/>
                </a:solidFill>
                <a:latin typeface="JetBrains Mono"/>
              </a:rPr>
              <a:t>(</a:t>
            </a:r>
            <a:r>
              <a:rPr sz="800">
                <a:solidFill>
                  <a:srgbClr val="F1F5F9"/>
                </a:solidFill>
                <a:latin typeface="JetBrains Mono"/>
              </a:rPr>
              <a:t>i</a:t>
            </a:r>
            <a:r>
              <a:rPr sz="800">
                <a:solidFill>
                  <a:srgbClr val="F1F5F9"/>
                </a:solidFill>
                <a:latin typeface="JetBrains Mono"/>
              </a:rPr>
              <a:t>.</a:t>
            </a:r>
            <a:r>
              <a:rPr sz="800">
                <a:solidFill>
                  <a:srgbClr val="F1F5F9"/>
                </a:solidFill>
                <a:latin typeface="JetBrains Mono"/>
              </a:rPr>
              <a:t>banyak</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i</a:t>
            </a:r>
            <a:r>
              <a:rPr sz="800">
                <a:solidFill>
                  <a:srgbClr val="F1F5F9"/>
                </a:solidFill>
                <a:latin typeface="JetBrains Mono"/>
              </a:rPr>
              <a:t>.</a:t>
            </a:r>
            <a:r>
              <a:rPr sz="800">
                <a:solidFill>
                  <a:srgbClr val="F1F5F9"/>
                </a:solidFill>
                <a:latin typeface="JetBrains Mono"/>
              </a:rPr>
              <a:t>hargajual</a:t>
            </a:r>
            <a:r>
              <a:rPr sz="800">
                <a:solidFill>
                  <a:srgbClr val="F1F5F9"/>
                </a:solidFill>
                <a:latin typeface="JetBrains Mono"/>
              </a:rPr>
              <a:t>),</a:t>
            </a:r>
            <a:r>
              <a:rPr sz="800">
                <a:solidFill>
                  <a:srgbClr val="F1F5F9"/>
                </a:solidFill>
                <a:latin typeface="JetBrains Mono"/>
              </a:rPr>
              <a:t> </a:t>
            </a:r>
            <a:r>
              <a:rPr sz="800">
                <a:solidFill>
                  <a:srgbClr val="F87171"/>
                </a:solidFill>
                <a:latin typeface="JetBrains Mono"/>
              </a:rPr>
              <a:t>0</a:t>
            </a:r>
            <a:r>
              <a:rPr sz="800">
                <a:solidFill>
                  <a:srgbClr val="F1F5F9"/>
                </a:solidFill>
                <a:latin typeface="JetBrains Mono"/>
              </a:rPr>
              <a:t>)</a:t>
            </a:r>
            <a:r>
              <a:rPr sz="800">
                <a:solidFill>
                  <a:srgbClr val="F1F5F9"/>
                </a:solidFill>
                <a:latin typeface="JetBrains Mono"/>
              </a:rPr>
              <a:t> </a:t>
            </a:r>
            <a:r>
              <a:rPr sz="800" b="1">
                <a:solidFill>
                  <a:srgbClr val="00E5FF"/>
                </a:solidFill>
                <a:latin typeface="JetBrains Mono"/>
              </a:rPr>
              <a:t>INTO</a:t>
            </a:r>
            <a:r>
              <a:rPr sz="800">
                <a:solidFill>
                  <a:srgbClr val="F1F5F9"/>
                </a:solidFill>
                <a:latin typeface="JetBrains Mono"/>
              </a:rPr>
              <a:t> </a:t>
            </a:r>
            <a:r>
              <a:rPr sz="800">
                <a:solidFill>
                  <a:srgbClr val="F59E0B"/>
                </a:solidFill>
                <a:latin typeface="JetBrains Mono"/>
              </a:rPr>
              <a:t>p_GrandTotal</a:t>
            </a:r>
          </a:p>
          <a:p>
            <a:pPr>
              <a:spcAft>
                <a:spcPts val="50"/>
              </a:spcAft>
            </a:pPr>
            <a:r>
              <a:rPr sz="800">
                <a:solidFill>
                  <a:srgbClr val="F1F5F9"/>
                </a:solidFill>
                <a:latin typeface="JetBrains Mono"/>
              </a:rPr>
              <a:t>    </a:t>
            </a:r>
            <a:r>
              <a:rPr sz="800" b="1">
                <a:solidFill>
                  <a:srgbClr val="00E5FF"/>
                </a:solidFill>
                <a:latin typeface="JetBrains Mono"/>
              </a:rPr>
              <a:t>FROM</a:t>
            </a:r>
            <a:r>
              <a:rPr sz="800">
                <a:solidFill>
                  <a:srgbClr val="F1F5F9"/>
                </a:solidFill>
                <a:latin typeface="JetBrains Mono"/>
              </a:rPr>
              <a:t> </a:t>
            </a:r>
            <a:r>
              <a:rPr sz="800">
                <a:solidFill>
                  <a:srgbClr val="F1F5F9"/>
                </a:solidFill>
                <a:latin typeface="JetBrains Mono"/>
              </a:rPr>
              <a:t>nota</a:t>
            </a:r>
            <a:r>
              <a:rPr sz="800">
                <a:solidFill>
                  <a:srgbClr val="F1F5F9"/>
                </a:solidFill>
                <a:latin typeface="JetBrains Mono"/>
              </a:rPr>
              <a:t> </a:t>
            </a:r>
            <a:r>
              <a:rPr sz="800">
                <a:solidFill>
                  <a:srgbClr val="F1F5F9"/>
                </a:solidFill>
                <a:latin typeface="JetBrains Mono"/>
              </a:rPr>
              <a:t>n</a:t>
            </a:r>
            <a:r>
              <a:rPr sz="800">
                <a:solidFill>
                  <a:srgbClr val="F1F5F9"/>
                </a:solidFill>
                <a:latin typeface="JetBrains Mono"/>
              </a:rPr>
              <a:t> </a:t>
            </a:r>
            <a:r>
              <a:rPr sz="800">
                <a:solidFill>
                  <a:srgbClr val="F1F5F9"/>
                </a:solidFill>
                <a:latin typeface="JetBrains Mono"/>
              </a:rPr>
              <a:t>JOIN</a:t>
            </a:r>
            <a:r>
              <a:rPr sz="800">
                <a:solidFill>
                  <a:srgbClr val="F1F5F9"/>
                </a:solidFill>
                <a:latin typeface="JetBrains Mono"/>
              </a:rPr>
              <a:t> </a:t>
            </a:r>
            <a:r>
              <a:rPr sz="800">
                <a:solidFill>
                  <a:srgbClr val="F1F5F9"/>
                </a:solidFill>
                <a:latin typeface="JetBrains Mono"/>
              </a:rPr>
              <a:t>itemnota</a:t>
            </a:r>
            <a:r>
              <a:rPr sz="800">
                <a:solidFill>
                  <a:srgbClr val="F1F5F9"/>
                </a:solidFill>
                <a:latin typeface="JetBrains Mono"/>
              </a:rPr>
              <a:t> </a:t>
            </a:r>
            <a:r>
              <a:rPr sz="800">
                <a:solidFill>
                  <a:srgbClr val="F1F5F9"/>
                </a:solidFill>
                <a:latin typeface="JetBrains Mono"/>
              </a:rPr>
              <a:t>i</a:t>
            </a:r>
            <a:r>
              <a:rPr sz="800">
                <a:solidFill>
                  <a:srgbClr val="F1F5F9"/>
                </a:solidFill>
                <a:latin typeface="JetBrains Mono"/>
              </a:rPr>
              <a:t> </a:t>
            </a:r>
            <a:r>
              <a:rPr sz="800" b="1">
                <a:solidFill>
                  <a:srgbClr val="00E5FF"/>
                </a:solidFill>
                <a:latin typeface="JetBrains Mono"/>
              </a:rPr>
              <a:t>ON</a:t>
            </a:r>
            <a:r>
              <a:rPr sz="800">
                <a:solidFill>
                  <a:srgbClr val="F1F5F9"/>
                </a:solidFill>
                <a:latin typeface="JetBrains Mono"/>
              </a:rPr>
              <a:t> </a:t>
            </a:r>
            <a:r>
              <a:rPr sz="800">
                <a:solidFill>
                  <a:srgbClr val="F1F5F9"/>
                </a:solidFill>
                <a:latin typeface="JetBrains Mono"/>
              </a:rPr>
              <a:t>n</a:t>
            </a:r>
            <a:r>
              <a:rPr sz="800">
                <a:solidFill>
                  <a:srgbClr val="F1F5F9"/>
                </a:solidFill>
                <a:latin typeface="JetBrains Mono"/>
              </a:rPr>
              <a:t>.</a:t>
            </a:r>
            <a:r>
              <a:rPr sz="800">
                <a:solidFill>
                  <a:srgbClr val="F1F5F9"/>
                </a:solidFill>
                <a:latin typeface="JetBrains Mono"/>
              </a:rPr>
              <a:t>Nonota</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1F5F9"/>
                </a:solidFill>
                <a:latin typeface="JetBrains Mono"/>
              </a:rPr>
              <a:t>i</a:t>
            </a:r>
            <a:r>
              <a:rPr sz="800">
                <a:solidFill>
                  <a:srgbClr val="F1F5F9"/>
                </a:solidFill>
                <a:latin typeface="JetBrains Mono"/>
              </a:rPr>
              <a:t>.</a:t>
            </a:r>
            <a:r>
              <a:rPr sz="800">
                <a:solidFill>
                  <a:srgbClr val="F1F5F9"/>
                </a:solidFill>
                <a:latin typeface="JetBrains Mono"/>
              </a:rPr>
              <a:t>Nonota</a:t>
            </a:r>
            <a:r>
              <a:rPr sz="800">
                <a:solidFill>
                  <a:srgbClr val="F1F5F9"/>
                </a:solidFill>
                <a:latin typeface="JetBrains Mono"/>
              </a:rPr>
              <a:t> </a:t>
            </a:r>
            <a:r>
              <a:rPr sz="800" b="1">
                <a:solidFill>
                  <a:srgbClr val="00E5FF"/>
                </a:solidFill>
                <a:latin typeface="JetBrains Mono"/>
              </a:rPr>
              <a:t>WHERE</a:t>
            </a:r>
            <a:r>
              <a:rPr sz="800">
                <a:solidFill>
                  <a:srgbClr val="F1F5F9"/>
                </a:solidFill>
                <a:latin typeface="JetBrains Mono"/>
              </a:rPr>
              <a:t> </a:t>
            </a:r>
            <a:r>
              <a:rPr sz="800">
                <a:solidFill>
                  <a:srgbClr val="F1F5F9"/>
                </a:solidFill>
                <a:latin typeface="JetBrains Mono"/>
              </a:rPr>
              <a:t>n</a:t>
            </a:r>
            <a:r>
              <a:rPr sz="800">
                <a:solidFill>
                  <a:srgbClr val="F1F5F9"/>
                </a:solidFill>
                <a:latin typeface="JetBrains Mono"/>
              </a:rPr>
              <a:t>.</a:t>
            </a:r>
            <a:r>
              <a:rPr sz="800">
                <a:solidFill>
                  <a:srgbClr val="F1F5F9"/>
                </a:solidFill>
                <a:latin typeface="JetBrains Mono"/>
              </a:rPr>
              <a:t>KodeKasir</a:t>
            </a:r>
            <a:r>
              <a:rPr sz="800">
                <a:solidFill>
                  <a:srgbClr val="F1F5F9"/>
                </a:solidFill>
                <a:latin typeface="JetBrains Mono"/>
              </a:rPr>
              <a:t> </a:t>
            </a:r>
            <a:r>
              <a:rPr sz="800">
                <a:solidFill>
                  <a:srgbClr val="F1F5F9"/>
                </a:solidFill>
                <a:latin typeface="JetBrains Mono"/>
              </a:rPr>
              <a:t>=</a:t>
            </a:r>
            <a:r>
              <a:rPr sz="800">
                <a:solidFill>
                  <a:srgbClr val="F1F5F9"/>
                </a:solidFill>
                <a:latin typeface="JetBrains Mono"/>
              </a:rPr>
              <a:t> </a:t>
            </a:r>
            <a:r>
              <a:rPr sz="800">
                <a:solidFill>
                  <a:srgbClr val="F59E0B"/>
                </a:solidFill>
                <a:latin typeface="JetBrains Mono"/>
              </a:rPr>
              <a:t>p_KodeKasir</a:t>
            </a:r>
            <a:r>
              <a:rPr sz="800">
                <a:solidFill>
                  <a:srgbClr val="F1F5F9"/>
                </a:solidFill>
                <a:latin typeface="JetBrains Mono"/>
              </a:rPr>
              <a:t>;</a:t>
            </a:r>
          </a:p>
          <a:p>
            <a:pPr>
              <a:spcAft>
                <a:spcPts val="50"/>
              </a:spcAft>
            </a:pPr>
            <a:r>
              <a:rPr sz="800" b="1">
                <a:solidFill>
                  <a:srgbClr val="00E5FF"/>
                </a:solidFill>
                <a:latin typeface="JetBrains Mono"/>
              </a:rPr>
              <a:t>END</a:t>
            </a:r>
            <a:r>
              <a:rPr sz="800">
                <a:solidFill>
                  <a:srgbClr val="F1F5F9"/>
                </a:solidFill>
                <a:latin typeface="JetBrains Mono"/>
              </a:rPr>
              <a:t>;</a:t>
            </a:r>
          </a:p>
        </p:txBody>
      </p:sp>
      <p:sp>
        <p:nvSpPr>
          <p:cNvPr id="14" name="Rounded Rectangle 13"/>
          <p:cNvSpPr/>
          <p:nvPr/>
        </p:nvSpPr>
        <p:spPr>
          <a:xfrm>
            <a:off x="7680960" y="1691640"/>
            <a:ext cx="3566160" cy="201168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5552" y="1819656"/>
            <a:ext cx="3236976" cy="1755648"/>
          </a:xfrm>
          <a:prstGeom prst="rect">
            <a:avLst/>
          </a:prstGeom>
          <a:noFill/>
        </p:spPr>
        <p:txBody>
          <a:bodyPr wrap="square">
            <a:spAutoFit/>
          </a:bodyPr>
          <a:lstStyle/>
          <a:p>
            <a:r>
              <a:rPr sz="1200" b="1">
                <a:solidFill>
                  <a:srgbClr val="FFFFFF"/>
                </a:solidFill>
                <a:latin typeface="Plus Jakarta Sans"/>
              </a:rPr>
              <a:t>Kriteria Penilaian</a:t>
            </a:r>
          </a:p>
          <a:p>
            <a:pPr>
              <a:spcBef>
                <a:spcPts val="600"/>
              </a:spcBef>
            </a:pPr>
            <a:r>
              <a:rPr sz="950">
                <a:solidFill>
                  <a:srgbClr val="CBD5E1"/>
                </a:solidFill>
                <a:latin typeface="Inter"/>
              </a:rPr>
              <a:t>1. Fungsionalitas kueri (40%)
2. Penanganan kondisi batas NULL/0 (20%)
3. Struktur kontrol &amp; efisiensi kursor (20%)
4. Keamanan transaksi &amp; integritas DML (20%)</a:t>
            </a:r>
          </a:p>
        </p:txBody>
      </p:sp>
      <p:sp>
        <p:nvSpPr>
          <p:cNvPr id="16" name="Rounded Rectangle 15"/>
          <p:cNvSpPr/>
          <p:nvPr/>
        </p:nvSpPr>
        <p:spPr>
          <a:xfrm>
            <a:off x="7680960" y="3886200"/>
            <a:ext cx="3566160" cy="2011680"/>
          </a:xfrm>
          <a:prstGeom prst="roundRect">
            <a:avLst/>
          </a:prstGeom>
          <a:solidFill>
            <a:srgbClr val="101A34"/>
          </a:solidFill>
          <a:ln w="12700">
            <a:solidFill>
              <a:srgbClr val="2E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45552" y="4014216"/>
            <a:ext cx="3236976" cy="1755648"/>
          </a:xfrm>
          <a:prstGeom prst="rect">
            <a:avLst/>
          </a:prstGeom>
          <a:noFill/>
        </p:spPr>
        <p:txBody>
          <a:bodyPr wrap="square">
            <a:spAutoFit/>
          </a:bodyPr>
          <a:lstStyle/>
          <a:p>
            <a:r>
              <a:rPr sz="1200" b="1">
                <a:solidFill>
                  <a:srgbClr val="FFFFFF"/>
                </a:solidFill>
                <a:latin typeface="Plus Jakarta Sans"/>
              </a:rPr>
              <a:t>Rubrik Pengujian Lab</a:t>
            </a:r>
          </a:p>
          <a:p>
            <a:pPr>
              <a:spcBef>
                <a:spcPts val="600"/>
              </a:spcBef>
            </a:pPr>
            <a:r>
              <a:rPr sz="950">
                <a:solidFill>
                  <a:srgbClr val="CBD5E1"/>
                </a:solidFill>
                <a:latin typeface="Inter"/>
              </a:rPr>
              <a:t>Gunakan dataset 'minimarket_db.sql'. Lakukan pengujian dengan menginputkan produk dengan stok 0, stok 3, dan produk yang tidak terdaftar di tabel.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