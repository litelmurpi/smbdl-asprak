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datang di modul pengayaan Sistem Manajemen Basis Data Lanjut (SMBD Lanjut). Pada sesi ini mahasiswa akan mempelajari cara membangun logika bisnis di sisi RDBMS MySQL menggunakan Stored Procedure, UDF, Cursor, dan Error Handling pada basis data minimarket 3NF.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kepada mahasiswa bahwa keuntungan terbesar Stored Routine terletak pada berkurangnya traffic bolak-balik antara server aplikasi dan database.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Ingatkan aturan MySQL: Function tidak boleh melakukan INSERT/UPDATE/DELETE jika dipanggil dari SELECT.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Jelaskan pentingnya klausa DELIMITER $$ agar MySQL tidak mengartikan titik koma di dalam fungsi sebagai akhir kueri.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bahwa variabel session di MySQL menggunakan simbol '@' (contoh: @total, @bonus). Parameter OUT dan INOUT wajib dipanggil menggunakan variabel session ini.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Ingatkan perbedaan END IF; dan END CASE; yang wajib diakhiri titik koma di blok BEGIN...END.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Jelaskan urutan deklarasi variabel di MySQL: variabel biasa dulu, lalu CURSOR, baru kemudian HANDLER.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bahwa penanganan galat terstruktur mencegah aplikasi crash tanpa pesan yang jelas.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Jelaskan mengapa Nonota dan KodeProduk dijadikan Composite Primary Key pada itemnota.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prinsip ACID. Stored procedure adalah tempat ideal untuk membungkus transaksi bisnis agar tidak bocor ke sisi klien.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Mahasiswa wajib mengerjakan minimal Soal 1 s.d. Soal 8. Soal 9 dan 10 adalah nilai pengayaan khusus.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Perhatikan apakah mahasiswa menggunakan SELECT INTO atau cursor.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822960"/>
            <a:ext cx="10058400" cy="365760"/>
          </a:xfrm>
          <a:prstGeom prst="rect">
            <a:avLst/>
          </a:prstGeom>
          <a:noFill/>
        </p:spPr>
        <p:txBody>
          <a:bodyPr wrap="none">
            <a:spAutoFit/>
          </a:bodyPr>
          <a:lstStyle/>
          <a:p>
            <a:r>
              <a:rPr sz="1050" b="1">
                <a:solidFill>
                  <a:srgbClr val="00E5FF"/>
                </a:solidFill>
                <a:latin typeface="JetBrains Mono"/>
              </a:rPr>
              <a:t>● SISTEM INFORMASI 2024/2025 · SMBD LANJUT   </a:t>
            </a:r>
            <a:r>
              <a:rPr sz="1050">
                <a:solidFill>
                  <a:srgbClr val="94A3B8"/>
                </a:solidFill>
                <a:latin typeface="Inter"/>
              </a:rPr>
              <a:t>Universitas Amikom Yogyakarta</a:t>
            </a:r>
          </a:p>
        </p:txBody>
      </p:sp>
      <p:sp>
        <p:nvSpPr>
          <p:cNvPr id="5" name="TextBox 4"/>
          <p:cNvSpPr txBox="1"/>
          <p:nvPr/>
        </p:nvSpPr>
        <p:spPr>
          <a:xfrm>
            <a:off x="1005840" y="1371600"/>
            <a:ext cx="10058400" cy="1645920"/>
          </a:xfrm>
          <a:prstGeom prst="rect">
            <a:avLst/>
          </a:prstGeom>
          <a:noFill/>
        </p:spPr>
        <p:txBody>
          <a:bodyPr wrap="square">
            <a:spAutoFit/>
          </a:bodyPr>
          <a:lstStyle/>
          <a:p>
            <a:pPr>
              <a:defRPr sz="3200" b="1">
                <a:solidFill>
                  <a:srgbClr val="FFFFFF"/>
                </a:solidFill>
                <a:latin typeface="Plus Jakarta Sans"/>
              </a:defRPr>
            </a:pPr>
            <a:r>
              <a:t>Pemrograman Prosedural Database:</a:t>
            </a:r>
          </a:p>
          <a:p>
            <a:pPr>
              <a:defRPr sz="3200" b="1">
                <a:solidFill>
                  <a:srgbClr val="00E5FF"/>
                </a:solidFill>
                <a:latin typeface="Plus Jakarta Sans"/>
              </a:defRPr>
            </a:pPr>
            <a:r>
              <a:t>Stored Procedure, UDF &amp; Cursor</a:t>
            </a:r>
          </a:p>
        </p:txBody>
      </p:sp>
      <p:sp>
        <p:nvSpPr>
          <p:cNvPr id="6" name="TextBox 5"/>
          <p:cNvSpPr txBox="1"/>
          <p:nvPr/>
        </p:nvSpPr>
        <p:spPr>
          <a:xfrm>
            <a:off x="1005840" y="3154680"/>
            <a:ext cx="9875520" cy="822960"/>
          </a:xfrm>
          <a:prstGeom prst="rect">
            <a:avLst/>
          </a:prstGeom>
          <a:noFill/>
        </p:spPr>
        <p:txBody>
          <a:bodyPr wrap="square">
            <a:spAutoFit/>
          </a:bodyPr>
          <a:lstStyle/>
          <a:p>
            <a:pPr>
              <a:defRPr sz="1200">
                <a:solidFill>
                  <a:srgbClr val="CBD5E1"/>
                </a:solidFill>
                <a:latin typeface="Inter"/>
              </a:defRPr>
            </a:pPr>
            <a:r>
              <a:t>Penyusunan logika bisnis terpusat di sisi server (RDBMS): User Defined Function (UDF), Stored Procedure dengan parameter IN/OUT/INOUT, iterasi baris per baris dengan CURSOR, dan penanganan galat terstruktur (SIGNAL SQLSTATE &amp; HANDLER) pada kasus ritel minimarket 3NF.</a:t>
            </a:r>
          </a:p>
        </p:txBody>
      </p:sp>
      <p:sp>
        <p:nvSpPr>
          <p:cNvPr id="7" name="Rounded Rectangle 6"/>
          <p:cNvSpPr/>
          <p:nvPr/>
        </p:nvSpPr>
        <p:spPr>
          <a:xfrm>
            <a:off x="1005840" y="4206240"/>
            <a:ext cx="3200400" cy="822960"/>
          </a:xfrm>
          <a:prstGeom prst="roundRect">
            <a:avLst/>
          </a:prstGeom>
          <a:solidFill>
            <a:srgbClr val="101A34"/>
          </a:solidFill>
          <a:ln>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38BDF8"/>
                </a:solidFill>
                <a:latin typeface="JetBrains Mono"/>
              </a:defRPr>
            </a:pPr>
            <a:r>
              <a:t>MATERI PRAKTIKUM</a:t>
            </a:r>
          </a:p>
          <a:p>
            <a:pPr>
              <a:defRPr sz="1250" b="1">
                <a:solidFill>
                  <a:srgbClr val="FFFFFF"/>
                </a:solidFill>
                <a:latin typeface="Plus Jakarta Sans"/>
              </a:defRPr>
            </a:pPr>
            <a:r>
              <a:t>Pengayaan Praktikum 4</a:t>
            </a:r>
          </a:p>
        </p:txBody>
      </p:sp>
      <p:sp>
        <p:nvSpPr>
          <p:cNvPr id="8" name="Rounded Rectangle 7"/>
          <p:cNvSpPr/>
          <p:nvPr/>
        </p:nvSpPr>
        <p:spPr>
          <a:xfrm>
            <a:off x="4389120" y="4206240"/>
            <a:ext cx="3200400" cy="822960"/>
          </a:xfrm>
          <a:prstGeom prst="roundRect">
            <a:avLst/>
          </a:prstGeom>
          <a:solidFill>
            <a:srgbClr val="101A34"/>
          </a:solidFill>
          <a:ln>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38BDF8"/>
                </a:solidFill>
                <a:latin typeface="JetBrains Mono"/>
              </a:defRPr>
            </a:pPr>
            <a:r>
              <a:t>STUDI KASUS RITEL</a:t>
            </a:r>
          </a:p>
          <a:p>
            <a:pPr>
              <a:defRPr sz="1250" b="1">
                <a:solidFill>
                  <a:srgbClr val="FFFFFF"/>
                </a:solidFill>
                <a:latin typeface="Plus Jakarta Sans"/>
              </a:defRPr>
            </a:pPr>
            <a:r>
              <a:t>Otomasi Nota &amp; Stok 3NF</a:t>
            </a:r>
          </a:p>
        </p:txBody>
      </p:sp>
      <p:sp>
        <p:nvSpPr>
          <p:cNvPr id="9" name="Rounded Rectangle 8"/>
          <p:cNvSpPr/>
          <p:nvPr/>
        </p:nvSpPr>
        <p:spPr>
          <a:xfrm>
            <a:off x="7772400" y="4206240"/>
            <a:ext cx="3200400" cy="822960"/>
          </a:xfrm>
          <a:prstGeom prst="roundRect">
            <a:avLst/>
          </a:prstGeom>
          <a:solidFill>
            <a:srgbClr val="101A34"/>
          </a:solidFill>
          <a:ln>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38BDF8"/>
                </a:solidFill>
                <a:latin typeface="JetBrains Mono"/>
              </a:defRPr>
            </a:pPr>
            <a:r>
              <a:t>TANTANGAN TUGAS</a:t>
            </a:r>
          </a:p>
          <a:p>
            <a:pPr>
              <a:defRPr sz="1250" b="1">
                <a:solidFill>
                  <a:srgbClr val="FFFFFF"/>
                </a:solidFill>
                <a:latin typeface="Plus Jakarta Sans"/>
              </a:defRPr>
            </a:pPr>
            <a:r>
              <a:t>10 Soal Bertingkat + Solusi</a:t>
            </a:r>
          </a:p>
        </p:txBody>
      </p:sp>
      <p:sp>
        <p:nvSpPr>
          <p:cNvPr id="10" name="TextBox 9"/>
          <p:cNvSpPr txBox="1"/>
          <p:nvPr/>
        </p:nvSpPr>
        <p:spPr>
          <a:xfrm>
            <a:off x="1005840" y="5303520"/>
            <a:ext cx="9144000" cy="320040"/>
          </a:xfrm>
          <a:prstGeom prst="rect">
            <a:avLst/>
          </a:prstGeom>
          <a:noFill/>
        </p:spPr>
        <p:txBody>
          <a:bodyPr wrap="none">
            <a:spAutoFit/>
          </a:bodyPr>
          <a:lstStyle/>
          <a:p>
            <a:pPr>
              <a:defRPr sz="1000">
                <a:solidFill>
                  <a:srgbClr val="94A3B8"/>
                </a:solidFill>
                <a:latin typeface="JetBrains Mono"/>
              </a:defRPr>
            </a:pPr>
            <a:r>
              <a:t>Tekan Space atau Panah Kanan untuk navigasi · Didukung DeckCraft &amp; PowerPoint Native</a:t>
            </a:r>
          </a:p>
        </p:txBody>
      </p:sp>
      <p:sp>
        <p:nvSpPr>
          <p:cNvPr id="11" name="TextBox 10"/>
          <p:cNvSpPr txBox="1"/>
          <p:nvPr/>
        </p:nvSpPr>
        <p:spPr>
          <a:xfrm>
            <a:off x="1005840" y="6080760"/>
            <a:ext cx="10058400" cy="320040"/>
          </a:xfrm>
          <a:prstGeom prst="rect">
            <a:avLst/>
          </a:prstGeom>
          <a:noFill/>
        </p:spPr>
        <p:txBody>
          <a:bodyPr wrap="none">
            <a:spAutoFit/>
          </a:bodyPr>
          <a:lstStyle/>
          <a:p>
            <a:pPr>
              <a:defRPr sz="900">
                <a:solidFill>
                  <a:srgbClr val="94A3B8"/>
                </a:solidFill>
                <a:latin typeface="Inter"/>
              </a:defRPr>
            </a:pPr>
            <a:r>
              <a:t>Laboratorium Sistem Informasi · Pengayaan SMBD Lanjut · Slide 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01 · KONSEPSI &amp; ARSITEKTUR</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Keuntungan Stored Routine</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Kenapa Menaruh Logika Bisnis di Database? </a:t>
            </a:r>
            <a:r>
              <a:rPr sz="2100" b="1">
                <a:solidFill>
                  <a:srgbClr val="00E5FF"/>
                </a:solidFill>
                <a:latin typeface="Plus Jakarta Sans"/>
              </a:rPr>
              <a:t>Hemat Jaringan &amp; Keamanan Data</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TextBox 7"/>
          <p:cNvSpPr txBox="1"/>
          <p:nvPr/>
        </p:nvSpPr>
        <p:spPr>
          <a:xfrm>
            <a:off x="914400" y="1463040"/>
            <a:ext cx="10332720" cy="365760"/>
          </a:xfrm>
          <a:prstGeom prst="rect">
            <a:avLst/>
          </a:prstGeom>
          <a:noFill/>
        </p:spPr>
        <p:txBody>
          <a:bodyPr wrap="none">
            <a:spAutoFit/>
          </a:bodyPr>
          <a:lstStyle/>
          <a:p>
            <a:pPr>
              <a:defRPr sz="1100">
                <a:solidFill>
                  <a:srgbClr val="CBD5E1"/>
                </a:solidFill>
                <a:latin typeface="Inter"/>
              </a:defRPr>
            </a:pPr>
            <a:r>
              <a:t>Memindahkan logika transaksi langsung ke dalam database engine memberikan 4 keuntungan praktis:</a:t>
            </a:r>
          </a:p>
        </p:txBody>
      </p:sp>
      <p:sp>
        <p:nvSpPr>
          <p:cNvPr id="9" name="Rounded Rectangle 8"/>
          <p:cNvSpPr/>
          <p:nvPr/>
        </p:nvSpPr>
        <p:spPr>
          <a:xfrm>
            <a:off x="914400" y="1920240"/>
            <a:ext cx="2450592" cy="3931920"/>
          </a:xfrm>
          <a:prstGeom prst="roundRect">
            <a:avLst/>
          </a:prstGeom>
          <a:solidFill>
            <a:srgbClr val="132040"/>
          </a:solidFill>
          <a:ln w="15875">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48256"/>
            <a:ext cx="2121408" cy="3675888"/>
          </a:xfrm>
          <a:prstGeom prst="rect">
            <a:avLst/>
          </a:prstGeom>
          <a:noFill/>
        </p:spPr>
        <p:txBody>
          <a:bodyPr wrap="square">
            <a:spAutoFit/>
          </a:bodyPr>
          <a:lstStyle/>
          <a:p>
            <a:r>
              <a:rPr sz="1050" b="1">
                <a:solidFill>
                  <a:srgbClr val="00E5FF"/>
                </a:solidFill>
                <a:latin typeface="JetBrains Mono"/>
              </a:rPr>
              <a:t>[01] </a:t>
            </a:r>
            <a:r>
              <a:rPr sz="1200" b="1">
                <a:solidFill>
                  <a:srgbClr val="FFFFFF"/>
                </a:solidFill>
                <a:latin typeface="Plus Jakarta Sans"/>
              </a:rPr>
              <a:t>Hemat Jaringan</a:t>
            </a:r>
          </a:p>
          <a:p>
            <a:pPr>
              <a:spcBef>
                <a:spcPts val="600"/>
              </a:spcBef>
            </a:pPr>
            <a:r>
              <a:rPr sz="950">
                <a:solidFill>
                  <a:srgbClr val="CBD5E1"/>
                </a:solidFill>
                <a:latin typeface="Inter"/>
              </a:rPr>
              <a:t>Aplikasi kasir cukup kirim 1 perintah CALL, bukan bolak-balik kirim belasan kueri lewat jaringan WiFi/kabel.</a:t>
            </a:r>
          </a:p>
        </p:txBody>
      </p:sp>
      <p:sp>
        <p:nvSpPr>
          <p:cNvPr id="11" name="Rounded Rectangle 10"/>
          <p:cNvSpPr/>
          <p:nvPr/>
        </p:nvSpPr>
        <p:spPr>
          <a:xfrm>
            <a:off x="3547872" y="1920240"/>
            <a:ext cx="2450592" cy="3931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12464" y="2048256"/>
            <a:ext cx="2121408" cy="3675888"/>
          </a:xfrm>
          <a:prstGeom prst="rect">
            <a:avLst/>
          </a:prstGeom>
          <a:noFill/>
        </p:spPr>
        <p:txBody>
          <a:bodyPr wrap="square">
            <a:spAutoFit/>
          </a:bodyPr>
          <a:lstStyle/>
          <a:p>
            <a:r>
              <a:rPr sz="1050" b="1">
                <a:solidFill>
                  <a:srgbClr val="00E5FF"/>
                </a:solidFill>
                <a:latin typeface="JetBrains Mono"/>
              </a:rPr>
              <a:t>[02] </a:t>
            </a:r>
            <a:r>
              <a:rPr sz="1200" b="1">
                <a:solidFill>
                  <a:srgbClr val="FFFFFF"/>
                </a:solidFill>
                <a:latin typeface="Plus Jakarta Sans"/>
              </a:rPr>
              <a:t>Aturan Terpusat</a:t>
            </a:r>
          </a:p>
          <a:p>
            <a:pPr>
              <a:spcBef>
                <a:spcPts val="600"/>
              </a:spcBef>
            </a:pPr>
            <a:r>
              <a:rPr sz="950">
                <a:solidFill>
                  <a:srgbClr val="CBD5E1"/>
                </a:solidFill>
                <a:latin typeface="Inter"/>
              </a:rPr>
              <a:t>Rumus diskon, batas stok, dan poin ditulis sekali di database. Seluruh aplikasi kasir memakai aturan yang sama.</a:t>
            </a:r>
          </a:p>
        </p:txBody>
      </p:sp>
      <p:sp>
        <p:nvSpPr>
          <p:cNvPr id="13" name="Rounded Rectangle 12"/>
          <p:cNvSpPr/>
          <p:nvPr/>
        </p:nvSpPr>
        <p:spPr>
          <a:xfrm>
            <a:off x="6181344" y="1920240"/>
            <a:ext cx="2450592" cy="3931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5936" y="2048256"/>
            <a:ext cx="2121408" cy="3675888"/>
          </a:xfrm>
          <a:prstGeom prst="rect">
            <a:avLst/>
          </a:prstGeom>
          <a:noFill/>
        </p:spPr>
        <p:txBody>
          <a:bodyPr wrap="square">
            <a:spAutoFit/>
          </a:bodyPr>
          <a:lstStyle/>
          <a:p>
            <a:r>
              <a:rPr sz="1050" b="1">
                <a:solidFill>
                  <a:srgbClr val="00E5FF"/>
                </a:solidFill>
                <a:latin typeface="JetBrains Mono"/>
              </a:rPr>
              <a:t>[03] </a:t>
            </a:r>
            <a:r>
              <a:rPr sz="1200" b="1">
                <a:solidFill>
                  <a:srgbClr val="FFFFFF"/>
                </a:solidFill>
                <a:latin typeface="Plus Jakarta Sans"/>
              </a:rPr>
              <a:t>Eksekusi Cepat</a:t>
            </a:r>
          </a:p>
          <a:p>
            <a:pPr>
              <a:spcBef>
                <a:spcPts val="600"/>
              </a:spcBef>
            </a:pPr>
            <a:r>
              <a:rPr sz="950">
                <a:solidFill>
                  <a:srgbClr val="CBD5E1"/>
                </a:solidFill>
                <a:latin typeface="Inter"/>
              </a:rPr>
              <a:t>Rencana eksekusi (execution plan) disimpan di buffer memori database. Eksekusi berikutnya berjalan langsung tanpa parsing ulang.</a:t>
            </a:r>
          </a:p>
        </p:txBody>
      </p:sp>
      <p:sp>
        <p:nvSpPr>
          <p:cNvPr id="15" name="Rounded Rectangle 14"/>
          <p:cNvSpPr/>
          <p:nvPr/>
        </p:nvSpPr>
        <p:spPr>
          <a:xfrm>
            <a:off x="8814816" y="1920240"/>
            <a:ext cx="2450592" cy="3931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79408" y="2048256"/>
            <a:ext cx="2121408" cy="3675888"/>
          </a:xfrm>
          <a:prstGeom prst="rect">
            <a:avLst/>
          </a:prstGeom>
          <a:noFill/>
        </p:spPr>
        <p:txBody>
          <a:bodyPr wrap="square">
            <a:spAutoFit/>
          </a:bodyPr>
          <a:lstStyle/>
          <a:p>
            <a:r>
              <a:rPr sz="1050" b="1">
                <a:solidFill>
                  <a:srgbClr val="00E5FF"/>
                </a:solidFill>
                <a:latin typeface="JetBrains Mono"/>
              </a:rPr>
              <a:t>[04] </a:t>
            </a:r>
            <a:r>
              <a:rPr sz="1200" b="1">
                <a:solidFill>
                  <a:srgbClr val="FFFFFF"/>
                </a:solidFill>
                <a:latin typeface="Plus Jakarta Sans"/>
              </a:rPr>
              <a:t>Akses Lebih Aman</a:t>
            </a:r>
          </a:p>
          <a:p>
            <a:pPr>
              <a:spcBef>
                <a:spcPts val="600"/>
              </a:spcBef>
            </a:pPr>
            <a:r>
              <a:rPr sz="950">
                <a:solidFill>
                  <a:srgbClr val="CBD5E1"/>
                </a:solidFill>
                <a:latin typeface="Inter"/>
              </a:rPr>
              <a:t>Kasir cukup diberi izin EXECUTE pada prosedur penjualan tanpa diberi izin mengubah tabel master fisik secara langsung.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02 · KOMPARASI LOGIKA</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Function vs Procedure</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Perbedaan Utama: Function vs Procedure </a:t>
            </a:r>
            <a:r>
              <a:rPr sz="2100" b="1">
                <a:solidFill>
                  <a:srgbClr val="00E5FF"/>
                </a:solidFill>
                <a:latin typeface="Plus Jakarta Sans"/>
              </a:rPr>
              <a:t>Kriteria &amp; Batasan</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TextBox 7"/>
          <p:cNvSpPr txBox="1"/>
          <p:nvPr/>
        </p:nvSpPr>
        <p:spPr>
          <a:xfrm>
            <a:off x="914400" y="1463040"/>
            <a:ext cx="10332720" cy="365760"/>
          </a:xfrm>
          <a:prstGeom prst="rect">
            <a:avLst/>
          </a:prstGeom>
          <a:noFill/>
        </p:spPr>
        <p:txBody>
          <a:bodyPr wrap="none">
            <a:spAutoFit/>
          </a:bodyPr>
          <a:lstStyle/>
          <a:p>
            <a:pPr>
              <a:defRPr sz="1100">
                <a:solidFill>
                  <a:srgbClr val="CBD5E1"/>
                </a:solidFill>
                <a:latin typeface="Inter"/>
              </a:defRPr>
            </a:pPr>
            <a:r>
              <a:t>Meskipun sama-sama blok kode di sisi server, keduanya dirancang untuk tugas yang berbeda:</a:t>
            </a:r>
          </a:p>
        </p:txBody>
      </p:sp>
      <p:graphicFrame>
        <p:nvGraphicFramePr>
          <p:cNvPr id="9" name="Table 8"/>
          <p:cNvGraphicFramePr>
            <a:graphicFrameLocks noGrp="1"/>
          </p:cNvGraphicFramePr>
          <p:nvPr/>
        </p:nvGraphicFramePr>
        <p:xfrm>
          <a:off x="914400" y="1920240"/>
          <a:ext cx="10332720" cy="3931920"/>
        </p:xfrm>
        <a:graphic>
          <a:graphicData uri="http://schemas.openxmlformats.org/drawingml/2006/table">
            <a:tbl>
              <a:tblPr firstRow="1" bandRow="1">
                <a:tableStyleId>{5C22544A-7EE6-4342-B048-85BDC9FD1C3A}</a:tableStyleId>
              </a:tblPr>
              <a:tblGrid>
                <a:gridCol w="2468880"/>
                <a:gridCol w="3931920"/>
                <a:gridCol w="3931920"/>
              </a:tblGrid>
              <a:tr h="786384">
                <a:tc>
                  <a:txBody>
                    <a:bodyPr/>
                    <a:lstStyle/>
                    <a:p>
                      <a:pPr algn="l"/>
                      <a:r>
                        <a:rPr sz="1050" b="1">
                          <a:solidFill>
                            <a:srgbClr val="00E5FF"/>
                          </a:solidFill>
                          <a:latin typeface="Plus Jakarta Sans"/>
                        </a:rPr>
                        <a:t>Kriteria</a:t>
                      </a:r>
                    </a:p>
                  </a:txBody>
                  <a:tcPr>
                    <a:solidFill>
                      <a:srgbClr val="1A2D58"/>
                    </a:solidFill>
                  </a:tcPr>
                </a:tc>
                <a:tc>
                  <a:txBody>
                    <a:bodyPr/>
                    <a:lstStyle/>
                    <a:p>
                      <a:pPr algn="l"/>
                      <a:r>
                        <a:rPr sz="1050" b="1">
                          <a:solidFill>
                            <a:srgbClr val="00E5FF"/>
                          </a:solidFill>
                          <a:latin typeface="Plus Jakarta Sans"/>
                        </a:rPr>
                        <a:t>User Defined Function (UDF)</a:t>
                      </a:r>
                    </a:p>
                  </a:txBody>
                  <a:tcPr>
                    <a:solidFill>
                      <a:srgbClr val="1A2D58"/>
                    </a:solidFill>
                  </a:tcPr>
                </a:tc>
                <a:tc>
                  <a:txBody>
                    <a:bodyPr/>
                    <a:lstStyle/>
                    <a:p>
                      <a:pPr algn="l"/>
                      <a:r>
                        <a:rPr sz="1050" b="1">
                          <a:solidFill>
                            <a:srgbClr val="00E5FF"/>
                          </a:solidFill>
                          <a:latin typeface="Plus Jakarta Sans"/>
                        </a:rPr>
                        <a:t>Stored Procedure</a:t>
                      </a:r>
                    </a:p>
                  </a:txBody>
                  <a:tcPr>
                    <a:solidFill>
                      <a:srgbClr val="1A2D58"/>
                    </a:solidFill>
                  </a:tcPr>
                </a:tc>
              </a:tr>
              <a:tr h="786384">
                <a:tc>
                  <a:txBody>
                    <a:bodyPr/>
                    <a:lstStyle/>
                    <a:p>
                      <a:pPr algn="l"/>
                      <a:r>
                        <a:rPr sz="950" b="1">
                          <a:solidFill>
                            <a:srgbClr val="FFFFFF"/>
                          </a:solidFill>
                          <a:latin typeface="Inter"/>
                        </a:rPr>
                        <a:t>Nilai Kembalian</a:t>
                      </a:r>
                    </a:p>
                  </a:txBody>
                  <a:tcPr>
                    <a:solidFill>
                      <a:srgbClr val="101A34"/>
                    </a:solidFill>
                  </a:tcPr>
                </a:tc>
                <a:tc>
                  <a:txBody>
                    <a:bodyPr/>
                    <a:lstStyle/>
                    <a:p>
                      <a:pPr algn="l"/>
                      <a:r>
                        <a:rPr sz="950">
                          <a:solidFill>
                            <a:srgbClr val="F1F5F9"/>
                          </a:solidFill>
                          <a:latin typeface="Inter"/>
                        </a:rPr>
                        <a:t>Wajib 1 nilai skalar via klausa RETURNS &amp; RETURN.</a:t>
                      </a:r>
                    </a:p>
                  </a:txBody>
                  <a:tcPr>
                    <a:solidFill>
                      <a:srgbClr val="101A34"/>
                    </a:solidFill>
                  </a:tcPr>
                </a:tc>
                <a:tc>
                  <a:txBody>
                    <a:bodyPr/>
                    <a:lstStyle/>
                    <a:p>
                      <a:pPr algn="l"/>
                      <a:r>
                        <a:rPr sz="950">
                          <a:solidFill>
                            <a:srgbClr val="F1F5F9"/>
                          </a:solidFill>
                          <a:latin typeface="Inter"/>
                        </a:rPr>
                        <a:t>Tidak ada return langsung; memakai parameter OUT / INOUT.</a:t>
                      </a:r>
                    </a:p>
                  </a:txBody>
                  <a:tcPr>
                    <a:solidFill>
                      <a:srgbClr val="101A34"/>
                    </a:solidFill>
                  </a:tcPr>
                </a:tc>
              </a:tr>
              <a:tr h="786384">
                <a:tc>
                  <a:txBody>
                    <a:bodyPr/>
                    <a:lstStyle/>
                    <a:p>
                      <a:pPr algn="l"/>
                      <a:r>
                        <a:rPr sz="950" b="1">
                          <a:solidFill>
                            <a:srgbClr val="FFFFFF"/>
                          </a:solidFill>
                          <a:latin typeface="Inter"/>
                        </a:rPr>
                        <a:t>Cara Panggil</a:t>
                      </a:r>
                    </a:p>
                  </a:txBody>
                  <a:tcPr>
                    <a:solidFill>
                      <a:srgbClr val="0D152A"/>
                    </a:solidFill>
                  </a:tcPr>
                </a:tc>
                <a:tc>
                  <a:txBody>
                    <a:bodyPr/>
                    <a:lstStyle/>
                    <a:p>
                      <a:pPr algn="l"/>
                      <a:r>
                        <a:rPr sz="950">
                          <a:solidFill>
                            <a:srgbClr val="F1F5F9"/>
                          </a:solidFill>
                          <a:latin typeface="Inter"/>
                        </a:rPr>
                        <a:t>Dipanggil di dalam kueri SQL biasa (SELECT fc(), WHERE fc() &gt; 0).</a:t>
                      </a:r>
                    </a:p>
                  </a:txBody>
                  <a:tcPr>
                    <a:solidFill>
                      <a:srgbClr val="0D152A"/>
                    </a:solidFill>
                  </a:tcPr>
                </a:tc>
                <a:tc>
                  <a:txBody>
                    <a:bodyPr/>
                    <a:lstStyle/>
                    <a:p>
                      <a:pPr algn="l"/>
                      <a:r>
                        <a:rPr sz="950">
                          <a:solidFill>
                            <a:srgbClr val="F1F5F9"/>
                          </a:solidFill>
                          <a:latin typeface="Inter"/>
                        </a:rPr>
                        <a:t>Dipanggil terpisah sebagai perintah mandiri: CALL sp_name(argumen);.</a:t>
                      </a:r>
                    </a:p>
                  </a:txBody>
                  <a:tcPr>
                    <a:solidFill>
                      <a:srgbClr val="0D152A"/>
                    </a:solidFill>
                  </a:tcPr>
                </a:tc>
              </a:tr>
              <a:tr h="786384">
                <a:tc>
                  <a:txBody>
                    <a:bodyPr/>
                    <a:lstStyle/>
                    <a:p>
                      <a:pPr algn="l"/>
                      <a:r>
                        <a:rPr sz="950" b="1">
                          <a:solidFill>
                            <a:srgbClr val="FFFFFF"/>
                          </a:solidFill>
                          <a:latin typeface="Inter"/>
                        </a:rPr>
                        <a:t>Ubah Data (DML)</a:t>
                      </a:r>
                    </a:p>
                  </a:txBody>
                  <a:tcPr>
                    <a:solidFill>
                      <a:srgbClr val="101A34"/>
                    </a:solidFill>
                  </a:tcPr>
                </a:tc>
                <a:tc>
                  <a:txBody>
                    <a:bodyPr/>
                    <a:lstStyle/>
                    <a:p>
                      <a:pPr algn="l"/>
                      <a:r>
                        <a:rPr sz="950">
                          <a:solidFill>
                            <a:srgbClr val="F1F5F9"/>
                          </a:solidFill>
                          <a:latin typeface="Inter"/>
                        </a:rPr>
                        <a:t>Dilarang mengubah isi tabel saat dipanggil kueri baca.</a:t>
                      </a:r>
                    </a:p>
                  </a:txBody>
                  <a:tcPr>
                    <a:solidFill>
                      <a:srgbClr val="101A34"/>
                    </a:solidFill>
                  </a:tcPr>
                </a:tc>
                <a:tc>
                  <a:txBody>
                    <a:bodyPr/>
                    <a:lstStyle/>
                    <a:p>
                      <a:pPr algn="l"/>
                      <a:r>
                        <a:rPr sz="950">
                          <a:solidFill>
                            <a:srgbClr val="F1F5F9"/>
                          </a:solidFill>
                          <a:latin typeface="Inter"/>
                        </a:rPr>
                        <a:t>Bebas mengubah data, mengontrol transaksi COMMIT/ROLLBACK, dan kueri dinamis.</a:t>
                      </a:r>
                    </a:p>
                  </a:txBody>
                  <a:tcPr>
                    <a:solidFill>
                      <a:srgbClr val="101A34"/>
                    </a:solidFill>
                  </a:tcPr>
                </a:tc>
              </a:tr>
              <a:tr h="786384">
                <a:tc>
                  <a:txBody>
                    <a:bodyPr/>
                    <a:lstStyle/>
                    <a:p>
                      <a:pPr algn="l"/>
                      <a:r>
                        <a:rPr sz="950" b="1">
                          <a:solidFill>
                            <a:srgbClr val="FFFFFF"/>
                          </a:solidFill>
                          <a:latin typeface="Inter"/>
                        </a:rPr>
                        <a:t>Kapan Dipakai</a:t>
                      </a:r>
                    </a:p>
                  </a:txBody>
                  <a:tcPr>
                    <a:solidFill>
                      <a:srgbClr val="0D152A"/>
                    </a:solidFill>
                  </a:tcPr>
                </a:tc>
                <a:tc>
                  <a:txBody>
                    <a:bodyPr/>
                    <a:lstStyle/>
                    <a:p>
                      <a:pPr algn="l"/>
                      <a:r>
                        <a:rPr sz="950">
                          <a:solidFill>
                            <a:srgbClr val="F1F5F9"/>
                          </a:solidFill>
                          <a:latin typeface="Inter"/>
                        </a:rPr>
                        <a:t>Perhitungan skalar, format teks, konversi nilai, atau nomor urut nota.</a:t>
                      </a:r>
                    </a:p>
                  </a:txBody>
                  <a:tcPr>
                    <a:solidFill>
                      <a:srgbClr val="0D152A"/>
                    </a:solidFill>
                  </a:tcPr>
                </a:tc>
                <a:tc>
                  <a:txBody>
                    <a:bodyPr/>
                    <a:lstStyle/>
                    <a:p>
                      <a:pPr algn="l"/>
                      <a:r>
                        <a:rPr sz="950">
                          <a:solidFill>
                            <a:srgbClr val="F1F5F9"/>
                          </a:solidFill>
                          <a:latin typeface="Inter"/>
                        </a:rPr>
                        <a:t>Alur transaksi multi-tabel, batch processing berkala, dan otomasi kasir.</a:t>
                      </a:r>
                    </a:p>
                  </a:txBody>
                  <a:tcPr>
                    <a:solidFill>
                      <a:srgbClr val="0D152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03 · FUNCTION (UDF)</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Fungsi Buatan Sendiri</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User Defined Function &amp; Karakteristik Sifat </a:t>
            </a:r>
            <a:r>
              <a:rPr sz="2100" b="1">
                <a:solidFill>
                  <a:srgbClr val="00E5FF"/>
                </a:solidFill>
                <a:latin typeface="Plus Jakarta Sans"/>
              </a:rPr>
              <a:t>Nilai Kembalian Tunggal</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737360"/>
            <a:ext cx="6217920" cy="411480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4708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4708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4708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73936"/>
            <a:ext cx="4206240" cy="256032"/>
          </a:xfrm>
          <a:prstGeom prst="rect">
            <a:avLst/>
          </a:prstGeom>
          <a:noFill/>
        </p:spPr>
        <p:txBody>
          <a:bodyPr wrap="none">
            <a:spAutoFit/>
          </a:bodyPr>
          <a:lstStyle/>
          <a:p>
            <a:pPr>
              <a:defRPr sz="900">
                <a:solidFill>
                  <a:srgbClr val="38BDF8"/>
                </a:solidFill>
                <a:latin typeface="JetBrains Mono"/>
              </a:defRPr>
            </a:pPr>
            <a:r>
              <a:t>terminal · fcHitungDiskon.sql</a:t>
            </a:r>
          </a:p>
        </p:txBody>
      </p:sp>
      <p:sp>
        <p:nvSpPr>
          <p:cNvPr id="13" name="TextBox 12"/>
          <p:cNvSpPr txBox="1"/>
          <p:nvPr/>
        </p:nvSpPr>
        <p:spPr>
          <a:xfrm>
            <a:off x="1051560" y="2029968"/>
            <a:ext cx="5943600" cy="3749040"/>
          </a:xfrm>
          <a:prstGeom prst="rect">
            <a:avLst/>
          </a:prstGeom>
          <a:noFill/>
        </p:spPr>
        <p:txBody>
          <a:bodyPr wrap="square" tIns="18288" bIns="18288" lIns="45720" rIns="45720">
            <a:spAutoFit/>
          </a:bodyPr>
          <a:lstStyle/>
          <a:p>
            <a:pPr>
              <a:spcAft>
                <a:spcPts val="50"/>
              </a:spcAft>
            </a:pPr>
            <a:r>
              <a:rPr sz="800" b="1">
                <a:solidFill>
                  <a:srgbClr val="00E5FF"/>
                </a:solidFill>
                <a:latin typeface="JetBrains Mono"/>
              </a:rPr>
              <a:t>DELIMITER</a:t>
            </a:r>
            <a:r>
              <a:rPr sz="800">
                <a:solidFill>
                  <a:srgbClr val="F1F5F9"/>
                </a:solidFill>
                <a:latin typeface="JetBrains Mono"/>
              </a:rPr>
              <a:t> </a:t>
            </a:r>
            <a:r>
              <a:rPr sz="800">
                <a:solidFill>
                  <a:srgbClr val="F1F5F9"/>
                </a:solidFill>
                <a:latin typeface="JetBrains Mono"/>
              </a:rPr>
              <a:t>$$</a:t>
            </a:r>
          </a:p>
          <a:p>
            <a:pPr>
              <a:spcAft>
                <a:spcPts val="50"/>
              </a:spcAft>
            </a:pPr>
            <a:r>
              <a:rPr sz="800" b="1">
                <a:solidFill>
                  <a:srgbClr val="00E5FF"/>
                </a:solidFill>
                <a:latin typeface="JetBrains Mono"/>
              </a:rPr>
              <a:t>CREATE</a:t>
            </a:r>
            <a:r>
              <a:rPr sz="800">
                <a:solidFill>
                  <a:srgbClr val="F1F5F9"/>
                </a:solidFill>
                <a:latin typeface="JetBrains Mono"/>
              </a:rPr>
              <a:t> </a:t>
            </a:r>
            <a:r>
              <a:rPr sz="800" b="1">
                <a:solidFill>
                  <a:srgbClr val="00E5FF"/>
                </a:solidFill>
                <a:latin typeface="JetBrains Mono"/>
              </a:rPr>
              <a:t>FUNCTION</a:t>
            </a:r>
            <a:r>
              <a:rPr sz="800">
                <a:solidFill>
                  <a:srgbClr val="F1F5F9"/>
                </a:solidFill>
                <a:latin typeface="JetBrains Mono"/>
              </a:rPr>
              <a:t> </a:t>
            </a:r>
            <a:r>
              <a:rPr sz="800">
                <a:solidFill>
                  <a:srgbClr val="F1F5F9"/>
                </a:solidFill>
                <a:latin typeface="JetBrains Mono"/>
              </a:rPr>
              <a:t>fcHitungDiskon</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59E0B"/>
                </a:solidFill>
                <a:latin typeface="JetBrains Mono"/>
              </a:rPr>
              <a:t>p_total</a:t>
            </a:r>
            <a:r>
              <a:rPr sz="800">
                <a:solidFill>
                  <a:srgbClr val="F1F5F9"/>
                </a:solidFill>
                <a:latin typeface="JetBrains Mono"/>
              </a:rPr>
              <a:t> </a:t>
            </a:r>
            <a:r>
              <a:rPr sz="800" b="1">
                <a:solidFill>
                  <a:srgbClr val="C084FC"/>
                </a:solidFill>
                <a:latin typeface="JetBrains Mono"/>
              </a:rPr>
              <a:t>INT</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59E0B"/>
                </a:solidFill>
                <a:latin typeface="JetBrains Mono"/>
              </a:rPr>
              <a:t>p_poin</a:t>
            </a:r>
            <a:r>
              <a:rPr sz="800">
                <a:solidFill>
                  <a:srgbClr val="F1F5F9"/>
                </a:solidFill>
                <a:latin typeface="JetBrains Mono"/>
              </a:rPr>
              <a:t>  </a:t>
            </a:r>
            <a:r>
              <a:rPr sz="800" b="1">
                <a:solidFill>
                  <a:srgbClr val="C084FC"/>
                </a:solidFill>
                <a:latin typeface="JetBrains Mono"/>
              </a:rPr>
              <a:t>INT</a:t>
            </a:r>
          </a:p>
          <a:p>
            <a:pPr>
              <a:spcAft>
                <a:spcPts val="50"/>
              </a:spcAft>
            </a:pPr>
            <a:r>
              <a:rPr sz="800">
                <a:solidFill>
                  <a:srgbClr val="F1F5F9"/>
                </a:solidFill>
                <a:latin typeface="JetBrains Mono"/>
              </a:rPr>
              <a:t>)</a:t>
            </a:r>
          </a:p>
          <a:p>
            <a:pPr>
              <a:spcAft>
                <a:spcPts val="50"/>
              </a:spcAft>
            </a:pPr>
            <a:r>
              <a:rPr sz="800" b="1">
                <a:solidFill>
                  <a:srgbClr val="00E5FF"/>
                </a:solidFill>
                <a:latin typeface="JetBrains Mono"/>
              </a:rPr>
              <a:t>RETURNS</a:t>
            </a:r>
            <a:r>
              <a:rPr sz="800">
                <a:solidFill>
                  <a:srgbClr val="F1F5F9"/>
                </a:solidFill>
                <a:latin typeface="JetBrains Mono"/>
              </a:rPr>
              <a:t> </a:t>
            </a:r>
            <a:r>
              <a:rPr sz="800" b="1">
                <a:solidFill>
                  <a:srgbClr val="C084FC"/>
                </a:solidFill>
                <a:latin typeface="JetBrains Mono"/>
              </a:rPr>
              <a:t>DECIMAL</a:t>
            </a:r>
            <a:r>
              <a:rPr sz="800">
                <a:solidFill>
                  <a:srgbClr val="F1F5F9"/>
                </a:solidFill>
                <a:latin typeface="JetBrains Mono"/>
              </a:rPr>
              <a:t>(</a:t>
            </a:r>
            <a:r>
              <a:rPr sz="800">
                <a:solidFill>
                  <a:srgbClr val="F87171"/>
                </a:solidFill>
                <a:latin typeface="JetBrains Mono"/>
              </a:rPr>
              <a:t>10</a:t>
            </a:r>
            <a:r>
              <a:rPr sz="800">
                <a:solidFill>
                  <a:srgbClr val="F1F5F9"/>
                </a:solidFill>
                <a:latin typeface="JetBrains Mono"/>
              </a:rPr>
              <a:t>,</a:t>
            </a:r>
            <a:r>
              <a:rPr sz="800">
                <a:solidFill>
                  <a:srgbClr val="F87171"/>
                </a:solidFill>
                <a:latin typeface="JetBrains Mono"/>
              </a:rPr>
              <a:t>2</a:t>
            </a:r>
            <a:r>
              <a:rPr sz="800">
                <a:solidFill>
                  <a:srgbClr val="F1F5F9"/>
                </a:solidFill>
                <a:latin typeface="JetBrains Mono"/>
              </a:rPr>
              <a:t>)</a:t>
            </a:r>
          </a:p>
          <a:p>
            <a:pPr>
              <a:spcAft>
                <a:spcPts val="50"/>
              </a:spcAft>
            </a:pPr>
            <a:r>
              <a:rPr sz="800" b="1">
                <a:solidFill>
                  <a:srgbClr val="00E5FF"/>
                </a:solidFill>
                <a:latin typeface="JetBrains Mono"/>
              </a:rPr>
              <a:t>DETERMINISTIC</a:t>
            </a:r>
          </a:p>
          <a:p>
            <a:pPr>
              <a:spcAft>
                <a:spcPts val="50"/>
              </a:spcAft>
            </a:pPr>
            <a:r>
              <a:rPr sz="800" b="1">
                <a:solidFill>
                  <a:srgbClr val="00E5FF"/>
                </a:solidFill>
                <a:latin typeface="JetBrains Mono"/>
              </a:rPr>
              <a:t>NO</a:t>
            </a:r>
            <a:r>
              <a:rPr sz="800">
                <a:solidFill>
                  <a:srgbClr val="F1F5F9"/>
                </a:solidFill>
                <a:latin typeface="JetBrains Mono"/>
              </a:rPr>
              <a:t> </a:t>
            </a:r>
            <a:r>
              <a:rPr sz="800" b="1">
                <a:solidFill>
                  <a:srgbClr val="00E5FF"/>
                </a:solidFill>
                <a:latin typeface="JetBrains Mono"/>
              </a:rPr>
              <a:t>SQL</a:t>
            </a:r>
          </a:p>
          <a:p>
            <a:pPr>
              <a:spcAft>
                <a:spcPts val="50"/>
              </a:spcAft>
            </a:pP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DECLARE</a:t>
            </a:r>
            <a:r>
              <a:rPr sz="800">
                <a:solidFill>
                  <a:srgbClr val="F1F5F9"/>
                </a:solidFill>
                <a:latin typeface="JetBrains Mono"/>
              </a:rPr>
              <a:t> </a:t>
            </a:r>
            <a:r>
              <a:rPr sz="800">
                <a:solidFill>
                  <a:srgbClr val="F59E0B"/>
                </a:solidFill>
                <a:latin typeface="JetBrains Mono"/>
              </a:rPr>
              <a:t>v_diskon</a:t>
            </a:r>
            <a:r>
              <a:rPr sz="800">
                <a:solidFill>
                  <a:srgbClr val="F1F5F9"/>
                </a:solidFill>
                <a:latin typeface="JetBrains Mono"/>
              </a:rPr>
              <a:t> </a:t>
            </a:r>
            <a:r>
              <a:rPr sz="800" b="1">
                <a:solidFill>
                  <a:srgbClr val="C084FC"/>
                </a:solidFill>
                <a:latin typeface="JetBrains Mono"/>
              </a:rPr>
              <a:t>DECIMAL</a:t>
            </a:r>
            <a:r>
              <a:rPr sz="800">
                <a:solidFill>
                  <a:srgbClr val="F1F5F9"/>
                </a:solidFill>
                <a:latin typeface="JetBrains Mono"/>
              </a:rPr>
              <a:t>(</a:t>
            </a:r>
            <a:r>
              <a:rPr sz="800">
                <a:solidFill>
                  <a:srgbClr val="F87171"/>
                </a:solidFill>
                <a:latin typeface="JetBrains Mono"/>
              </a:rPr>
              <a:t>10</a:t>
            </a:r>
            <a:r>
              <a:rPr sz="800">
                <a:solidFill>
                  <a:srgbClr val="F1F5F9"/>
                </a:solidFill>
                <a:latin typeface="JetBrains Mono"/>
              </a:rPr>
              <a:t>,</a:t>
            </a:r>
            <a:r>
              <a:rPr sz="800">
                <a:solidFill>
                  <a:srgbClr val="F87171"/>
                </a:solidFill>
                <a:latin typeface="JetBrains Mono"/>
              </a:rPr>
              <a:t>2</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DEFAULT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a:t>
            </a:r>
            <a:r>
              <a:rPr sz="800">
                <a:solidFill>
                  <a:srgbClr val="F87171"/>
                </a:solidFill>
                <a:latin typeface="JetBrains Mono"/>
              </a:rPr>
              <a:t>00</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 </a:t>
            </a:r>
            <a:r>
              <a:rPr sz="800">
                <a:solidFill>
                  <a:srgbClr val="F59E0B"/>
                </a:solidFill>
                <a:latin typeface="JetBrains Mono"/>
              </a:rPr>
              <a:t>p_poin</a:t>
            </a:r>
            <a:r>
              <a:rPr sz="800">
                <a:solidFill>
                  <a:srgbClr val="F1F5F9"/>
                </a:solidFill>
                <a:latin typeface="JetBrains Mono"/>
              </a:rPr>
              <a:t> </a:t>
            </a:r>
            <a:r>
              <a:rPr sz="800">
                <a:solidFill>
                  <a:srgbClr val="F1F5F9"/>
                </a:solidFill>
                <a:latin typeface="JetBrains Mono"/>
              </a:rPr>
              <a:t>&gt;=</a:t>
            </a:r>
            <a:r>
              <a:rPr sz="800">
                <a:solidFill>
                  <a:srgbClr val="F1F5F9"/>
                </a:solidFill>
                <a:latin typeface="JetBrains Mono"/>
              </a:rPr>
              <a:t> </a:t>
            </a:r>
            <a:r>
              <a:rPr sz="800">
                <a:solidFill>
                  <a:srgbClr val="F87171"/>
                </a:solidFill>
                <a:latin typeface="JetBrains Mono"/>
              </a:rPr>
              <a:t>50</a:t>
            </a:r>
            <a:r>
              <a:rPr sz="800">
                <a:solidFill>
                  <a:srgbClr val="F1F5F9"/>
                </a:solidFill>
                <a:latin typeface="JetBrains Mono"/>
              </a:rPr>
              <a:t> </a:t>
            </a:r>
            <a:r>
              <a:rPr sz="800" b="1">
                <a:solidFill>
                  <a:srgbClr val="00E5FF"/>
                </a:solidFill>
                <a:latin typeface="JetBrains Mono"/>
              </a:rPr>
              <a:t>THEN</a:t>
            </a:r>
          </a:p>
          <a:p>
            <a:pPr>
              <a:spcAft>
                <a:spcPts val="50"/>
              </a:spcAft>
            </a:pP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v_diskon</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p_total</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a:t>
            </a:r>
            <a:r>
              <a:rPr sz="800">
                <a:solidFill>
                  <a:srgbClr val="F87171"/>
                </a:solidFill>
                <a:latin typeface="JetBrains Mono"/>
              </a:rPr>
              <a:t>10</a:t>
            </a:r>
            <a:r>
              <a:rPr sz="800">
                <a:solidFill>
                  <a:srgbClr val="F1F5F9"/>
                </a:solidFill>
                <a:latin typeface="JetBrains Mono"/>
              </a:rPr>
              <a:t>;</a:t>
            </a:r>
            <a:r>
              <a:rPr sz="800">
                <a:solidFill>
                  <a:srgbClr val="F1F5F9"/>
                </a:solidFill>
                <a:latin typeface="JetBrains Mono"/>
              </a:rPr>
              <a:t> </a:t>
            </a:r>
            <a:r>
              <a:rPr sz="800" i="1">
                <a:solidFill>
                  <a:srgbClr val="94A3B8"/>
                </a:solidFill>
                <a:latin typeface="JetBrains Mono"/>
              </a:rPr>
              <a:t>-- Diskon 10%</a:t>
            </a:r>
          </a:p>
          <a:p>
            <a:pPr>
              <a:spcAft>
                <a:spcPts val="50"/>
              </a:spcAft>
            </a:pPr>
            <a:r>
              <a:rPr sz="800">
                <a:solidFill>
                  <a:srgbClr val="F1F5F9"/>
                </a:solidFill>
                <a:latin typeface="JetBrains Mono"/>
              </a:rPr>
              <a:t>    </a:t>
            </a:r>
            <a:r>
              <a:rPr sz="800" b="1">
                <a:solidFill>
                  <a:srgbClr val="00E5FF"/>
                </a:solidFill>
                <a:latin typeface="JetBrains Mono"/>
              </a:rPr>
              <a:t>ELSEIF</a:t>
            </a:r>
            <a:r>
              <a:rPr sz="800">
                <a:solidFill>
                  <a:srgbClr val="F1F5F9"/>
                </a:solidFill>
                <a:latin typeface="JetBrains Mono"/>
              </a:rPr>
              <a:t> </a:t>
            </a:r>
            <a:r>
              <a:rPr sz="800">
                <a:solidFill>
                  <a:srgbClr val="F59E0B"/>
                </a:solidFill>
                <a:latin typeface="JetBrains Mono"/>
              </a:rPr>
              <a:t>p_poin</a:t>
            </a:r>
            <a:r>
              <a:rPr sz="800">
                <a:solidFill>
                  <a:srgbClr val="F1F5F9"/>
                </a:solidFill>
                <a:latin typeface="JetBrains Mono"/>
              </a:rPr>
              <a:t> </a:t>
            </a:r>
            <a:r>
              <a:rPr sz="800">
                <a:solidFill>
                  <a:srgbClr val="F1F5F9"/>
                </a:solidFill>
                <a:latin typeface="JetBrains Mono"/>
              </a:rPr>
              <a:t>&gt;=</a:t>
            </a:r>
            <a:r>
              <a:rPr sz="800">
                <a:solidFill>
                  <a:srgbClr val="F1F5F9"/>
                </a:solidFill>
                <a:latin typeface="JetBrains Mono"/>
              </a:rPr>
              <a:t> </a:t>
            </a:r>
            <a:r>
              <a:rPr sz="800">
                <a:solidFill>
                  <a:srgbClr val="F87171"/>
                </a:solidFill>
                <a:latin typeface="JetBrains Mono"/>
              </a:rPr>
              <a:t>20</a:t>
            </a:r>
            <a:r>
              <a:rPr sz="800">
                <a:solidFill>
                  <a:srgbClr val="F1F5F9"/>
                </a:solidFill>
                <a:latin typeface="JetBrains Mono"/>
              </a:rPr>
              <a:t> </a:t>
            </a:r>
            <a:r>
              <a:rPr sz="800" b="1">
                <a:solidFill>
                  <a:srgbClr val="00E5FF"/>
                </a:solidFill>
                <a:latin typeface="JetBrains Mono"/>
              </a:rPr>
              <a:t>THEN</a:t>
            </a:r>
          </a:p>
          <a:p>
            <a:pPr>
              <a:spcAft>
                <a:spcPts val="50"/>
              </a:spcAft>
            </a:pP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v_diskon</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p_total</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a:t>
            </a:r>
            <a:r>
              <a:rPr sz="800">
                <a:solidFill>
                  <a:srgbClr val="F87171"/>
                </a:solidFill>
                <a:latin typeface="JetBrains Mono"/>
              </a:rPr>
              <a:t>05</a:t>
            </a:r>
            <a:r>
              <a:rPr sz="800">
                <a:solidFill>
                  <a:srgbClr val="F1F5F9"/>
                </a:solidFill>
                <a:latin typeface="JetBrains Mono"/>
              </a:rPr>
              <a:t>;</a:t>
            </a:r>
            <a:r>
              <a:rPr sz="800">
                <a:solidFill>
                  <a:srgbClr val="F1F5F9"/>
                </a:solidFill>
                <a:latin typeface="JetBrains Mono"/>
              </a:rPr>
              <a:t> </a:t>
            </a:r>
            <a:r>
              <a:rPr sz="800" i="1">
                <a:solidFill>
                  <a:srgbClr val="94A3B8"/>
                </a:solidFill>
                <a:latin typeface="JetBrains Mono"/>
              </a:rPr>
              <a:t>-- Diskon 5%</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1F5F9"/>
                </a:solidFill>
                <a:latin typeface="JetBrains Mono"/>
              </a:rPr>
              <a:t>RETURN</a:t>
            </a:r>
            <a:r>
              <a:rPr sz="800">
                <a:solidFill>
                  <a:srgbClr val="F1F5F9"/>
                </a:solidFill>
                <a:latin typeface="JetBrains Mono"/>
              </a:rPr>
              <a:t> </a:t>
            </a:r>
            <a:r>
              <a:rPr sz="800">
                <a:solidFill>
                  <a:srgbClr val="F59E0B"/>
                </a:solidFill>
                <a:latin typeface="JetBrains Mono"/>
              </a:rPr>
              <a:t>v_diskon</a:t>
            </a:r>
            <a:r>
              <a:rPr sz="800">
                <a:solidFill>
                  <a:srgbClr val="F1F5F9"/>
                </a:solidFill>
                <a:latin typeface="JetBrains Mono"/>
              </a:rPr>
              <a:t>;</a:t>
            </a:r>
          </a:p>
          <a:p>
            <a:pPr>
              <a:spcAft>
                <a:spcPts val="50"/>
              </a:spcAft>
            </a:pPr>
            <a:r>
              <a:rPr sz="800" b="1">
                <a:solidFill>
                  <a:srgbClr val="00E5FF"/>
                </a:solidFill>
                <a:latin typeface="JetBrains Mono"/>
              </a:rPr>
              <a:t>END</a:t>
            </a:r>
            <a:r>
              <a:rPr sz="800">
                <a:solidFill>
                  <a:srgbClr val="F1F5F9"/>
                </a:solidFill>
                <a:latin typeface="JetBrains Mono"/>
              </a:rPr>
              <a:t>$$</a:t>
            </a:r>
          </a:p>
          <a:p>
            <a:pPr>
              <a:spcAft>
                <a:spcPts val="50"/>
              </a:spcAft>
            </a:pPr>
            <a:r>
              <a:rPr sz="800" b="1">
                <a:solidFill>
                  <a:srgbClr val="00E5FF"/>
                </a:solidFill>
                <a:latin typeface="JetBrains Mono"/>
              </a:rPr>
              <a:t>DELIMITER</a:t>
            </a:r>
            <a:r>
              <a:rPr sz="800">
                <a:solidFill>
                  <a:srgbClr val="F1F5F9"/>
                </a:solidFill>
                <a:latin typeface="JetBrains Mono"/>
              </a:rPr>
              <a:t> </a:t>
            </a:r>
            <a:r>
              <a:rPr sz="800">
                <a:solidFill>
                  <a:srgbClr val="F1F5F9"/>
                </a:solidFill>
                <a:latin typeface="JetBrains Mono"/>
              </a:rPr>
              <a:t>;</a:t>
            </a:r>
          </a:p>
          <a:p>
            <a:pPr>
              <a:spcAft>
                <a:spcPts val="50"/>
              </a:spcAft>
            </a:pPr>
            <a:r>
              <a:t> </a:t>
            </a:r>
          </a:p>
          <a:p>
            <a:pPr>
              <a:spcAft>
                <a:spcPts val="50"/>
              </a:spcAft>
            </a:pPr>
            <a:r>
              <a:rPr sz="800" i="1">
                <a:solidFill>
                  <a:srgbClr val="94A3B8"/>
                </a:solidFill>
                <a:latin typeface="JetBrains Mono"/>
              </a:rPr>
              <a:t>-- Pemanggilan UDF dalam Kueri SQL Biasa:</a:t>
            </a:r>
          </a:p>
          <a:p>
            <a:pPr>
              <a:spcAft>
                <a:spcPts val="50"/>
              </a:spcAft>
            </a:pPr>
            <a:r>
              <a:rPr sz="800" b="1">
                <a:solidFill>
                  <a:srgbClr val="00E5FF"/>
                </a:solidFill>
                <a:latin typeface="JetBrains Mono"/>
              </a:rPr>
              <a:t>SELECT</a:t>
            </a:r>
            <a:r>
              <a:rPr sz="800">
                <a:solidFill>
                  <a:srgbClr val="F1F5F9"/>
                </a:solidFill>
                <a:latin typeface="JetBrains Mono"/>
              </a:rPr>
              <a:t> </a:t>
            </a:r>
            <a:r>
              <a:rPr sz="800">
                <a:solidFill>
                  <a:srgbClr val="F1F5F9"/>
                </a:solidFill>
                <a:latin typeface="JetBrains Mono"/>
              </a:rPr>
              <a:t>Nonota</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fcHitungDiskon</a:t>
            </a:r>
            <a:r>
              <a:rPr sz="800">
                <a:solidFill>
                  <a:srgbClr val="F1F5F9"/>
                </a:solidFill>
                <a:latin typeface="JetBrains Mono"/>
              </a:rPr>
              <a:t>(</a:t>
            </a:r>
            <a:r>
              <a:rPr sz="800">
                <a:solidFill>
                  <a:srgbClr val="F87171"/>
                </a:solidFill>
                <a:latin typeface="JetBrains Mono"/>
              </a:rPr>
              <a:t>150000</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35</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AS</a:t>
            </a:r>
            <a:r>
              <a:rPr sz="800">
                <a:solidFill>
                  <a:srgbClr val="F1F5F9"/>
                </a:solidFill>
                <a:latin typeface="JetBrains Mono"/>
              </a:rPr>
              <a:t> </a:t>
            </a:r>
            <a:r>
              <a:rPr sz="800">
                <a:solidFill>
                  <a:srgbClr val="F1F5F9"/>
                </a:solidFill>
                <a:latin typeface="JetBrains Mono"/>
              </a:rPr>
              <a:t>diskon</a:t>
            </a:r>
            <a:r>
              <a:rPr sz="800">
                <a:solidFill>
                  <a:srgbClr val="F1F5F9"/>
                </a:solidFill>
                <a:latin typeface="JetBrains Mono"/>
              </a:rPr>
              <a:t> </a:t>
            </a:r>
            <a:r>
              <a:rPr sz="800" b="1">
                <a:solidFill>
                  <a:srgbClr val="00E5FF"/>
                </a:solidFill>
                <a:latin typeface="JetBrains Mono"/>
              </a:rPr>
              <a:t>FROM</a:t>
            </a:r>
            <a:r>
              <a:rPr sz="800">
                <a:solidFill>
                  <a:srgbClr val="F1F5F9"/>
                </a:solidFill>
                <a:latin typeface="JetBrains Mono"/>
              </a:rPr>
              <a:t> </a:t>
            </a:r>
            <a:r>
              <a:rPr sz="800">
                <a:solidFill>
                  <a:srgbClr val="F1F5F9"/>
                </a:solidFill>
                <a:latin typeface="JetBrains Mono"/>
              </a:rPr>
              <a:t>nota</a:t>
            </a:r>
            <a:r>
              <a:rPr sz="800">
                <a:solidFill>
                  <a:srgbClr val="F1F5F9"/>
                </a:solidFill>
                <a:latin typeface="JetBrains Mono"/>
              </a:rPr>
              <a:t>;</a:t>
            </a:r>
          </a:p>
        </p:txBody>
      </p:sp>
      <p:sp>
        <p:nvSpPr>
          <p:cNvPr id="14" name="Rounded Rectangle 13"/>
          <p:cNvSpPr/>
          <p:nvPr/>
        </p:nvSpPr>
        <p:spPr>
          <a:xfrm>
            <a:off x="7315200" y="1737360"/>
            <a:ext cx="3931920" cy="19659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79792" y="1865376"/>
            <a:ext cx="3602736" cy="1709928"/>
          </a:xfrm>
          <a:prstGeom prst="rect">
            <a:avLst/>
          </a:prstGeom>
          <a:noFill/>
        </p:spPr>
        <p:txBody>
          <a:bodyPr wrap="square">
            <a:spAutoFit/>
          </a:bodyPr>
          <a:lstStyle/>
          <a:p>
            <a:r>
              <a:rPr sz="1200" b="1">
                <a:solidFill>
                  <a:srgbClr val="FFFFFF"/>
                </a:solidFill>
                <a:latin typeface="Plus Jakarta Sans"/>
              </a:rPr>
              <a:t>Klausa DETERMINISTIC</a:t>
            </a:r>
          </a:p>
          <a:p>
            <a:pPr>
              <a:spcBef>
                <a:spcPts val="600"/>
              </a:spcBef>
            </a:pPr>
            <a:r>
              <a:rPr sz="950">
                <a:solidFill>
                  <a:srgbClr val="CBD5E1"/>
                </a:solidFill>
                <a:latin typeface="Inter"/>
              </a:rPr>
              <a:t>Wajib dideklarasikan pada sistem dengan replikasi binlog aktif. DETERMINISTIC menyatakan bahwa input yang sama selalu menghasilkan output yang sama persis.</a:t>
            </a:r>
          </a:p>
        </p:txBody>
      </p:sp>
      <p:sp>
        <p:nvSpPr>
          <p:cNvPr id="16" name="Rounded Rectangle 15"/>
          <p:cNvSpPr/>
          <p:nvPr/>
        </p:nvSpPr>
        <p:spPr>
          <a:xfrm>
            <a:off x="7315200" y="3886200"/>
            <a:ext cx="3931920" cy="19659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9792" y="4014216"/>
            <a:ext cx="3602736" cy="1709928"/>
          </a:xfrm>
          <a:prstGeom prst="rect">
            <a:avLst/>
          </a:prstGeom>
          <a:noFill/>
        </p:spPr>
        <p:txBody>
          <a:bodyPr wrap="square">
            <a:spAutoFit/>
          </a:bodyPr>
          <a:lstStyle/>
          <a:p>
            <a:r>
              <a:rPr sz="1200" b="1">
                <a:solidFill>
                  <a:srgbClr val="FFFFFF"/>
                </a:solidFill>
                <a:latin typeface="Plus Jakarta Sans"/>
              </a:rPr>
              <a:t>Kategori Akses SQL</a:t>
            </a:r>
          </a:p>
          <a:p>
            <a:pPr>
              <a:spcBef>
                <a:spcPts val="600"/>
              </a:spcBef>
            </a:pPr>
            <a:r>
              <a:rPr sz="950">
                <a:solidFill>
                  <a:srgbClr val="CBD5E1"/>
                </a:solidFill>
                <a:latin typeface="Inter"/>
              </a:rPr>
              <a:t>• NO SQL: fungsi murni tanpa akses data tabel.
• READS SQL DATA: fungsi membaca data tabel via SELECT INTO.
• MODIFIES SQL DATA: memodifikasi data (hanya diizinkan di procedure).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04 · PARAMETER SP</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Mekanisme Pertukaran Nilai</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Mode Parameter Stored Procedure: </a:t>
            </a:r>
            <a:r>
              <a:rPr sz="2100" b="1">
                <a:solidFill>
                  <a:srgbClr val="00E5FF"/>
                </a:solidFill>
                <a:latin typeface="Plus Jakarta Sans"/>
              </a:rPr>
              <a:t>IN, OUT &amp; INOUT</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3328416" cy="192024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819656"/>
            <a:ext cx="2999232" cy="1664208"/>
          </a:xfrm>
          <a:prstGeom prst="rect">
            <a:avLst/>
          </a:prstGeom>
          <a:noFill/>
        </p:spPr>
        <p:txBody>
          <a:bodyPr wrap="square">
            <a:spAutoFit/>
          </a:bodyPr>
          <a:lstStyle/>
          <a:p>
            <a:r>
              <a:rPr sz="1050" b="1">
                <a:solidFill>
                  <a:srgbClr val="00E5FF"/>
                </a:solidFill>
                <a:latin typeface="JetBrains Mono"/>
              </a:rPr>
              <a:t>[IN] </a:t>
            </a:r>
            <a:r>
              <a:rPr sz="1200" b="1">
                <a:solidFill>
                  <a:srgbClr val="FFFFFF"/>
                </a:solidFill>
                <a:latin typeface="Plus Jakarta Sans"/>
              </a:rPr>
              <a:t>IN (Input Saja)</a:t>
            </a:r>
          </a:p>
          <a:p>
            <a:pPr>
              <a:spcBef>
                <a:spcPts val="600"/>
              </a:spcBef>
            </a:pPr>
            <a:r>
              <a:rPr sz="950">
                <a:solidFill>
                  <a:srgbClr val="CBD5E1"/>
                </a:solidFill>
                <a:latin typeface="Inter"/>
              </a:rPr>
              <a:t>Nilai dikirim oleh pemanggil ke dalam prosedur. Perubahan nilai di dalam prosedur tidak mengubah variabel di luar (read-only).</a:t>
            </a:r>
          </a:p>
        </p:txBody>
      </p:sp>
      <p:sp>
        <p:nvSpPr>
          <p:cNvPr id="10" name="Rounded Rectangle 9"/>
          <p:cNvSpPr/>
          <p:nvPr/>
        </p:nvSpPr>
        <p:spPr>
          <a:xfrm>
            <a:off x="4425696" y="1691640"/>
            <a:ext cx="3328416" cy="192024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819656"/>
            <a:ext cx="2999232" cy="1664208"/>
          </a:xfrm>
          <a:prstGeom prst="rect">
            <a:avLst/>
          </a:prstGeom>
          <a:noFill/>
        </p:spPr>
        <p:txBody>
          <a:bodyPr wrap="square">
            <a:spAutoFit/>
          </a:bodyPr>
          <a:lstStyle/>
          <a:p>
            <a:r>
              <a:rPr sz="1050" b="1">
                <a:solidFill>
                  <a:srgbClr val="00E5FF"/>
                </a:solidFill>
                <a:latin typeface="JetBrains Mono"/>
              </a:rPr>
              <a:t>[OUT] </a:t>
            </a:r>
            <a:r>
              <a:rPr sz="1200" b="1">
                <a:solidFill>
                  <a:srgbClr val="FFFFFF"/>
                </a:solidFill>
                <a:latin typeface="Plus Jakarta Sans"/>
              </a:rPr>
              <a:t>OUT (Keluaran Saja)</a:t>
            </a:r>
          </a:p>
          <a:p>
            <a:pPr>
              <a:spcBef>
                <a:spcPts val="600"/>
              </a:spcBef>
            </a:pPr>
            <a:r>
              <a:rPr sz="950">
                <a:solidFill>
                  <a:srgbClr val="CBD5E1"/>
                </a:solidFill>
                <a:latin typeface="Inter"/>
              </a:rPr>
              <a:t>Nilai awalnya kosong (NULL). Prosedur mengisi nilai hasil perhitungan, lalu dikembalikan ke variabel pemanggil.</a:t>
            </a:r>
          </a:p>
        </p:txBody>
      </p:sp>
      <p:sp>
        <p:nvSpPr>
          <p:cNvPr id="12" name="Rounded Rectangle 11"/>
          <p:cNvSpPr/>
          <p:nvPr/>
        </p:nvSpPr>
        <p:spPr>
          <a:xfrm>
            <a:off x="7936992" y="1691640"/>
            <a:ext cx="3328416" cy="192024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01584" y="1819656"/>
            <a:ext cx="2999232" cy="1664208"/>
          </a:xfrm>
          <a:prstGeom prst="rect">
            <a:avLst/>
          </a:prstGeom>
          <a:noFill/>
        </p:spPr>
        <p:txBody>
          <a:bodyPr wrap="square">
            <a:spAutoFit/>
          </a:bodyPr>
          <a:lstStyle/>
          <a:p>
            <a:r>
              <a:rPr sz="1050" b="1">
                <a:solidFill>
                  <a:srgbClr val="00E5FF"/>
                </a:solidFill>
                <a:latin typeface="JetBrains Mono"/>
              </a:rPr>
              <a:t>[INOUT] </a:t>
            </a:r>
            <a:r>
              <a:rPr sz="1200" b="1">
                <a:solidFill>
                  <a:srgbClr val="FFFFFF"/>
                </a:solidFill>
                <a:latin typeface="Plus Jakarta Sans"/>
              </a:rPr>
              <a:t>INOUT (Bolak-Balik)</a:t>
            </a:r>
          </a:p>
          <a:p>
            <a:pPr>
              <a:spcBef>
                <a:spcPts val="600"/>
              </a:spcBef>
            </a:pPr>
            <a:r>
              <a:rPr sz="950">
                <a:solidFill>
                  <a:srgbClr val="CBD5E1"/>
                </a:solidFill>
                <a:latin typeface="Inter"/>
              </a:rPr>
              <a:t>Membawa nilai awal dari luar, diproses atau dimodifikasi di dalam prosedur, lalu nilai barunya dikembalikan lagi.</a:t>
            </a:r>
          </a:p>
        </p:txBody>
      </p:sp>
      <p:sp>
        <p:nvSpPr>
          <p:cNvPr id="14" name="Rounded Rectangle 13"/>
          <p:cNvSpPr/>
          <p:nvPr/>
        </p:nvSpPr>
        <p:spPr>
          <a:xfrm>
            <a:off x="914400" y="3794760"/>
            <a:ext cx="10332720" cy="210312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560" y="390448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216151" y="390448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380744" y="390448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0" y="3831336"/>
            <a:ext cx="8321040" cy="256032"/>
          </a:xfrm>
          <a:prstGeom prst="rect">
            <a:avLst/>
          </a:prstGeom>
          <a:noFill/>
        </p:spPr>
        <p:txBody>
          <a:bodyPr wrap="none">
            <a:spAutoFit/>
          </a:bodyPr>
          <a:lstStyle/>
          <a:p>
            <a:pPr>
              <a:defRPr sz="900">
                <a:solidFill>
                  <a:srgbClr val="38BDF8"/>
                </a:solidFill>
                <a:latin typeface="JetBrains Mono"/>
              </a:defRPr>
            </a:pPr>
            <a:r>
              <a:t>terminal · sp_HitungBonusKasir.sql</a:t>
            </a:r>
          </a:p>
        </p:txBody>
      </p:sp>
      <p:sp>
        <p:nvSpPr>
          <p:cNvPr id="19" name="TextBox 18"/>
          <p:cNvSpPr txBox="1"/>
          <p:nvPr/>
        </p:nvSpPr>
        <p:spPr>
          <a:xfrm>
            <a:off x="1051560" y="4087368"/>
            <a:ext cx="10058400" cy="1737360"/>
          </a:xfrm>
          <a:prstGeom prst="rect">
            <a:avLst/>
          </a:prstGeom>
          <a:noFill/>
        </p:spPr>
        <p:txBody>
          <a:bodyPr wrap="square" tIns="18288" bIns="18288" lIns="45720" rIns="45720">
            <a:spAutoFit/>
          </a:bodyPr>
          <a:lstStyle/>
          <a:p>
            <a:pPr>
              <a:spcAft>
                <a:spcPts val="150"/>
              </a:spcAft>
            </a:pPr>
            <a:r>
              <a:rPr sz="900" b="1">
                <a:solidFill>
                  <a:srgbClr val="00E5FF"/>
                </a:solidFill>
                <a:latin typeface="JetBrains Mono"/>
              </a:rPr>
              <a:t>DELIMITER</a:t>
            </a:r>
            <a:r>
              <a:rPr sz="900">
                <a:solidFill>
                  <a:srgbClr val="F1F5F9"/>
                </a:solidFill>
                <a:latin typeface="JetBrains Mono"/>
              </a:rPr>
              <a:t> </a:t>
            </a:r>
            <a:r>
              <a:rPr sz="900">
                <a:solidFill>
                  <a:srgbClr val="F1F5F9"/>
                </a:solidFill>
                <a:latin typeface="JetBrains Mono"/>
              </a:rPr>
              <a:t>$$</a:t>
            </a:r>
          </a:p>
          <a:p>
            <a:pPr>
              <a:spcAft>
                <a:spcPts val="150"/>
              </a:spcAft>
            </a:pPr>
            <a:r>
              <a:rPr sz="900" b="1">
                <a:solidFill>
                  <a:srgbClr val="00E5FF"/>
                </a:solidFill>
                <a:latin typeface="JetBrains Mono"/>
              </a:rPr>
              <a:t>CREATE</a:t>
            </a:r>
            <a:r>
              <a:rPr sz="900">
                <a:solidFill>
                  <a:srgbClr val="F1F5F9"/>
                </a:solidFill>
                <a:latin typeface="JetBrains Mono"/>
              </a:rPr>
              <a:t> </a:t>
            </a:r>
            <a:r>
              <a:rPr sz="900" b="1">
                <a:solidFill>
                  <a:srgbClr val="00E5FF"/>
                </a:solidFill>
                <a:latin typeface="JetBrains Mono"/>
              </a:rPr>
              <a:t>PROCEDURE</a:t>
            </a:r>
            <a:r>
              <a:rPr sz="900">
                <a:solidFill>
                  <a:srgbClr val="F1F5F9"/>
                </a:solidFill>
                <a:latin typeface="JetBrains Mono"/>
              </a:rPr>
              <a:t> </a:t>
            </a:r>
            <a:r>
              <a:rPr sz="900">
                <a:solidFill>
                  <a:srgbClr val="F1F5F9"/>
                </a:solidFill>
                <a:latin typeface="JetBrains Mono"/>
              </a:rPr>
              <a:t>sp_HitungBonusKasir</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IN</a:t>
            </a:r>
            <a:r>
              <a:rPr sz="900">
                <a:solidFill>
                  <a:srgbClr val="F1F5F9"/>
                </a:solidFill>
                <a:latin typeface="JetBrains Mono"/>
              </a:rPr>
              <a:t>  </a:t>
            </a:r>
            <a:r>
              <a:rPr sz="900">
                <a:solidFill>
                  <a:srgbClr val="F59E0B"/>
                </a:solidFill>
                <a:latin typeface="JetBrains Mono"/>
              </a:rPr>
              <a:t>p_KodeKasir</a:t>
            </a:r>
            <a:r>
              <a:rPr sz="900">
                <a:solidFill>
                  <a:srgbClr val="F1F5F9"/>
                </a:solidFill>
                <a:latin typeface="JetBrains Mono"/>
              </a:rPr>
              <a:t> </a:t>
            </a:r>
            <a:r>
              <a:rPr sz="900" b="1">
                <a:solidFill>
                  <a:srgbClr val="C084FC"/>
                </a:solidFill>
                <a:latin typeface="JetBrains Mono"/>
              </a:rPr>
              <a:t>VARCHAR</a:t>
            </a:r>
            <a:r>
              <a:rPr sz="900">
                <a:solidFill>
                  <a:srgbClr val="F1F5F9"/>
                </a:solidFill>
                <a:latin typeface="JetBrains Mono"/>
              </a:rPr>
              <a:t>(</a:t>
            </a:r>
            <a:r>
              <a:rPr sz="900">
                <a:solidFill>
                  <a:srgbClr val="F87171"/>
                </a:solidFill>
                <a:latin typeface="JetBrains Mono"/>
              </a:rPr>
              <a:t>3</a:t>
            </a:r>
            <a:r>
              <a:rPr sz="900">
                <a:solidFill>
                  <a:srgbClr val="F1F5F9"/>
                </a:solidFill>
                <a:latin typeface="JetBrains Mono"/>
              </a:rPr>
              <a:t>),</a:t>
            </a:r>
            <a:r>
              <a:rPr sz="900">
                <a:solidFill>
                  <a:srgbClr val="F1F5F9"/>
                </a:solidFill>
                <a:latin typeface="JetBrains Mono"/>
              </a:rPr>
              <a:t>      </a:t>
            </a:r>
            <a:r>
              <a:rPr sz="900" i="1">
                <a:solidFill>
                  <a:srgbClr val="94A3B8"/>
                </a:solidFill>
                <a:latin typeface="JetBrains Mono"/>
              </a:rPr>
              <a:t>-- Input: kode kasir</a:t>
            </a:r>
          </a:p>
          <a:p>
            <a:pPr>
              <a:spcAft>
                <a:spcPts val="150"/>
              </a:spcAft>
            </a:pPr>
            <a:r>
              <a:rPr sz="900">
                <a:solidFill>
                  <a:srgbClr val="F1F5F9"/>
                </a:solidFill>
                <a:latin typeface="JetBrains Mono"/>
              </a:rPr>
              <a:t>    </a:t>
            </a:r>
            <a:r>
              <a:rPr sz="900">
                <a:solidFill>
                  <a:srgbClr val="F1F5F9"/>
                </a:solidFill>
                <a:latin typeface="JetBrains Mono"/>
              </a:rPr>
              <a:t>OUT</a:t>
            </a:r>
            <a:r>
              <a:rPr sz="900">
                <a:solidFill>
                  <a:srgbClr val="F1F5F9"/>
                </a:solidFill>
                <a:latin typeface="JetBrains Mono"/>
              </a:rPr>
              <a:t> </a:t>
            </a:r>
            <a:r>
              <a:rPr sz="900">
                <a:solidFill>
                  <a:srgbClr val="F59E0B"/>
                </a:solidFill>
                <a:latin typeface="JetBrains Mono"/>
              </a:rPr>
              <a:t>p_TotalNota</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a:t>
            </a:r>
            <a:r>
              <a:rPr sz="900">
                <a:solidFill>
                  <a:srgbClr val="F1F5F9"/>
                </a:solidFill>
                <a:latin typeface="JetBrains Mono"/>
              </a:rPr>
              <a:t>             </a:t>
            </a:r>
            <a:r>
              <a:rPr sz="900" i="1">
                <a:solidFill>
                  <a:srgbClr val="94A3B8"/>
                </a:solidFill>
                <a:latin typeface="JetBrains Mono"/>
              </a:rPr>
              <a:t>-- Output: jumlah nota</a:t>
            </a:r>
          </a:p>
          <a:p>
            <a:pPr>
              <a:spcAft>
                <a:spcPts val="150"/>
              </a:spcAft>
            </a:pPr>
            <a:r>
              <a:rPr sz="900">
                <a:solidFill>
                  <a:srgbClr val="F1F5F9"/>
                </a:solidFill>
                <a:latin typeface="JetBrains Mono"/>
              </a:rPr>
              <a:t>    </a:t>
            </a:r>
            <a:r>
              <a:rPr sz="900">
                <a:solidFill>
                  <a:srgbClr val="F1F5F9"/>
                </a:solidFill>
                <a:latin typeface="JetBrains Mono"/>
              </a:rPr>
              <a:t>INOUT</a:t>
            </a:r>
            <a:r>
              <a:rPr sz="900">
                <a:solidFill>
                  <a:srgbClr val="F1F5F9"/>
                </a:solidFill>
                <a:latin typeface="JetBrains Mono"/>
              </a:rPr>
              <a:t> </a:t>
            </a:r>
            <a:r>
              <a:rPr sz="900">
                <a:solidFill>
                  <a:srgbClr val="F59E0B"/>
                </a:solidFill>
                <a:latin typeface="JetBrains Mono"/>
              </a:rPr>
              <a:t>p_SaldoBonus</a:t>
            </a:r>
            <a:r>
              <a:rPr sz="900">
                <a:solidFill>
                  <a:srgbClr val="F1F5F9"/>
                </a:solidFill>
                <a:latin typeface="JetBrains Mono"/>
              </a:rPr>
              <a:t> </a:t>
            </a:r>
            <a:r>
              <a:rPr sz="900" b="1">
                <a:solidFill>
                  <a:srgbClr val="C084FC"/>
                </a:solidFill>
                <a:latin typeface="JetBrains Mono"/>
              </a:rPr>
              <a:t>DECIMAL</a:t>
            </a:r>
            <a:r>
              <a:rPr sz="900">
                <a:solidFill>
                  <a:srgbClr val="F1F5F9"/>
                </a:solidFill>
                <a:latin typeface="JetBrains Mono"/>
              </a:rPr>
              <a:t>(</a:t>
            </a:r>
            <a:r>
              <a:rPr sz="900">
                <a:solidFill>
                  <a:srgbClr val="F87171"/>
                </a:solidFill>
                <a:latin typeface="JetBrains Mono"/>
              </a:rPr>
              <a:t>12</a:t>
            </a:r>
            <a:r>
              <a:rPr sz="900">
                <a:solidFill>
                  <a:srgbClr val="F1F5F9"/>
                </a:solidFill>
                <a:latin typeface="JetBrains Mono"/>
              </a:rPr>
              <a:t>,</a:t>
            </a:r>
            <a:r>
              <a:rPr sz="900">
                <a:solidFill>
                  <a:srgbClr val="F87171"/>
                </a:solidFill>
                <a:latin typeface="JetBrains Mono"/>
              </a:rPr>
              <a:t>2</a:t>
            </a:r>
            <a:r>
              <a:rPr sz="900">
                <a:solidFill>
                  <a:srgbClr val="F1F5F9"/>
                </a:solidFill>
                <a:latin typeface="JetBrains Mono"/>
              </a:rPr>
              <a:t>)</a:t>
            </a:r>
            <a:r>
              <a:rPr sz="900">
                <a:solidFill>
                  <a:srgbClr val="F1F5F9"/>
                </a:solidFill>
                <a:latin typeface="JetBrains Mono"/>
              </a:rPr>
              <a:t> </a:t>
            </a:r>
            <a:r>
              <a:rPr sz="900" i="1">
                <a:solidFill>
                  <a:srgbClr val="94A3B8"/>
                </a:solidFill>
                <a:latin typeface="JetBrains Mono"/>
              </a:rPr>
              <a:t>-- Input &amp; Output: saldo bonus</a:t>
            </a:r>
          </a:p>
          <a:p>
            <a:pPr>
              <a:spcAft>
                <a:spcPts val="150"/>
              </a:spcAft>
            </a:pPr>
            <a:r>
              <a:rPr sz="900">
                <a:solidFill>
                  <a:srgbClr val="F1F5F9"/>
                </a:solidFill>
                <a:latin typeface="JetBrains Mono"/>
              </a:rPr>
              <a:t>)</a:t>
            </a:r>
          </a:p>
          <a:p>
            <a:pPr>
              <a:spcAft>
                <a:spcPts val="150"/>
              </a:spcAft>
            </a:pPr>
            <a:r>
              <a:rPr sz="900" b="1">
                <a:solidFill>
                  <a:srgbClr val="00E5FF"/>
                </a:solidFill>
                <a:latin typeface="JetBrains Mono"/>
              </a:rPr>
              <a:t>BEGIN</a:t>
            </a:r>
          </a:p>
          <a:p>
            <a:pPr>
              <a:spcAft>
                <a:spcPts val="150"/>
              </a:spcAft>
            </a:pPr>
            <a:r>
              <a:rPr sz="900">
                <a:solidFill>
                  <a:srgbClr val="F1F5F9"/>
                </a:solidFill>
                <a:latin typeface="JetBrains Mono"/>
              </a:rPr>
              <a:t>    </a:t>
            </a:r>
            <a:r>
              <a:rPr sz="900" b="1">
                <a:solidFill>
                  <a:srgbClr val="00E5FF"/>
                </a:solidFill>
                <a:latin typeface="JetBrains Mono"/>
              </a:rPr>
              <a:t>SELECT</a:t>
            </a:r>
            <a:r>
              <a:rPr sz="900">
                <a:solidFill>
                  <a:srgbClr val="F1F5F9"/>
                </a:solidFill>
                <a:latin typeface="JetBrains Mono"/>
              </a:rPr>
              <a:t> </a:t>
            </a:r>
            <a:r>
              <a:rPr sz="900" b="1">
                <a:solidFill>
                  <a:srgbClr val="00E5FF"/>
                </a:solidFill>
                <a:latin typeface="JetBrains Mono"/>
              </a:rPr>
              <a:t>COUNT</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INTO</a:t>
            </a:r>
            <a:r>
              <a:rPr sz="900">
                <a:solidFill>
                  <a:srgbClr val="F1F5F9"/>
                </a:solidFill>
                <a:latin typeface="JetBrains Mono"/>
              </a:rPr>
              <a:t> </a:t>
            </a:r>
            <a:r>
              <a:rPr sz="900">
                <a:solidFill>
                  <a:srgbClr val="F59E0B"/>
                </a:solidFill>
                <a:latin typeface="JetBrains Mono"/>
              </a:rPr>
              <a:t>p_TotalNota</a:t>
            </a:r>
            <a:r>
              <a:rPr sz="900">
                <a:solidFill>
                  <a:srgbClr val="F1F5F9"/>
                </a:solidFill>
                <a:latin typeface="JetBrains Mono"/>
              </a:rPr>
              <a:t> </a:t>
            </a:r>
            <a:r>
              <a:rPr sz="900" b="1">
                <a:solidFill>
                  <a:srgbClr val="00E5FF"/>
                </a:solidFill>
                <a:latin typeface="JetBrains Mono"/>
              </a:rPr>
              <a:t>FROM</a:t>
            </a:r>
            <a:r>
              <a:rPr sz="900">
                <a:solidFill>
                  <a:srgbClr val="F1F5F9"/>
                </a:solidFill>
                <a:latin typeface="JetBrains Mono"/>
              </a:rPr>
              <a:t> </a:t>
            </a:r>
            <a:r>
              <a:rPr sz="900">
                <a:solidFill>
                  <a:srgbClr val="F1F5F9"/>
                </a:solidFill>
                <a:latin typeface="JetBrains Mono"/>
              </a:rPr>
              <a:t>nota</a:t>
            </a:r>
            <a:r>
              <a:rPr sz="900">
                <a:solidFill>
                  <a:srgbClr val="F1F5F9"/>
                </a:solidFill>
                <a:latin typeface="JetBrains Mono"/>
              </a:rPr>
              <a:t> </a:t>
            </a:r>
            <a:r>
              <a:rPr sz="900" b="1">
                <a:solidFill>
                  <a:srgbClr val="00E5FF"/>
                </a:solidFill>
                <a:latin typeface="JetBrains Mono"/>
              </a:rPr>
              <a:t>WHERE</a:t>
            </a:r>
            <a:r>
              <a:rPr sz="900">
                <a:solidFill>
                  <a:srgbClr val="F1F5F9"/>
                </a:solidFill>
                <a:latin typeface="JetBrains Mono"/>
              </a:rPr>
              <a:t> </a:t>
            </a:r>
            <a:r>
              <a:rPr sz="900">
                <a:solidFill>
                  <a:srgbClr val="F1F5F9"/>
                </a:solidFill>
                <a:latin typeface="JetBrains Mono"/>
              </a:rPr>
              <a:t>KodeKasir</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p_KodeKasir</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p_SaldoBonus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p_SaldoBonus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1F5F9"/>
                </a:solidFill>
                <a:latin typeface="JetBrains Mono"/>
              </a:rPr>
              <a:t>(</a:t>
            </a:r>
            <a:r>
              <a:rPr sz="900">
                <a:solidFill>
                  <a:srgbClr val="F59E0B"/>
                </a:solidFill>
                <a:latin typeface="JetBrains Mono"/>
              </a:rPr>
              <a:t>p_TotalNota</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2500</a:t>
            </a:r>
            <a:r>
              <a:rPr sz="900">
                <a:solidFill>
                  <a:srgbClr val="F1F5F9"/>
                </a:solidFill>
                <a:latin typeface="JetBrains Mono"/>
              </a:rPr>
              <a:t>);</a:t>
            </a:r>
          </a:p>
          <a:p>
            <a:pPr>
              <a:spcAft>
                <a:spcPts val="150"/>
              </a:spcAft>
            </a:pPr>
            <a:r>
              <a:rPr sz="900" b="1">
                <a:solidFill>
                  <a:srgbClr val="00E5FF"/>
                </a:solidFill>
                <a:latin typeface="JetBrains Mono"/>
              </a:rPr>
              <a:t>END</a:t>
            </a:r>
            <a:r>
              <a:rPr sz="900">
                <a:solidFill>
                  <a:srgbClr val="F1F5F9"/>
                </a:solidFill>
                <a:latin typeface="JetBrains Mono"/>
              </a:rPr>
              <a:t>$$</a:t>
            </a:r>
          </a:p>
          <a:p>
            <a:pPr>
              <a:spcAft>
                <a:spcPts val="150"/>
              </a:spcAft>
            </a:pPr>
            <a:r>
              <a:rPr sz="900" b="1">
                <a:solidFill>
                  <a:srgbClr val="00E5FF"/>
                </a:solidFill>
                <a:latin typeface="JetBrains Mono"/>
              </a:rPr>
              <a:t>DELIMITER</a:t>
            </a:r>
            <a:r>
              <a:rPr sz="900">
                <a:solidFill>
                  <a:srgbClr val="F1F5F9"/>
                </a:solidFill>
                <a:latin typeface="JetBrains Mono"/>
              </a:rPr>
              <a:t> </a:t>
            </a:r>
            <a:r>
              <a:rPr sz="900">
                <a:solidFill>
                  <a:srgbClr val="F1F5F9"/>
                </a:solidFill>
                <a:latin typeface="JetBrains Mono"/>
              </a:rPr>
              <a:t>;</a:t>
            </a:r>
          </a:p>
          <a:p>
            <a:pPr>
              <a:spcAft>
                <a:spcPts val="150"/>
              </a:spcAft>
            </a:pPr>
            <a:r>
              <a:rPr sz="900" i="1">
                <a:solidFill>
                  <a:srgbClr val="94A3B8"/>
                </a:solidFill>
                <a:latin typeface="JetBrains Mono"/>
              </a:rPr>
              <a:t>-- Eksekusi: SET @b = 50000; CALL sp_HitungBonusKasir('001', @nota, @b); SELECT @nota, @b;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05 · KONTROL ALUR</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Algoritma Prosedural</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Logika Alur: Percabangan &amp; Perulangan </a:t>
            </a:r>
            <a:r>
              <a:rPr sz="2100" b="1">
                <a:solidFill>
                  <a:srgbClr val="00E5FF"/>
                </a:solidFill>
                <a:latin typeface="Plus Jakarta Sans"/>
              </a:rPr>
              <a:t>IF, CASE, WHILE &amp; LOOP</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502920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28216"/>
            <a:ext cx="3017520" cy="256032"/>
          </a:xfrm>
          <a:prstGeom prst="rect">
            <a:avLst/>
          </a:prstGeom>
          <a:noFill/>
        </p:spPr>
        <p:txBody>
          <a:bodyPr wrap="none">
            <a:spAutoFit/>
          </a:bodyPr>
          <a:lstStyle/>
          <a:p>
            <a:pPr>
              <a:defRPr sz="900">
                <a:solidFill>
                  <a:srgbClr val="38BDF8"/>
                </a:solidFill>
                <a:latin typeface="JetBrains Mono"/>
              </a:defRPr>
            </a:pPr>
            <a:r>
              <a:t>terminal · Percabangan (IF &amp; CASE)</a:t>
            </a:r>
          </a:p>
        </p:txBody>
      </p:sp>
      <p:sp>
        <p:nvSpPr>
          <p:cNvPr id="13" name="TextBox 12"/>
          <p:cNvSpPr txBox="1"/>
          <p:nvPr/>
        </p:nvSpPr>
        <p:spPr>
          <a:xfrm>
            <a:off x="1051560" y="1984248"/>
            <a:ext cx="4754880" cy="3840480"/>
          </a:xfrm>
          <a:prstGeom prst="rect">
            <a:avLst/>
          </a:prstGeom>
          <a:noFill/>
        </p:spPr>
        <p:txBody>
          <a:bodyPr wrap="square" tIns="18288" bIns="18288" lIns="45720" rIns="45720">
            <a:spAutoFit/>
          </a:bodyPr>
          <a:lstStyle/>
          <a:p>
            <a:pPr>
              <a:spcAft>
                <a:spcPts val="150"/>
              </a:spcAft>
            </a:pPr>
            <a:r>
              <a:rPr sz="900" i="1">
                <a:solidFill>
                  <a:srgbClr val="94A3B8"/>
                </a:solidFill>
                <a:latin typeface="JetBrains Mono"/>
              </a:rPr>
              <a:t>-- 1. PERCABANGAN IF-ELSEIF-ELSE</a:t>
            </a:r>
          </a:p>
          <a:p>
            <a:pPr>
              <a:spcAft>
                <a:spcPts val="150"/>
              </a:spcAft>
            </a:pPr>
            <a:r>
              <a:rPr sz="900" b="1">
                <a:solidFill>
                  <a:srgbClr val="00E5FF"/>
                </a:solidFill>
                <a:latin typeface="JetBrains Mono"/>
              </a:rPr>
              <a:t>IF</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 </a:t>
            </a:r>
            <a:r>
              <a:rPr sz="900">
                <a:solidFill>
                  <a:srgbClr val="F1F5F9"/>
                </a:solidFill>
                <a:latin typeface="JetBrains Mono"/>
              </a:rPr>
              <a:t>&lt;=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 </a:t>
            </a:r>
            <a:r>
              <a:rPr sz="900" b="1">
                <a:solidFill>
                  <a:srgbClr val="00E5FF"/>
                </a:solidFill>
                <a:latin typeface="JetBrains Mono"/>
              </a:rPr>
              <a:t>THEN</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v_status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34D399"/>
                </a:solidFill>
                <a:latin typeface="JetBrains Mono"/>
              </a:rPr>
              <a:t>'HABIS'</a:t>
            </a:r>
            <a:r>
              <a:rPr sz="900">
                <a:solidFill>
                  <a:srgbClr val="F1F5F9"/>
                </a:solidFill>
                <a:latin typeface="JetBrains Mono"/>
              </a:rPr>
              <a:t>;</a:t>
            </a:r>
          </a:p>
          <a:p>
            <a:pPr>
              <a:spcAft>
                <a:spcPts val="150"/>
              </a:spcAft>
            </a:pPr>
            <a:r>
              <a:rPr sz="900" b="1">
                <a:solidFill>
                  <a:srgbClr val="00E5FF"/>
                </a:solidFill>
                <a:latin typeface="JetBrains Mono"/>
              </a:rPr>
              <a:t>ELSEIF</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 </a:t>
            </a:r>
            <a:r>
              <a:rPr sz="900">
                <a:solidFill>
                  <a:srgbClr val="F1F5F9"/>
                </a:solidFill>
                <a:latin typeface="JetBrains Mono"/>
              </a:rPr>
              <a:t>&lt;=</a:t>
            </a:r>
            <a:r>
              <a:rPr sz="900">
                <a:solidFill>
                  <a:srgbClr val="F1F5F9"/>
                </a:solidFill>
                <a:latin typeface="JetBrains Mono"/>
              </a:rPr>
              <a:t> </a:t>
            </a:r>
            <a:r>
              <a:rPr sz="900">
                <a:solidFill>
                  <a:srgbClr val="F87171"/>
                </a:solidFill>
                <a:latin typeface="JetBrains Mono"/>
              </a:rPr>
              <a:t>5</a:t>
            </a:r>
            <a:r>
              <a:rPr sz="900">
                <a:solidFill>
                  <a:srgbClr val="F1F5F9"/>
                </a:solidFill>
                <a:latin typeface="JetBrains Mono"/>
              </a:rPr>
              <a:t> </a:t>
            </a:r>
            <a:r>
              <a:rPr sz="900" b="1">
                <a:solidFill>
                  <a:srgbClr val="00E5FF"/>
                </a:solidFill>
                <a:latin typeface="JetBrains Mono"/>
              </a:rPr>
              <a:t>THEN</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v_status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34D399"/>
                </a:solidFill>
                <a:latin typeface="JetBrains Mono"/>
              </a:rPr>
              <a:t>'KRITIS'</a:t>
            </a:r>
            <a:r>
              <a:rPr sz="900">
                <a:solidFill>
                  <a:srgbClr val="F1F5F9"/>
                </a:solidFill>
                <a:latin typeface="JetBrains Mono"/>
              </a:rPr>
              <a:t>;</a:t>
            </a:r>
          </a:p>
          <a:p>
            <a:pPr>
              <a:spcAft>
                <a:spcPts val="150"/>
              </a:spcAft>
            </a:pPr>
            <a:r>
              <a:rPr sz="900" b="1">
                <a:solidFill>
                  <a:srgbClr val="00E5FF"/>
                </a:solidFill>
                <a:latin typeface="JetBrains Mono"/>
              </a:rPr>
              <a:t>ELSE</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v_status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34D399"/>
                </a:solidFill>
                <a:latin typeface="JetBrains Mono"/>
              </a:rPr>
              <a:t>'AMAN'</a:t>
            </a:r>
            <a:r>
              <a:rPr sz="900">
                <a:solidFill>
                  <a:srgbClr val="F1F5F9"/>
                </a:solidFill>
                <a:latin typeface="JetBrains Mono"/>
              </a:rPr>
              <a:t>;</a:t>
            </a:r>
          </a:p>
          <a:p>
            <a:pPr>
              <a:spcAft>
                <a:spcPts val="150"/>
              </a:spcAft>
            </a:pP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a:t>
            </a:r>
          </a:p>
          <a:p>
            <a:pPr>
              <a:spcAft>
                <a:spcPts val="150"/>
              </a:spcAft>
            </a:pPr>
            <a:r>
              <a:t> </a:t>
            </a:r>
          </a:p>
          <a:p>
            <a:pPr>
              <a:spcAft>
                <a:spcPts val="150"/>
              </a:spcAft>
            </a:pPr>
            <a:r>
              <a:rPr sz="900" i="1">
                <a:solidFill>
                  <a:srgbClr val="94A3B8"/>
                </a:solidFill>
                <a:latin typeface="JetBrains Mono"/>
              </a:rPr>
              <a:t>-- 2. PERCABANGAN CASE</a:t>
            </a:r>
          </a:p>
          <a:p>
            <a:pPr>
              <a:spcAft>
                <a:spcPts val="150"/>
              </a:spcAft>
            </a:pPr>
            <a:r>
              <a:rPr sz="900">
                <a:solidFill>
                  <a:srgbClr val="F1F5F9"/>
                </a:solidFill>
                <a:latin typeface="JetBrains Mono"/>
              </a:rPr>
              <a:t>CASE</a:t>
            </a:r>
            <a:r>
              <a:rPr sz="900">
                <a:solidFill>
                  <a:srgbClr val="F1F5F9"/>
                </a:solidFill>
                <a:latin typeface="JetBrains Mono"/>
              </a:rPr>
              <a:t> </a:t>
            </a:r>
            <a:r>
              <a:rPr sz="900">
                <a:solidFill>
                  <a:srgbClr val="F59E0B"/>
                </a:solidFill>
                <a:latin typeface="JetBrains Mono"/>
              </a:rPr>
              <a:t>p_grade</a:t>
            </a:r>
          </a:p>
          <a:p>
            <a:pPr>
              <a:spcAft>
                <a:spcPts val="150"/>
              </a:spcAft>
            </a:pPr>
            <a:r>
              <a:rPr sz="900">
                <a:solidFill>
                  <a:srgbClr val="F1F5F9"/>
                </a:solidFill>
                <a:latin typeface="JetBrains Mono"/>
              </a:rPr>
              <a:t>    </a:t>
            </a:r>
            <a:r>
              <a:rPr sz="900">
                <a:solidFill>
                  <a:srgbClr val="F1F5F9"/>
                </a:solidFill>
                <a:latin typeface="JetBrains Mono"/>
              </a:rPr>
              <a:t>WHEN</a:t>
            </a:r>
            <a:r>
              <a:rPr sz="900">
                <a:solidFill>
                  <a:srgbClr val="F1F5F9"/>
                </a:solidFill>
                <a:latin typeface="JetBrains Mono"/>
              </a:rPr>
              <a:t> </a:t>
            </a:r>
            <a:r>
              <a:rPr sz="900">
                <a:solidFill>
                  <a:srgbClr val="34D399"/>
                </a:solidFill>
                <a:latin typeface="JetBrains Mono"/>
              </a:rPr>
              <a:t>'A'</a:t>
            </a:r>
            <a:r>
              <a:rPr sz="900">
                <a:solidFill>
                  <a:srgbClr val="F1F5F9"/>
                </a:solidFill>
                <a:latin typeface="JetBrains Mono"/>
              </a:rPr>
              <a:t> </a:t>
            </a:r>
            <a:r>
              <a:rPr sz="900" b="1">
                <a:solidFill>
                  <a:srgbClr val="00E5FF"/>
                </a:solidFill>
                <a:latin typeface="JetBrains Mono"/>
              </a:rPr>
              <a:t>THEN</a:t>
            </a: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v_diskon</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a:t>
            </a:r>
            <a:r>
              <a:rPr sz="900">
                <a:solidFill>
                  <a:srgbClr val="F87171"/>
                </a:solidFill>
                <a:latin typeface="JetBrains Mono"/>
              </a:rPr>
              <a:t>20</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WHEN</a:t>
            </a:r>
            <a:r>
              <a:rPr sz="900">
                <a:solidFill>
                  <a:srgbClr val="F1F5F9"/>
                </a:solidFill>
                <a:latin typeface="JetBrains Mono"/>
              </a:rPr>
              <a:t> </a:t>
            </a:r>
            <a:r>
              <a:rPr sz="900">
                <a:solidFill>
                  <a:srgbClr val="34D399"/>
                </a:solidFill>
                <a:latin typeface="JetBrains Mono"/>
              </a:rPr>
              <a:t>'B'</a:t>
            </a:r>
            <a:r>
              <a:rPr sz="900">
                <a:solidFill>
                  <a:srgbClr val="F1F5F9"/>
                </a:solidFill>
                <a:latin typeface="JetBrains Mono"/>
              </a:rPr>
              <a:t> </a:t>
            </a:r>
            <a:r>
              <a:rPr sz="900" b="1">
                <a:solidFill>
                  <a:srgbClr val="00E5FF"/>
                </a:solidFill>
                <a:latin typeface="JetBrains Mono"/>
              </a:rPr>
              <a:t>THEN</a:t>
            </a: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v_diskon</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a:t>
            </a:r>
            <a:r>
              <a:rPr sz="900">
                <a:solidFill>
                  <a:srgbClr val="F87171"/>
                </a:solidFill>
                <a:latin typeface="JetBrains Mono"/>
              </a:rPr>
              <a:t>10</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ELSE</a:t>
            </a: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v_diskon</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a:t>
            </a:r>
            <a:r>
              <a:rPr sz="900">
                <a:solidFill>
                  <a:srgbClr val="F87171"/>
                </a:solidFill>
                <a:latin typeface="JetBrains Mono"/>
              </a:rPr>
              <a:t>00</a:t>
            </a:r>
            <a:r>
              <a:rPr sz="900">
                <a:solidFill>
                  <a:srgbClr val="F1F5F9"/>
                </a:solidFill>
                <a:latin typeface="JetBrains Mono"/>
              </a:rPr>
              <a:t>;</a:t>
            </a:r>
          </a:p>
          <a:p>
            <a:pPr>
              <a:spcAft>
                <a:spcPts val="150"/>
              </a:spcAft>
            </a:pPr>
            <a:r>
              <a:rPr sz="900" b="1">
                <a:solidFill>
                  <a:srgbClr val="00E5FF"/>
                </a:solidFill>
                <a:latin typeface="JetBrains Mono"/>
              </a:rPr>
              <a:t>END</a:t>
            </a:r>
            <a:r>
              <a:rPr sz="900">
                <a:solidFill>
                  <a:srgbClr val="F1F5F9"/>
                </a:solidFill>
                <a:latin typeface="JetBrains Mono"/>
              </a:rPr>
              <a:t> </a:t>
            </a:r>
            <a:r>
              <a:rPr sz="900">
                <a:solidFill>
                  <a:srgbClr val="F1F5F9"/>
                </a:solidFill>
                <a:latin typeface="JetBrains Mono"/>
              </a:rPr>
              <a:t>CASE</a:t>
            </a:r>
            <a:r>
              <a:rPr sz="900">
                <a:solidFill>
                  <a:srgbClr val="F1F5F9"/>
                </a:solidFill>
                <a:latin typeface="JetBrains Mono"/>
              </a:rPr>
              <a:t>;</a:t>
            </a:r>
          </a:p>
        </p:txBody>
      </p:sp>
      <p:sp>
        <p:nvSpPr>
          <p:cNvPr id="14" name="Rounded Rectangle 13"/>
          <p:cNvSpPr/>
          <p:nvPr/>
        </p:nvSpPr>
        <p:spPr>
          <a:xfrm>
            <a:off x="6217920" y="1691640"/>
            <a:ext cx="502920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5508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1967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8426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9440" y="1728216"/>
            <a:ext cx="3017520" cy="256032"/>
          </a:xfrm>
          <a:prstGeom prst="rect">
            <a:avLst/>
          </a:prstGeom>
          <a:noFill/>
        </p:spPr>
        <p:txBody>
          <a:bodyPr wrap="none">
            <a:spAutoFit/>
          </a:bodyPr>
          <a:lstStyle/>
          <a:p>
            <a:pPr>
              <a:defRPr sz="900">
                <a:solidFill>
                  <a:srgbClr val="38BDF8"/>
                </a:solidFill>
                <a:latin typeface="JetBrains Mono"/>
              </a:defRPr>
            </a:pPr>
            <a:r>
              <a:t>terminal · Pengulangan (WHILE &amp; LOOP)</a:t>
            </a:r>
          </a:p>
        </p:txBody>
      </p:sp>
      <p:sp>
        <p:nvSpPr>
          <p:cNvPr id="19" name="TextBox 18"/>
          <p:cNvSpPr txBox="1"/>
          <p:nvPr/>
        </p:nvSpPr>
        <p:spPr>
          <a:xfrm>
            <a:off x="6355080" y="1984248"/>
            <a:ext cx="4754880" cy="3840480"/>
          </a:xfrm>
          <a:prstGeom prst="rect">
            <a:avLst/>
          </a:prstGeom>
          <a:noFill/>
        </p:spPr>
        <p:txBody>
          <a:bodyPr wrap="square" tIns="18288" bIns="18288" lIns="45720" rIns="45720">
            <a:spAutoFit/>
          </a:bodyPr>
          <a:lstStyle/>
          <a:p>
            <a:pPr>
              <a:spcAft>
                <a:spcPts val="150"/>
              </a:spcAft>
            </a:pPr>
            <a:r>
              <a:rPr sz="900" i="1">
                <a:solidFill>
                  <a:srgbClr val="94A3B8"/>
                </a:solidFill>
                <a:latin typeface="JetBrains Mono"/>
              </a:rPr>
              <a:t>-- 3. PENGULANGAN WHILE LOOP</a:t>
            </a:r>
          </a:p>
          <a:p>
            <a:pPr>
              <a:spcAft>
                <a:spcPts val="150"/>
              </a:spcAft>
            </a:pPr>
            <a:r>
              <a:rPr sz="900">
                <a:solidFill>
                  <a:srgbClr val="F1F5F9"/>
                </a:solidFill>
                <a:latin typeface="JetBrains Mono"/>
              </a:rPr>
              <a:t>WHILE</a:t>
            </a:r>
            <a:r>
              <a:rPr sz="900">
                <a:solidFill>
                  <a:srgbClr val="F1F5F9"/>
                </a:solidFill>
                <a:latin typeface="JetBrains Mono"/>
              </a:rPr>
              <a:t> </a:t>
            </a:r>
            <a:r>
              <a:rPr sz="900">
                <a:solidFill>
                  <a:srgbClr val="F59E0B"/>
                </a:solidFill>
                <a:latin typeface="JetBrains Mono"/>
              </a:rPr>
              <a:t>v_counter</a:t>
            </a:r>
            <a:r>
              <a:rPr sz="900">
                <a:solidFill>
                  <a:srgbClr val="F1F5F9"/>
                </a:solidFill>
                <a:latin typeface="JetBrains Mono"/>
              </a:rPr>
              <a:t> </a:t>
            </a:r>
            <a:r>
              <a:rPr sz="900">
                <a:solidFill>
                  <a:srgbClr val="F1F5F9"/>
                </a:solidFill>
                <a:latin typeface="JetBrains Mono"/>
              </a:rPr>
              <a:t>&lt;</a:t>
            </a:r>
            <a:r>
              <a:rPr sz="900">
                <a:solidFill>
                  <a:srgbClr val="F1F5F9"/>
                </a:solidFill>
                <a:latin typeface="JetBrains Mono"/>
              </a:rPr>
              <a:t> </a:t>
            </a:r>
            <a:r>
              <a:rPr sz="900">
                <a:solidFill>
                  <a:srgbClr val="F87171"/>
                </a:solidFill>
                <a:latin typeface="JetBrains Mono"/>
              </a:rPr>
              <a:t>10</a:t>
            </a:r>
            <a:r>
              <a:rPr sz="900">
                <a:solidFill>
                  <a:srgbClr val="F1F5F9"/>
                </a:solidFill>
                <a:latin typeface="JetBrains Mono"/>
              </a:rPr>
              <a:t> </a:t>
            </a:r>
            <a:r>
              <a:rPr sz="900">
                <a:solidFill>
                  <a:srgbClr val="F1F5F9"/>
                </a:solidFill>
                <a:latin typeface="JetBrains Mono"/>
              </a:rPr>
              <a:t>DO</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v_total</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v_total</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v_counter</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v_counter</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v_counter</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a:t>
            </a:r>
          </a:p>
          <a:p>
            <a:pPr>
              <a:spcAft>
                <a:spcPts val="150"/>
              </a:spcAft>
            </a:pPr>
            <a:r>
              <a:rPr sz="900" b="1">
                <a:solidFill>
                  <a:srgbClr val="00E5FF"/>
                </a:solidFill>
                <a:latin typeface="JetBrains Mono"/>
              </a:rPr>
              <a:t>END</a:t>
            </a:r>
            <a:r>
              <a:rPr sz="900">
                <a:solidFill>
                  <a:srgbClr val="F1F5F9"/>
                </a:solidFill>
                <a:latin typeface="JetBrains Mono"/>
              </a:rPr>
              <a:t> </a:t>
            </a:r>
            <a:r>
              <a:rPr sz="900">
                <a:solidFill>
                  <a:srgbClr val="F1F5F9"/>
                </a:solidFill>
                <a:latin typeface="JetBrains Mono"/>
              </a:rPr>
              <a:t>WHILE</a:t>
            </a:r>
            <a:r>
              <a:rPr sz="900">
                <a:solidFill>
                  <a:srgbClr val="F1F5F9"/>
                </a:solidFill>
                <a:latin typeface="JetBrains Mono"/>
              </a:rPr>
              <a:t>;</a:t>
            </a:r>
          </a:p>
          <a:p>
            <a:pPr>
              <a:spcAft>
                <a:spcPts val="150"/>
              </a:spcAft>
            </a:pPr>
            <a:r>
              <a:t> </a:t>
            </a:r>
          </a:p>
          <a:p>
            <a:pPr>
              <a:spcAft>
                <a:spcPts val="150"/>
              </a:spcAft>
            </a:pPr>
            <a:r>
              <a:rPr sz="900" i="1">
                <a:solidFill>
                  <a:srgbClr val="94A3B8"/>
                </a:solidFill>
                <a:latin typeface="JetBrains Mono"/>
              </a:rPr>
              <a:t>-- 4. LOOP &amp; LEAVE (BREAK)</a:t>
            </a:r>
          </a:p>
          <a:p>
            <a:pPr>
              <a:spcAft>
                <a:spcPts val="150"/>
              </a:spcAft>
            </a:pPr>
            <a:r>
              <a:rPr sz="900">
                <a:solidFill>
                  <a:srgbClr val="F1F5F9"/>
                </a:solidFill>
                <a:latin typeface="JetBrains Mono"/>
              </a:rPr>
              <a:t>baca_loop</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LOOP</a:t>
            </a:r>
          </a:p>
          <a:p>
            <a:pPr>
              <a:spcAft>
                <a:spcPts val="150"/>
              </a:spcAft>
            </a:pPr>
            <a:r>
              <a:rPr sz="900">
                <a:solidFill>
                  <a:srgbClr val="F1F5F9"/>
                </a:solidFill>
                <a:latin typeface="JetBrains Mono"/>
              </a:rPr>
              <a:t>    </a:t>
            </a:r>
            <a:r>
              <a:rPr sz="900" b="1">
                <a:solidFill>
                  <a:srgbClr val="00E5FF"/>
                </a:solidFill>
                <a:latin typeface="JetBrains Mono"/>
              </a:rPr>
              <a:t>FETCH</a:t>
            </a:r>
            <a:r>
              <a:rPr sz="900">
                <a:solidFill>
                  <a:srgbClr val="F1F5F9"/>
                </a:solidFill>
                <a:latin typeface="JetBrains Mono"/>
              </a:rPr>
              <a:t> </a:t>
            </a:r>
            <a:r>
              <a:rPr sz="900">
                <a:solidFill>
                  <a:srgbClr val="F1F5F9"/>
                </a:solidFill>
                <a:latin typeface="JetBrains Mono"/>
              </a:rPr>
              <a:t>cur_produk</a:t>
            </a:r>
            <a:r>
              <a:rPr sz="900">
                <a:solidFill>
                  <a:srgbClr val="F1F5F9"/>
                </a:solidFill>
                <a:latin typeface="JetBrains Mono"/>
              </a:rPr>
              <a:t> </a:t>
            </a:r>
            <a:r>
              <a:rPr sz="900" b="1">
                <a:solidFill>
                  <a:srgbClr val="00E5FF"/>
                </a:solidFill>
                <a:latin typeface="JetBrains Mono"/>
              </a:rPr>
              <a:t>INTO</a:t>
            </a:r>
            <a:r>
              <a:rPr sz="900">
                <a:solidFill>
                  <a:srgbClr val="F1F5F9"/>
                </a:solidFill>
                <a:latin typeface="JetBrains Mono"/>
              </a:rPr>
              <a:t> </a:t>
            </a:r>
            <a:r>
              <a:rPr sz="900">
                <a:solidFill>
                  <a:srgbClr val="F59E0B"/>
                </a:solidFill>
                <a:latin typeface="JetBrains Mono"/>
              </a:rPr>
              <a:t>v_kode</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 </a:t>
            </a:r>
            <a:r>
              <a:rPr sz="900">
                <a:solidFill>
                  <a:srgbClr val="F59E0B"/>
                </a:solidFill>
                <a:latin typeface="JetBrains Mono"/>
              </a:rPr>
              <a:t>v_selesai</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 </a:t>
            </a:r>
            <a:r>
              <a:rPr sz="900" b="1">
                <a:solidFill>
                  <a:srgbClr val="00E5FF"/>
                </a:solidFill>
                <a:latin typeface="JetBrains Mono"/>
              </a:rPr>
              <a:t>THEN</a:t>
            </a:r>
          </a:p>
          <a:p>
            <a:pPr>
              <a:spcAft>
                <a:spcPts val="150"/>
              </a:spcAft>
            </a:pPr>
            <a:r>
              <a:rPr sz="900">
                <a:solidFill>
                  <a:srgbClr val="F1F5F9"/>
                </a:solidFill>
                <a:latin typeface="JetBrains Mono"/>
              </a:rPr>
              <a:t>        </a:t>
            </a:r>
            <a:r>
              <a:rPr sz="900" b="1">
                <a:solidFill>
                  <a:srgbClr val="00E5FF"/>
                </a:solidFill>
                <a:latin typeface="JetBrains Mono"/>
              </a:rPr>
              <a:t>LEAVE</a:t>
            </a:r>
            <a:r>
              <a:rPr sz="900">
                <a:solidFill>
                  <a:srgbClr val="F1F5F9"/>
                </a:solidFill>
                <a:latin typeface="JetBrains Mono"/>
              </a:rPr>
              <a:t> </a:t>
            </a:r>
            <a:r>
              <a:rPr sz="900">
                <a:solidFill>
                  <a:srgbClr val="F1F5F9"/>
                </a:solidFill>
                <a:latin typeface="JetBrains Mono"/>
              </a:rPr>
              <a:t>baca_loop</a:t>
            </a:r>
            <a:r>
              <a:rPr sz="900">
                <a:solidFill>
                  <a:srgbClr val="F1F5F9"/>
                </a:solidFill>
                <a:latin typeface="JetBrains Mono"/>
              </a:rPr>
              <a:t>;</a:t>
            </a:r>
            <a:r>
              <a:rPr sz="900">
                <a:solidFill>
                  <a:srgbClr val="F1F5F9"/>
                </a:solidFill>
                <a:latin typeface="JetBrains Mono"/>
              </a:rPr>
              <a:t> </a:t>
            </a:r>
            <a:r>
              <a:rPr sz="900" i="1">
                <a:solidFill>
                  <a:srgbClr val="94A3B8"/>
                </a:solidFill>
                <a:latin typeface="JetBrains Mono"/>
              </a:rPr>
              <a:t>-- Keluar loop</a:t>
            </a:r>
          </a:p>
          <a:p>
            <a:pPr>
              <a:spcAft>
                <a:spcPts val="150"/>
              </a:spcAft>
            </a:pPr>
            <a:r>
              <a:rPr sz="900">
                <a:solidFill>
                  <a:srgbClr val="F1F5F9"/>
                </a:solidFill>
                <a:latin typeface="JetBrains Mono"/>
              </a:rPr>
              <a:t>    </a:t>
            </a: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a:t>
            </a:r>
          </a:p>
          <a:p>
            <a:pPr>
              <a:spcAft>
                <a:spcPts val="150"/>
              </a:spcAft>
            </a:pPr>
            <a:r>
              <a:rPr sz="900">
                <a:solidFill>
                  <a:srgbClr val="F1F5F9"/>
                </a:solidFill>
                <a:latin typeface="JetBrains Mono"/>
              </a:rPr>
              <a:t>    </a:t>
            </a:r>
            <a:r>
              <a:rPr sz="900" i="1">
                <a:solidFill>
                  <a:srgbClr val="94A3B8"/>
                </a:solidFill>
                <a:latin typeface="JetBrains Mono"/>
              </a:rPr>
              <a:t>-- Proses data baris...</a:t>
            </a:r>
          </a:p>
          <a:p>
            <a:pPr>
              <a:spcAft>
                <a:spcPts val="150"/>
              </a:spcAft>
            </a:pP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LOOP</a:t>
            </a:r>
            <a:r>
              <a:rPr sz="900">
                <a:solidFill>
                  <a:srgbClr val="F1F5F9"/>
                </a:solidFill>
                <a:latin typeface="JetBrains Mono"/>
              </a:rPr>
              <a:t> </a:t>
            </a:r>
            <a:r>
              <a:rPr sz="900">
                <a:solidFill>
                  <a:srgbClr val="F1F5F9"/>
                </a:solidFill>
                <a:latin typeface="JetBrains Mono"/>
              </a:rPr>
              <a:t>baca_loop</a:t>
            </a:r>
            <a:r>
              <a:rPr sz="900">
                <a:solidFill>
                  <a:srgbClr val="F1F5F9"/>
                </a:solidFill>
                <a:latin typeface="JetBrains Mono"/>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06 · CURSOR &amp; ITERASI</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Pointer Baris demi Baris</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Cursor: Memproses Data Baris demi Baris </a:t>
            </a:r>
            <a:r>
              <a:rPr sz="2100" b="1">
                <a:solidFill>
                  <a:srgbClr val="00E5FF"/>
                </a:solidFill>
                <a:latin typeface="Plus Jakarta Sans"/>
              </a:rPr>
              <a:t>5 Langkah Siklus</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2450592" cy="1645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819656"/>
            <a:ext cx="2121408" cy="1389888"/>
          </a:xfrm>
          <a:prstGeom prst="rect">
            <a:avLst/>
          </a:prstGeom>
          <a:noFill/>
        </p:spPr>
        <p:txBody>
          <a:bodyPr wrap="square">
            <a:spAutoFit/>
          </a:bodyPr>
          <a:lstStyle/>
          <a:p>
            <a:r>
              <a:rPr sz="1050" b="1">
                <a:solidFill>
                  <a:srgbClr val="00E5FF"/>
                </a:solidFill>
                <a:latin typeface="JetBrains Mono"/>
              </a:rPr>
              <a:t>[01] </a:t>
            </a:r>
            <a:r>
              <a:rPr sz="1200" b="1">
                <a:solidFill>
                  <a:srgbClr val="FFFFFF"/>
                </a:solidFill>
                <a:latin typeface="Plus Jakarta Sans"/>
              </a:rPr>
              <a:t>1. DECLARE</a:t>
            </a:r>
          </a:p>
          <a:p>
            <a:pPr>
              <a:spcBef>
                <a:spcPts val="600"/>
              </a:spcBef>
            </a:pPr>
            <a:r>
              <a:rPr sz="950">
                <a:solidFill>
                  <a:srgbClr val="CBD5E1"/>
                </a:solidFill>
                <a:latin typeface="Inter"/>
              </a:rPr>
              <a:t>Mendeklarasikan nama kursor dan kueri SELECT yang akan dibaca.</a:t>
            </a:r>
          </a:p>
        </p:txBody>
      </p:sp>
      <p:sp>
        <p:nvSpPr>
          <p:cNvPr id="10" name="Rounded Rectangle 9"/>
          <p:cNvSpPr/>
          <p:nvPr/>
        </p:nvSpPr>
        <p:spPr>
          <a:xfrm>
            <a:off x="3547872" y="1691640"/>
            <a:ext cx="2450592" cy="1645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12464" y="1819656"/>
            <a:ext cx="2121408" cy="1389888"/>
          </a:xfrm>
          <a:prstGeom prst="rect">
            <a:avLst/>
          </a:prstGeom>
          <a:noFill/>
        </p:spPr>
        <p:txBody>
          <a:bodyPr wrap="square">
            <a:spAutoFit/>
          </a:bodyPr>
          <a:lstStyle/>
          <a:p>
            <a:r>
              <a:rPr sz="1050" b="1">
                <a:solidFill>
                  <a:srgbClr val="00E5FF"/>
                </a:solidFill>
                <a:latin typeface="JetBrains Mono"/>
              </a:rPr>
              <a:t>[02] </a:t>
            </a:r>
            <a:r>
              <a:rPr sz="1200" b="1">
                <a:solidFill>
                  <a:srgbClr val="FFFFFF"/>
                </a:solidFill>
                <a:latin typeface="Plus Jakarta Sans"/>
              </a:rPr>
              <a:t>2. OPEN</a:t>
            </a:r>
          </a:p>
          <a:p>
            <a:pPr>
              <a:spcBef>
                <a:spcPts val="600"/>
              </a:spcBef>
            </a:pPr>
            <a:r>
              <a:rPr sz="950">
                <a:solidFill>
                  <a:srgbClr val="CBD5E1"/>
                </a:solidFill>
                <a:latin typeface="Inter"/>
              </a:rPr>
              <a:t>Mengeksekusi kueri SELECT dan menyiapkan pointer data di memori.</a:t>
            </a:r>
          </a:p>
        </p:txBody>
      </p:sp>
      <p:sp>
        <p:nvSpPr>
          <p:cNvPr id="12" name="Rounded Rectangle 11"/>
          <p:cNvSpPr/>
          <p:nvPr/>
        </p:nvSpPr>
        <p:spPr>
          <a:xfrm>
            <a:off x="6181344" y="1691640"/>
            <a:ext cx="2450592" cy="1645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5936" y="1819656"/>
            <a:ext cx="2121408" cy="1389888"/>
          </a:xfrm>
          <a:prstGeom prst="rect">
            <a:avLst/>
          </a:prstGeom>
          <a:noFill/>
        </p:spPr>
        <p:txBody>
          <a:bodyPr wrap="square">
            <a:spAutoFit/>
          </a:bodyPr>
          <a:lstStyle/>
          <a:p>
            <a:r>
              <a:rPr sz="1050" b="1">
                <a:solidFill>
                  <a:srgbClr val="00E5FF"/>
                </a:solidFill>
                <a:latin typeface="JetBrains Mono"/>
              </a:rPr>
              <a:t>[03] </a:t>
            </a:r>
            <a:r>
              <a:rPr sz="1200" b="1">
                <a:solidFill>
                  <a:srgbClr val="FFFFFF"/>
                </a:solidFill>
                <a:latin typeface="Plus Jakarta Sans"/>
              </a:rPr>
              <a:t>3. FETCH</a:t>
            </a:r>
          </a:p>
          <a:p>
            <a:pPr>
              <a:spcBef>
                <a:spcPts val="600"/>
              </a:spcBef>
            </a:pPr>
            <a:r>
              <a:rPr sz="950">
                <a:solidFill>
                  <a:srgbClr val="CBD5E1"/>
                </a:solidFill>
                <a:latin typeface="Inter"/>
              </a:rPr>
              <a:t>Mengambil nilai satu baris ke variabel lokal dan menggeser pointer.</a:t>
            </a:r>
          </a:p>
        </p:txBody>
      </p:sp>
      <p:sp>
        <p:nvSpPr>
          <p:cNvPr id="14" name="Rounded Rectangle 13"/>
          <p:cNvSpPr/>
          <p:nvPr/>
        </p:nvSpPr>
        <p:spPr>
          <a:xfrm>
            <a:off x="8814816" y="1691640"/>
            <a:ext cx="2450592" cy="1645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79408" y="1819656"/>
            <a:ext cx="2121408" cy="1389888"/>
          </a:xfrm>
          <a:prstGeom prst="rect">
            <a:avLst/>
          </a:prstGeom>
          <a:noFill/>
        </p:spPr>
        <p:txBody>
          <a:bodyPr wrap="square">
            <a:spAutoFit/>
          </a:bodyPr>
          <a:lstStyle/>
          <a:p>
            <a:r>
              <a:rPr sz="1050" b="1">
                <a:solidFill>
                  <a:srgbClr val="00E5FF"/>
                </a:solidFill>
                <a:latin typeface="JetBrains Mono"/>
              </a:rPr>
              <a:t>[04] </a:t>
            </a:r>
            <a:r>
              <a:rPr sz="1200" b="1">
                <a:solidFill>
                  <a:srgbClr val="FFFFFF"/>
                </a:solidFill>
                <a:latin typeface="Plus Jakarta Sans"/>
              </a:rPr>
              <a:t>4. CLOSE</a:t>
            </a:r>
          </a:p>
          <a:p>
            <a:pPr>
              <a:spcBef>
                <a:spcPts val="600"/>
              </a:spcBef>
            </a:pPr>
            <a:r>
              <a:rPr sz="950">
                <a:solidFill>
                  <a:srgbClr val="CBD5E1"/>
                </a:solidFill>
                <a:latin typeface="Inter"/>
              </a:rPr>
              <a:t>Menutup kursor dan membebaskan alokasi memori buffer server.</a:t>
            </a:r>
          </a:p>
        </p:txBody>
      </p:sp>
      <p:sp>
        <p:nvSpPr>
          <p:cNvPr id="16" name="Rounded Rectangle 15"/>
          <p:cNvSpPr/>
          <p:nvPr/>
        </p:nvSpPr>
        <p:spPr>
          <a:xfrm>
            <a:off x="914400" y="3520440"/>
            <a:ext cx="10332720" cy="23774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51560" y="3630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216151" y="36301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380744" y="36301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20" y="3557016"/>
            <a:ext cx="8321040" cy="256032"/>
          </a:xfrm>
          <a:prstGeom prst="rect">
            <a:avLst/>
          </a:prstGeom>
          <a:noFill/>
        </p:spPr>
        <p:txBody>
          <a:bodyPr wrap="none">
            <a:spAutoFit/>
          </a:bodyPr>
          <a:lstStyle/>
          <a:p>
            <a:pPr>
              <a:defRPr sz="900">
                <a:solidFill>
                  <a:srgbClr val="38BDF8"/>
                </a:solidFill>
                <a:latin typeface="JetBrains Mono"/>
              </a:defRPr>
            </a:pPr>
            <a:r>
              <a:t>terminal · Alur Lengkap Implementasi CURSOR</a:t>
            </a:r>
          </a:p>
        </p:txBody>
      </p:sp>
      <p:sp>
        <p:nvSpPr>
          <p:cNvPr id="21" name="TextBox 20"/>
          <p:cNvSpPr txBox="1"/>
          <p:nvPr/>
        </p:nvSpPr>
        <p:spPr>
          <a:xfrm>
            <a:off x="1051560" y="3813048"/>
            <a:ext cx="10058400" cy="2011680"/>
          </a:xfrm>
          <a:prstGeom prst="rect">
            <a:avLst/>
          </a:prstGeom>
          <a:noFill/>
        </p:spPr>
        <p:txBody>
          <a:bodyPr wrap="square" tIns="18288" bIns="18288" lIns="45720" rIns="45720">
            <a:spAutoFit/>
          </a:bodyPr>
          <a:lstStyle/>
          <a:p>
            <a:pPr>
              <a:spcAft>
                <a:spcPts val="150"/>
              </a:spcAft>
            </a:pPr>
            <a:r>
              <a:rPr sz="900" b="1">
                <a:solidFill>
                  <a:srgbClr val="00E5FF"/>
                </a:solidFill>
                <a:latin typeface="JetBrains Mono"/>
              </a:rPr>
              <a:t>DECLARE</a:t>
            </a:r>
            <a:r>
              <a:rPr sz="900">
                <a:solidFill>
                  <a:srgbClr val="F1F5F9"/>
                </a:solidFill>
                <a:latin typeface="JetBrains Mono"/>
              </a:rPr>
              <a:t> </a:t>
            </a:r>
            <a:r>
              <a:rPr sz="900">
                <a:solidFill>
                  <a:srgbClr val="F59E0B"/>
                </a:solidFill>
                <a:latin typeface="JetBrains Mono"/>
              </a:rPr>
              <a:t>v_selesai</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 </a:t>
            </a:r>
            <a:r>
              <a:rPr sz="900" b="1">
                <a:solidFill>
                  <a:srgbClr val="00E5FF"/>
                </a:solidFill>
                <a:latin typeface="JetBrains Mono"/>
              </a:rPr>
              <a:t>DEFAULT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a:t>
            </a:r>
          </a:p>
          <a:p>
            <a:pPr>
              <a:spcAft>
                <a:spcPts val="150"/>
              </a:spcAft>
            </a:pPr>
            <a:r>
              <a:rPr sz="900" b="1">
                <a:solidFill>
                  <a:srgbClr val="00E5FF"/>
                </a:solidFill>
                <a:latin typeface="JetBrains Mono"/>
              </a:rPr>
              <a:t>DECLARE</a:t>
            </a:r>
            <a:r>
              <a:rPr sz="900">
                <a:solidFill>
                  <a:srgbClr val="F1F5F9"/>
                </a:solidFill>
                <a:latin typeface="JetBrains Mono"/>
              </a:rPr>
              <a:t> </a:t>
            </a:r>
            <a:r>
              <a:rPr sz="900">
                <a:solidFill>
                  <a:srgbClr val="F59E0B"/>
                </a:solidFill>
                <a:latin typeface="JetBrains Mono"/>
              </a:rPr>
              <a:t>v_kode</a:t>
            </a:r>
            <a:r>
              <a:rPr sz="900">
                <a:solidFill>
                  <a:srgbClr val="F1F5F9"/>
                </a:solidFill>
                <a:latin typeface="JetBrains Mono"/>
              </a:rPr>
              <a:t> </a:t>
            </a:r>
            <a:r>
              <a:rPr sz="900" b="1">
                <a:solidFill>
                  <a:srgbClr val="C084FC"/>
                </a:solidFill>
                <a:latin typeface="JetBrains Mono"/>
              </a:rPr>
              <a:t>CHAR</a:t>
            </a:r>
            <a:r>
              <a:rPr sz="900">
                <a:solidFill>
                  <a:srgbClr val="F1F5F9"/>
                </a:solidFill>
                <a:latin typeface="JetBrains Mono"/>
              </a:rPr>
              <a:t>(</a:t>
            </a:r>
            <a:r>
              <a:rPr sz="900">
                <a:solidFill>
                  <a:srgbClr val="F87171"/>
                </a:solidFill>
                <a:latin typeface="JetBrains Mono"/>
              </a:rPr>
              <a:t>4</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DECLARE</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a:t>
            </a:r>
          </a:p>
          <a:p>
            <a:pPr>
              <a:spcAft>
                <a:spcPts val="150"/>
              </a:spcAft>
            </a:pPr>
            <a:r>
              <a:rPr sz="900" b="1">
                <a:solidFill>
                  <a:srgbClr val="00E5FF"/>
                </a:solidFill>
                <a:latin typeface="JetBrains Mono"/>
              </a:rPr>
              <a:t>DECLARE</a:t>
            </a:r>
            <a:r>
              <a:rPr sz="900">
                <a:solidFill>
                  <a:srgbClr val="F1F5F9"/>
                </a:solidFill>
                <a:latin typeface="JetBrains Mono"/>
              </a:rPr>
              <a:t> </a:t>
            </a:r>
            <a:r>
              <a:rPr sz="900">
                <a:solidFill>
                  <a:srgbClr val="F1F5F9"/>
                </a:solidFill>
                <a:latin typeface="JetBrains Mono"/>
              </a:rPr>
              <a:t>cur_cek_stok</a:t>
            </a:r>
            <a:r>
              <a:rPr sz="900">
                <a:solidFill>
                  <a:srgbClr val="F1F5F9"/>
                </a:solidFill>
                <a:latin typeface="JetBrains Mono"/>
              </a:rPr>
              <a:t> </a:t>
            </a:r>
            <a:r>
              <a:rPr sz="900" b="1">
                <a:solidFill>
                  <a:srgbClr val="00E5FF"/>
                </a:solidFill>
                <a:latin typeface="JetBrains Mono"/>
              </a:rPr>
              <a:t>CURSOR</a:t>
            </a:r>
            <a:r>
              <a:rPr sz="900">
                <a:solidFill>
                  <a:srgbClr val="F1F5F9"/>
                </a:solidFill>
                <a:latin typeface="JetBrains Mono"/>
              </a:rPr>
              <a:t> </a:t>
            </a:r>
            <a:r>
              <a:rPr sz="900" b="1">
                <a:solidFill>
                  <a:srgbClr val="00E5FF"/>
                </a:solidFill>
                <a:latin typeface="JetBrains Mono"/>
              </a:rPr>
              <a:t>FOR</a:t>
            </a:r>
            <a:r>
              <a:rPr sz="900">
                <a:solidFill>
                  <a:srgbClr val="F1F5F9"/>
                </a:solidFill>
                <a:latin typeface="JetBrains Mono"/>
              </a:rPr>
              <a:t> </a:t>
            </a:r>
            <a:r>
              <a:rPr sz="900" b="1">
                <a:solidFill>
                  <a:srgbClr val="00E5FF"/>
                </a:solidFill>
                <a:latin typeface="JetBrains Mono"/>
              </a:rPr>
              <a:t>SELECT</a:t>
            </a:r>
            <a:r>
              <a:rPr sz="900">
                <a:solidFill>
                  <a:srgbClr val="F1F5F9"/>
                </a:solidFill>
                <a:latin typeface="JetBrains Mono"/>
              </a:rPr>
              <a:t> </a:t>
            </a:r>
            <a:r>
              <a:rPr sz="900">
                <a:solidFill>
                  <a:srgbClr val="F1F5F9"/>
                </a:solidFill>
                <a:latin typeface="JetBrains Mono"/>
              </a:rPr>
              <a:t>KodeProduk</a:t>
            </a:r>
            <a:r>
              <a:rPr sz="900">
                <a:solidFill>
                  <a:srgbClr val="F1F5F9"/>
                </a:solidFill>
                <a:latin typeface="JetBrains Mono"/>
              </a:rPr>
              <a:t>,</a:t>
            </a:r>
            <a:r>
              <a:rPr sz="900">
                <a:solidFill>
                  <a:srgbClr val="F1F5F9"/>
                </a:solidFill>
                <a:latin typeface="JetBrains Mono"/>
              </a:rPr>
              <a:t> </a:t>
            </a:r>
            <a:r>
              <a:rPr sz="900">
                <a:solidFill>
                  <a:srgbClr val="F1F5F9"/>
                </a:solidFill>
                <a:latin typeface="JetBrains Mono"/>
              </a:rPr>
              <a:t>stok</a:t>
            </a:r>
            <a:r>
              <a:rPr sz="900">
                <a:solidFill>
                  <a:srgbClr val="F1F5F9"/>
                </a:solidFill>
                <a:latin typeface="JetBrains Mono"/>
              </a:rPr>
              <a:t> </a:t>
            </a:r>
            <a:r>
              <a:rPr sz="900" b="1">
                <a:solidFill>
                  <a:srgbClr val="00E5FF"/>
                </a:solidFill>
                <a:latin typeface="JetBrains Mono"/>
              </a:rPr>
              <a:t>FROM</a:t>
            </a:r>
            <a:r>
              <a:rPr sz="900">
                <a:solidFill>
                  <a:srgbClr val="F1F5F9"/>
                </a:solidFill>
                <a:latin typeface="JetBrains Mono"/>
              </a:rPr>
              <a:t> </a:t>
            </a:r>
            <a:r>
              <a:rPr sz="900">
                <a:solidFill>
                  <a:srgbClr val="F1F5F9"/>
                </a:solidFill>
                <a:latin typeface="JetBrains Mono"/>
              </a:rPr>
              <a:t>produk</a:t>
            </a:r>
            <a:r>
              <a:rPr sz="900">
                <a:solidFill>
                  <a:srgbClr val="F1F5F9"/>
                </a:solidFill>
                <a:latin typeface="JetBrains Mono"/>
              </a:rPr>
              <a:t> </a:t>
            </a:r>
            <a:r>
              <a:rPr sz="900" b="1">
                <a:solidFill>
                  <a:srgbClr val="00E5FF"/>
                </a:solidFill>
                <a:latin typeface="JetBrains Mono"/>
              </a:rPr>
              <a:t>WHERE</a:t>
            </a:r>
            <a:r>
              <a:rPr sz="900">
                <a:solidFill>
                  <a:srgbClr val="F1F5F9"/>
                </a:solidFill>
                <a:latin typeface="JetBrains Mono"/>
              </a:rPr>
              <a:t> </a:t>
            </a:r>
            <a:r>
              <a:rPr sz="900">
                <a:solidFill>
                  <a:srgbClr val="F1F5F9"/>
                </a:solidFill>
                <a:latin typeface="JetBrains Mono"/>
              </a:rPr>
              <a:t>stok</a:t>
            </a:r>
            <a:r>
              <a:rPr sz="900">
                <a:solidFill>
                  <a:srgbClr val="F1F5F9"/>
                </a:solidFill>
                <a:latin typeface="JetBrains Mono"/>
              </a:rPr>
              <a:t> </a:t>
            </a:r>
            <a:r>
              <a:rPr sz="900">
                <a:solidFill>
                  <a:srgbClr val="F1F5F9"/>
                </a:solidFill>
                <a:latin typeface="JetBrains Mono"/>
              </a:rPr>
              <a:t>&lt;</a:t>
            </a:r>
            <a:r>
              <a:rPr sz="900">
                <a:solidFill>
                  <a:srgbClr val="F1F5F9"/>
                </a:solidFill>
                <a:latin typeface="JetBrains Mono"/>
              </a:rPr>
              <a:t> </a:t>
            </a:r>
            <a:r>
              <a:rPr sz="900">
                <a:solidFill>
                  <a:srgbClr val="F87171"/>
                </a:solidFill>
                <a:latin typeface="JetBrains Mono"/>
              </a:rPr>
              <a:t>10</a:t>
            </a:r>
            <a:r>
              <a:rPr sz="900">
                <a:solidFill>
                  <a:srgbClr val="F1F5F9"/>
                </a:solidFill>
                <a:latin typeface="JetBrains Mono"/>
              </a:rPr>
              <a:t>;</a:t>
            </a:r>
          </a:p>
          <a:p>
            <a:pPr>
              <a:spcAft>
                <a:spcPts val="150"/>
              </a:spcAft>
            </a:pPr>
            <a:r>
              <a:rPr sz="900" b="1">
                <a:solidFill>
                  <a:srgbClr val="00E5FF"/>
                </a:solidFill>
                <a:latin typeface="JetBrains Mono"/>
              </a:rPr>
              <a:t>DECLARE</a:t>
            </a:r>
            <a:r>
              <a:rPr sz="900">
                <a:solidFill>
                  <a:srgbClr val="F1F5F9"/>
                </a:solidFill>
                <a:latin typeface="JetBrains Mono"/>
              </a:rPr>
              <a:t> </a:t>
            </a:r>
            <a:r>
              <a:rPr sz="900" b="1">
                <a:solidFill>
                  <a:srgbClr val="00E5FF"/>
                </a:solidFill>
                <a:latin typeface="JetBrains Mono"/>
              </a:rPr>
              <a:t>CONTINUE</a:t>
            </a:r>
            <a:r>
              <a:rPr sz="900">
                <a:solidFill>
                  <a:srgbClr val="F1F5F9"/>
                </a:solidFill>
                <a:latin typeface="JetBrains Mono"/>
              </a:rPr>
              <a:t> </a:t>
            </a:r>
            <a:r>
              <a:rPr sz="900" b="1">
                <a:solidFill>
                  <a:srgbClr val="00E5FF"/>
                </a:solidFill>
                <a:latin typeface="JetBrains Mono"/>
              </a:rPr>
              <a:t>HANDLER</a:t>
            </a:r>
            <a:r>
              <a:rPr sz="900">
                <a:solidFill>
                  <a:srgbClr val="F1F5F9"/>
                </a:solidFill>
                <a:latin typeface="JetBrains Mono"/>
              </a:rPr>
              <a:t> </a:t>
            </a:r>
            <a:r>
              <a:rPr sz="900" b="1">
                <a:solidFill>
                  <a:srgbClr val="00E5FF"/>
                </a:solidFill>
                <a:latin typeface="JetBrains Mono"/>
              </a:rPr>
              <a:t>FOR</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FOUND</a:t>
            </a: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v_selesai</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a:t>
            </a:r>
          </a:p>
          <a:p>
            <a:pPr>
              <a:spcAft>
                <a:spcPts val="150"/>
              </a:spcAft>
            </a:pPr>
            <a:r>
              <a:t> </a:t>
            </a:r>
          </a:p>
          <a:p>
            <a:pPr>
              <a:spcAft>
                <a:spcPts val="150"/>
              </a:spcAft>
            </a:pPr>
            <a:r>
              <a:rPr sz="900" b="1">
                <a:solidFill>
                  <a:srgbClr val="00E5FF"/>
                </a:solidFill>
                <a:latin typeface="JetBrains Mono"/>
              </a:rPr>
              <a:t>OPEN</a:t>
            </a:r>
            <a:r>
              <a:rPr sz="900">
                <a:solidFill>
                  <a:srgbClr val="F1F5F9"/>
                </a:solidFill>
                <a:latin typeface="JetBrains Mono"/>
              </a:rPr>
              <a:t> </a:t>
            </a:r>
            <a:r>
              <a:rPr sz="900">
                <a:solidFill>
                  <a:srgbClr val="F1F5F9"/>
                </a:solidFill>
                <a:latin typeface="JetBrains Mono"/>
              </a:rPr>
              <a:t>cur_cek_stok</a:t>
            </a:r>
            <a:r>
              <a:rPr sz="900">
                <a:solidFill>
                  <a:srgbClr val="F1F5F9"/>
                </a:solidFill>
                <a:latin typeface="JetBrains Mono"/>
              </a:rPr>
              <a:t>;</a:t>
            </a:r>
          </a:p>
          <a:p>
            <a:pPr>
              <a:spcAft>
                <a:spcPts val="150"/>
              </a:spcAft>
            </a:pPr>
            <a:r>
              <a:rPr sz="900">
                <a:solidFill>
                  <a:srgbClr val="F1F5F9"/>
                </a:solidFill>
                <a:latin typeface="JetBrains Mono"/>
              </a:rPr>
              <a:t>ulang_loop</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LOOP</a:t>
            </a:r>
          </a:p>
          <a:p>
            <a:pPr>
              <a:spcAft>
                <a:spcPts val="150"/>
              </a:spcAft>
            </a:pPr>
            <a:r>
              <a:rPr sz="900">
                <a:solidFill>
                  <a:srgbClr val="F1F5F9"/>
                </a:solidFill>
                <a:latin typeface="JetBrains Mono"/>
              </a:rPr>
              <a:t>    </a:t>
            </a:r>
            <a:r>
              <a:rPr sz="900" b="1">
                <a:solidFill>
                  <a:srgbClr val="00E5FF"/>
                </a:solidFill>
                <a:latin typeface="JetBrains Mono"/>
              </a:rPr>
              <a:t>FETCH</a:t>
            </a:r>
            <a:r>
              <a:rPr sz="900">
                <a:solidFill>
                  <a:srgbClr val="F1F5F9"/>
                </a:solidFill>
                <a:latin typeface="JetBrains Mono"/>
              </a:rPr>
              <a:t> </a:t>
            </a:r>
            <a:r>
              <a:rPr sz="900">
                <a:solidFill>
                  <a:srgbClr val="F1F5F9"/>
                </a:solidFill>
                <a:latin typeface="JetBrains Mono"/>
              </a:rPr>
              <a:t>cur_cek_stok</a:t>
            </a:r>
            <a:r>
              <a:rPr sz="900">
                <a:solidFill>
                  <a:srgbClr val="F1F5F9"/>
                </a:solidFill>
                <a:latin typeface="JetBrains Mono"/>
              </a:rPr>
              <a:t> </a:t>
            </a:r>
            <a:r>
              <a:rPr sz="900" b="1">
                <a:solidFill>
                  <a:srgbClr val="00E5FF"/>
                </a:solidFill>
                <a:latin typeface="JetBrains Mono"/>
              </a:rPr>
              <a:t>INTO</a:t>
            </a:r>
            <a:r>
              <a:rPr sz="900">
                <a:solidFill>
                  <a:srgbClr val="F1F5F9"/>
                </a:solidFill>
                <a:latin typeface="JetBrains Mono"/>
              </a:rPr>
              <a:t> </a:t>
            </a:r>
            <a:r>
              <a:rPr sz="900">
                <a:solidFill>
                  <a:srgbClr val="F59E0B"/>
                </a:solidFill>
                <a:latin typeface="JetBrains Mono"/>
              </a:rPr>
              <a:t>v_kode</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 </a:t>
            </a:r>
            <a:r>
              <a:rPr sz="900">
                <a:solidFill>
                  <a:srgbClr val="F59E0B"/>
                </a:solidFill>
                <a:latin typeface="JetBrains Mono"/>
              </a:rPr>
              <a:t>v_selesai</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 </a:t>
            </a:r>
            <a:r>
              <a:rPr sz="900" b="1">
                <a:solidFill>
                  <a:srgbClr val="00E5FF"/>
                </a:solidFill>
                <a:latin typeface="JetBrains Mono"/>
              </a:rPr>
              <a:t>THEN</a:t>
            </a:r>
            <a:r>
              <a:rPr sz="900">
                <a:solidFill>
                  <a:srgbClr val="F1F5F9"/>
                </a:solidFill>
                <a:latin typeface="JetBrains Mono"/>
              </a:rPr>
              <a:t> </a:t>
            </a:r>
            <a:r>
              <a:rPr sz="900" b="1">
                <a:solidFill>
                  <a:srgbClr val="00E5FF"/>
                </a:solidFill>
                <a:latin typeface="JetBrains Mono"/>
              </a:rPr>
              <a:t>LEAVE</a:t>
            </a:r>
            <a:r>
              <a:rPr sz="900">
                <a:solidFill>
                  <a:srgbClr val="F1F5F9"/>
                </a:solidFill>
                <a:latin typeface="JetBrains Mono"/>
              </a:rPr>
              <a:t> </a:t>
            </a:r>
            <a:r>
              <a:rPr sz="900">
                <a:solidFill>
                  <a:srgbClr val="F1F5F9"/>
                </a:solidFill>
                <a:latin typeface="JetBrains Mono"/>
              </a:rPr>
              <a:t>ulang_loop</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a:t>
            </a:r>
          </a:p>
          <a:p>
            <a:pPr>
              <a:spcAft>
                <a:spcPts val="150"/>
              </a:spcAft>
            </a:pPr>
            <a:r>
              <a:rPr sz="900">
                <a:solidFill>
                  <a:srgbClr val="F1F5F9"/>
                </a:solidFill>
                <a:latin typeface="JetBrains Mono"/>
              </a:rPr>
              <a:t>    </a:t>
            </a:r>
            <a:r>
              <a:rPr sz="900" i="1">
                <a:solidFill>
                  <a:srgbClr val="94A3B8"/>
                </a:solidFill>
                <a:latin typeface="JetBrains Mono"/>
              </a:rPr>
              <a:t>-- Eksekusi logika otomasi restock produk...</a:t>
            </a:r>
          </a:p>
          <a:p>
            <a:pPr>
              <a:spcAft>
                <a:spcPts val="150"/>
              </a:spcAft>
            </a:pP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LOOP</a:t>
            </a:r>
            <a:r>
              <a:rPr sz="900">
                <a:solidFill>
                  <a:srgbClr val="F1F5F9"/>
                </a:solidFill>
                <a:latin typeface="JetBrains Mono"/>
              </a:rPr>
              <a:t> </a:t>
            </a:r>
            <a:r>
              <a:rPr sz="900">
                <a:solidFill>
                  <a:srgbClr val="F1F5F9"/>
                </a:solidFill>
                <a:latin typeface="JetBrains Mono"/>
              </a:rPr>
              <a:t>ulang_loop</a:t>
            </a:r>
            <a:r>
              <a:rPr sz="900">
                <a:solidFill>
                  <a:srgbClr val="F1F5F9"/>
                </a:solidFill>
                <a:latin typeface="JetBrains Mono"/>
              </a:rPr>
              <a:t>;</a:t>
            </a:r>
          </a:p>
          <a:p>
            <a:pPr>
              <a:spcAft>
                <a:spcPts val="150"/>
              </a:spcAft>
            </a:pPr>
            <a:r>
              <a:rPr sz="900" b="1">
                <a:solidFill>
                  <a:srgbClr val="00E5FF"/>
                </a:solidFill>
                <a:latin typeface="JetBrains Mono"/>
              </a:rPr>
              <a:t>CLOSE</a:t>
            </a:r>
            <a:r>
              <a:rPr sz="900">
                <a:solidFill>
                  <a:srgbClr val="F1F5F9"/>
                </a:solidFill>
                <a:latin typeface="JetBrains Mono"/>
              </a:rPr>
              <a:t> </a:t>
            </a:r>
            <a:r>
              <a:rPr sz="900">
                <a:solidFill>
                  <a:srgbClr val="F1F5F9"/>
                </a:solidFill>
                <a:latin typeface="JetBrains Mono"/>
              </a:rPr>
              <a:t>cur_cek_stok</a:t>
            </a:r>
            <a:r>
              <a:rPr sz="900">
                <a:solidFill>
                  <a:srgbClr val="F1F5F9"/>
                </a:solidFill>
                <a:latin typeface="JetBrains Mono"/>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07 · PENANGANAN ERROR</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Mencegah Data Selisih</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Error Handling: Menjaga Transaksi Tetap Aman </a:t>
            </a:r>
            <a:r>
              <a:rPr sz="2100" b="1">
                <a:solidFill>
                  <a:srgbClr val="00E5FF"/>
                </a:solidFill>
                <a:latin typeface="Plus Jakarta Sans"/>
              </a:rPr>
              <a:t>SIGNAL &amp; HANDLER</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658368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28216"/>
            <a:ext cx="4572000" cy="256032"/>
          </a:xfrm>
          <a:prstGeom prst="rect">
            <a:avLst/>
          </a:prstGeom>
          <a:noFill/>
        </p:spPr>
        <p:txBody>
          <a:bodyPr wrap="none">
            <a:spAutoFit/>
          </a:bodyPr>
          <a:lstStyle/>
          <a:p>
            <a:pPr>
              <a:defRPr sz="900">
                <a:solidFill>
                  <a:srgbClr val="38BDF8"/>
                </a:solidFill>
                <a:latin typeface="JetBrains Mono"/>
              </a:defRPr>
            </a:pPr>
            <a:r>
              <a:t>terminal · sp_ValidasiTambahKasir.sql</a:t>
            </a:r>
          </a:p>
        </p:txBody>
      </p:sp>
      <p:sp>
        <p:nvSpPr>
          <p:cNvPr id="13" name="TextBox 12"/>
          <p:cNvSpPr txBox="1"/>
          <p:nvPr/>
        </p:nvSpPr>
        <p:spPr>
          <a:xfrm>
            <a:off x="1051560" y="1984248"/>
            <a:ext cx="6309360" cy="3840480"/>
          </a:xfrm>
          <a:prstGeom prst="rect">
            <a:avLst/>
          </a:prstGeom>
          <a:noFill/>
        </p:spPr>
        <p:txBody>
          <a:bodyPr wrap="square" tIns="18288" bIns="18288" lIns="45720" rIns="45720">
            <a:spAutoFit/>
          </a:bodyPr>
          <a:lstStyle/>
          <a:p>
            <a:pPr>
              <a:spcAft>
                <a:spcPts val="50"/>
              </a:spcAft>
            </a:pPr>
            <a:r>
              <a:rPr sz="800" b="1">
                <a:solidFill>
                  <a:srgbClr val="00E5FF"/>
                </a:solidFill>
                <a:latin typeface="JetBrains Mono"/>
              </a:rPr>
              <a:t>DELIMITER</a:t>
            </a:r>
            <a:r>
              <a:rPr sz="800">
                <a:solidFill>
                  <a:srgbClr val="F1F5F9"/>
                </a:solidFill>
                <a:latin typeface="JetBrains Mono"/>
              </a:rPr>
              <a:t> </a:t>
            </a:r>
            <a:r>
              <a:rPr sz="800">
                <a:solidFill>
                  <a:srgbClr val="F1F5F9"/>
                </a:solidFill>
                <a:latin typeface="JetBrains Mono"/>
              </a:rPr>
              <a:t>$$</a:t>
            </a:r>
          </a:p>
          <a:p>
            <a:pPr>
              <a:spcAft>
                <a:spcPts val="50"/>
              </a:spcAft>
            </a:pPr>
            <a:r>
              <a:rPr sz="800" b="1">
                <a:solidFill>
                  <a:srgbClr val="00E5FF"/>
                </a:solidFill>
                <a:latin typeface="JetBrains Mono"/>
              </a:rPr>
              <a:t>CREATE</a:t>
            </a:r>
            <a:r>
              <a:rPr sz="800">
                <a:solidFill>
                  <a:srgbClr val="F1F5F9"/>
                </a:solidFill>
                <a:latin typeface="JetBrains Mono"/>
              </a:rPr>
              <a:t> </a:t>
            </a:r>
            <a:r>
              <a:rPr sz="800" b="1">
                <a:solidFill>
                  <a:srgbClr val="00E5FF"/>
                </a:solidFill>
                <a:latin typeface="JetBrains Mono"/>
              </a:rPr>
              <a:t>PROCEDURE</a:t>
            </a:r>
            <a:r>
              <a:rPr sz="800">
                <a:solidFill>
                  <a:srgbClr val="F1F5F9"/>
                </a:solidFill>
                <a:latin typeface="JetBrains Mono"/>
              </a:rPr>
              <a:t> </a:t>
            </a:r>
            <a:r>
              <a:rPr sz="800">
                <a:solidFill>
                  <a:srgbClr val="F1F5F9"/>
                </a:solidFill>
                <a:latin typeface="JetBrains Mono"/>
              </a:rPr>
              <a:t>sp_ValidasiTambahKasir</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1F5F9"/>
                </a:solidFill>
                <a:latin typeface="JetBrains Mono"/>
              </a:rPr>
              <a:t>IN</a:t>
            </a:r>
            <a:r>
              <a:rPr sz="800">
                <a:solidFill>
                  <a:srgbClr val="F1F5F9"/>
                </a:solidFill>
                <a:latin typeface="JetBrains Mono"/>
              </a:rPr>
              <a:t> </a:t>
            </a:r>
            <a:r>
              <a:rPr sz="800">
                <a:solidFill>
                  <a:srgbClr val="F59E0B"/>
                </a:solidFill>
                <a:latin typeface="JetBrains Mono"/>
              </a:rPr>
              <a:t>p_Kode</a:t>
            </a:r>
            <a:r>
              <a:rPr sz="800">
                <a:solidFill>
                  <a:srgbClr val="F1F5F9"/>
                </a:solidFill>
                <a:latin typeface="JetBrains Mono"/>
              </a:rPr>
              <a:t> </a:t>
            </a:r>
            <a:r>
              <a:rPr sz="800" b="1">
                <a:solidFill>
                  <a:srgbClr val="C084FC"/>
                </a:solidFill>
                <a:latin typeface="JetBrains Mono"/>
              </a:rPr>
              <a:t>CHAR</a:t>
            </a:r>
            <a:r>
              <a:rPr sz="800">
                <a:solidFill>
                  <a:srgbClr val="F1F5F9"/>
                </a:solidFill>
                <a:latin typeface="JetBrains Mono"/>
              </a:rPr>
              <a:t>(</a:t>
            </a:r>
            <a:r>
              <a:rPr sz="800">
                <a:solidFill>
                  <a:srgbClr val="F87171"/>
                </a:solidFill>
                <a:latin typeface="JetBrains Mono"/>
              </a:rPr>
              <a:t>3</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IN</a:t>
            </a:r>
            <a:r>
              <a:rPr sz="800">
                <a:solidFill>
                  <a:srgbClr val="F1F5F9"/>
                </a:solidFill>
                <a:latin typeface="JetBrains Mono"/>
              </a:rPr>
              <a:t> </a:t>
            </a:r>
            <a:r>
              <a:rPr sz="800">
                <a:solidFill>
                  <a:srgbClr val="F59E0B"/>
                </a:solidFill>
                <a:latin typeface="JetBrains Mono"/>
              </a:rPr>
              <a:t>p_Nama</a:t>
            </a:r>
            <a:r>
              <a:rPr sz="800">
                <a:solidFill>
                  <a:srgbClr val="F1F5F9"/>
                </a:solidFill>
                <a:latin typeface="JetBrains Mono"/>
              </a:rPr>
              <a:t> </a:t>
            </a:r>
            <a:r>
              <a:rPr sz="800" b="1">
                <a:solidFill>
                  <a:srgbClr val="C084FC"/>
                </a:solidFill>
                <a:latin typeface="JetBrains Mono"/>
              </a:rPr>
              <a:t>VARCHAR</a:t>
            </a:r>
            <a:r>
              <a:rPr sz="800">
                <a:solidFill>
                  <a:srgbClr val="F1F5F9"/>
                </a:solidFill>
                <a:latin typeface="JetBrains Mono"/>
              </a:rPr>
              <a:t>(</a:t>
            </a:r>
            <a:r>
              <a:rPr sz="800">
                <a:solidFill>
                  <a:srgbClr val="F87171"/>
                </a:solidFill>
                <a:latin typeface="JetBrains Mono"/>
              </a:rPr>
              <a:t>30</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IN</a:t>
            </a:r>
            <a:r>
              <a:rPr sz="800">
                <a:solidFill>
                  <a:srgbClr val="F1F5F9"/>
                </a:solidFill>
                <a:latin typeface="JetBrains Mono"/>
              </a:rPr>
              <a:t> </a:t>
            </a:r>
            <a:r>
              <a:rPr sz="800">
                <a:solidFill>
                  <a:srgbClr val="F59E0B"/>
                </a:solidFill>
                <a:latin typeface="JetBrains Mono"/>
              </a:rPr>
              <a:t>p_Pass</a:t>
            </a:r>
            <a:r>
              <a:rPr sz="800">
                <a:solidFill>
                  <a:srgbClr val="F1F5F9"/>
                </a:solidFill>
                <a:latin typeface="JetBrains Mono"/>
              </a:rPr>
              <a:t> </a:t>
            </a:r>
            <a:r>
              <a:rPr sz="800" b="1">
                <a:solidFill>
                  <a:srgbClr val="C084FC"/>
                </a:solidFill>
                <a:latin typeface="JetBrains Mono"/>
              </a:rPr>
              <a:t>CHAR</a:t>
            </a:r>
            <a:r>
              <a:rPr sz="800">
                <a:solidFill>
                  <a:srgbClr val="F1F5F9"/>
                </a:solidFill>
                <a:latin typeface="JetBrains Mono"/>
              </a:rPr>
              <a:t>(</a:t>
            </a:r>
            <a:r>
              <a:rPr sz="800">
                <a:solidFill>
                  <a:srgbClr val="F87171"/>
                </a:solidFill>
                <a:latin typeface="JetBrains Mono"/>
              </a:rPr>
              <a:t>6</a:t>
            </a:r>
            <a:r>
              <a:rPr sz="800">
                <a:solidFill>
                  <a:srgbClr val="F1F5F9"/>
                </a:solidFill>
                <a:latin typeface="JetBrains Mono"/>
              </a:rPr>
              <a:t>)</a:t>
            </a:r>
          </a:p>
          <a:p>
            <a:pPr>
              <a:spcAft>
                <a:spcPts val="50"/>
              </a:spcAft>
            </a:pPr>
            <a:r>
              <a:rPr sz="800">
                <a:solidFill>
                  <a:srgbClr val="F1F5F9"/>
                </a:solidFill>
                <a:latin typeface="JetBrains Mono"/>
              </a:rPr>
              <a:t>)</a:t>
            </a:r>
          </a:p>
          <a:p>
            <a:pPr>
              <a:spcAft>
                <a:spcPts val="50"/>
              </a:spcAft>
            </a:pPr>
            <a:r>
              <a:rPr sz="800" b="1">
                <a:solidFill>
                  <a:srgbClr val="00E5FF"/>
                </a:solidFill>
                <a:latin typeface="JetBrains Mono"/>
              </a:rPr>
              <a:t>BEGIN</a:t>
            </a:r>
          </a:p>
          <a:p>
            <a:pPr>
              <a:spcAft>
                <a:spcPts val="50"/>
              </a:spcAft>
            </a:pPr>
            <a:r>
              <a:rPr sz="800">
                <a:solidFill>
                  <a:srgbClr val="F1F5F9"/>
                </a:solidFill>
                <a:latin typeface="JetBrains Mono"/>
              </a:rPr>
              <a:t>    </a:t>
            </a:r>
            <a:r>
              <a:rPr sz="800" i="1">
                <a:solidFill>
                  <a:srgbClr val="94A3B8"/>
                </a:solidFill>
                <a:latin typeface="JetBrains Mono"/>
              </a:rPr>
              <a:t>-- 1. Validasi Panjang Password Kasir Wajib Tepat 6 Karakter</a:t>
            </a:r>
          </a:p>
          <a:p>
            <a:pPr>
              <a:spcAft>
                <a:spcPts val="50"/>
              </a:spcAft>
            </a:pP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 </a:t>
            </a:r>
            <a:r>
              <a:rPr sz="800" b="1">
                <a:solidFill>
                  <a:srgbClr val="00E5FF"/>
                </a:solidFill>
                <a:latin typeface="JetBrains Mono"/>
              </a:rPr>
              <a:t>CHAR_LENGTH</a:t>
            </a:r>
            <a:r>
              <a:rPr sz="800">
                <a:solidFill>
                  <a:srgbClr val="F1F5F9"/>
                </a:solidFill>
                <a:latin typeface="JetBrains Mono"/>
              </a:rPr>
              <a:t>(</a:t>
            </a:r>
            <a:r>
              <a:rPr sz="800">
                <a:solidFill>
                  <a:srgbClr val="F59E0B"/>
                </a:solidFill>
                <a:latin typeface="JetBrains Mono"/>
              </a:rPr>
              <a:t>p_Pass</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&lt;&gt;</a:t>
            </a:r>
            <a:r>
              <a:rPr sz="800">
                <a:solidFill>
                  <a:srgbClr val="F1F5F9"/>
                </a:solidFill>
                <a:latin typeface="JetBrains Mono"/>
              </a:rPr>
              <a:t> </a:t>
            </a:r>
            <a:r>
              <a:rPr sz="800">
                <a:solidFill>
                  <a:srgbClr val="F87171"/>
                </a:solidFill>
                <a:latin typeface="JetBrains Mono"/>
              </a:rPr>
              <a:t>6</a:t>
            </a:r>
            <a:r>
              <a:rPr sz="800">
                <a:solidFill>
                  <a:srgbClr val="F1F5F9"/>
                </a:solidFill>
                <a:latin typeface="JetBrains Mono"/>
              </a:rPr>
              <a:t> </a:t>
            </a:r>
            <a:r>
              <a:rPr sz="800" b="1">
                <a:solidFill>
                  <a:srgbClr val="00E5FF"/>
                </a:solidFill>
                <a:latin typeface="JetBrains Mono"/>
              </a:rPr>
              <a:t>THEN</a:t>
            </a:r>
          </a:p>
          <a:p>
            <a:pPr>
              <a:spcAft>
                <a:spcPts val="50"/>
              </a:spcAft>
            </a:pPr>
            <a:r>
              <a:rPr sz="800">
                <a:solidFill>
                  <a:srgbClr val="F1F5F9"/>
                </a:solidFill>
                <a:latin typeface="JetBrains Mono"/>
              </a:rPr>
              <a:t>        </a:t>
            </a:r>
            <a:r>
              <a:rPr sz="800" b="1">
                <a:solidFill>
                  <a:srgbClr val="00E5FF"/>
                </a:solidFill>
                <a:latin typeface="JetBrains Mono"/>
              </a:rPr>
              <a:t>SIGNAL</a:t>
            </a:r>
            <a:r>
              <a:rPr sz="800">
                <a:solidFill>
                  <a:srgbClr val="F1F5F9"/>
                </a:solidFill>
                <a:latin typeface="JetBrains Mono"/>
              </a:rPr>
              <a:t> </a:t>
            </a:r>
            <a:r>
              <a:rPr sz="800" b="1">
                <a:solidFill>
                  <a:srgbClr val="00E5FF"/>
                </a:solidFill>
                <a:latin typeface="JetBrains Mono"/>
              </a:rPr>
              <a:t>SQLSTATE</a:t>
            </a:r>
            <a:r>
              <a:rPr sz="800">
                <a:solidFill>
                  <a:srgbClr val="F1F5F9"/>
                </a:solidFill>
                <a:latin typeface="JetBrains Mono"/>
              </a:rPr>
              <a:t> </a:t>
            </a:r>
            <a:r>
              <a:rPr sz="800">
                <a:solidFill>
                  <a:srgbClr val="34D399"/>
                </a:solidFill>
                <a:latin typeface="JetBrains Mono"/>
              </a:rPr>
              <a:t>'45000'</a:t>
            </a:r>
          </a:p>
          <a:p>
            <a:pPr>
              <a:spcAft>
                <a:spcPts val="50"/>
              </a:spcAft>
            </a:pP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1F5F9"/>
                </a:solidFill>
                <a:latin typeface="JetBrains Mono"/>
              </a:rPr>
              <a:t>MESSAGE_TEXT</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'Gagal: Kata sandi kasir wajib tepat 6 karakter.'</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a:t>
            </a:r>
          </a:p>
          <a:p>
            <a:pPr>
              <a:spcAft>
                <a:spcPts val="50"/>
              </a:spcAft>
            </a:pPr>
            <a:r>
              <a:t> </a:t>
            </a:r>
          </a:p>
          <a:p>
            <a:pPr>
              <a:spcAft>
                <a:spcPts val="50"/>
              </a:spcAft>
            </a:pPr>
            <a:r>
              <a:rPr sz="800">
                <a:solidFill>
                  <a:srgbClr val="F1F5F9"/>
                </a:solidFill>
                <a:latin typeface="JetBrains Mono"/>
              </a:rPr>
              <a:t>    </a:t>
            </a:r>
            <a:r>
              <a:rPr sz="800" i="1">
                <a:solidFill>
                  <a:srgbClr val="94A3B8"/>
                </a:solidFill>
                <a:latin typeface="JetBrains Mono"/>
              </a:rPr>
              <a:t>-- 2. Handler jika terjadi pelanggaran Duplicate Key Primary Key</a:t>
            </a:r>
          </a:p>
          <a:p>
            <a:pPr>
              <a:spcAft>
                <a:spcPts val="50"/>
              </a:spcAft>
            </a:pPr>
            <a:r>
              <a:rPr sz="800">
                <a:solidFill>
                  <a:srgbClr val="F1F5F9"/>
                </a:solidFill>
                <a:latin typeface="JetBrains Mono"/>
              </a:rPr>
              <a:t>    </a:t>
            </a: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DECLARE</a:t>
            </a:r>
            <a:r>
              <a:rPr sz="800">
                <a:solidFill>
                  <a:srgbClr val="F1F5F9"/>
                </a:solidFill>
                <a:latin typeface="JetBrains Mono"/>
              </a:rPr>
              <a:t> </a:t>
            </a:r>
            <a:r>
              <a:rPr sz="800" b="1">
                <a:solidFill>
                  <a:srgbClr val="00E5FF"/>
                </a:solidFill>
                <a:latin typeface="JetBrains Mono"/>
              </a:rPr>
              <a:t>EXIT</a:t>
            </a:r>
            <a:r>
              <a:rPr sz="800">
                <a:solidFill>
                  <a:srgbClr val="F1F5F9"/>
                </a:solidFill>
                <a:latin typeface="JetBrains Mono"/>
              </a:rPr>
              <a:t> </a:t>
            </a:r>
            <a:r>
              <a:rPr sz="800" b="1">
                <a:solidFill>
                  <a:srgbClr val="00E5FF"/>
                </a:solidFill>
                <a:latin typeface="JetBrains Mono"/>
              </a:rPr>
              <a:t>HANDLER</a:t>
            </a:r>
            <a:r>
              <a:rPr sz="800">
                <a:solidFill>
                  <a:srgbClr val="F1F5F9"/>
                </a:solidFill>
                <a:latin typeface="JetBrains Mono"/>
              </a:rPr>
              <a:t> </a:t>
            </a:r>
            <a:r>
              <a:rPr sz="800" b="1">
                <a:solidFill>
                  <a:srgbClr val="00E5FF"/>
                </a:solidFill>
                <a:latin typeface="JetBrains Mono"/>
              </a:rPr>
              <a:t>FOR</a:t>
            </a:r>
            <a:r>
              <a:rPr sz="800">
                <a:solidFill>
                  <a:srgbClr val="F1F5F9"/>
                </a:solidFill>
                <a:latin typeface="JetBrains Mono"/>
              </a:rPr>
              <a:t> </a:t>
            </a:r>
            <a:r>
              <a:rPr sz="800">
                <a:solidFill>
                  <a:srgbClr val="F87171"/>
                </a:solidFill>
                <a:latin typeface="JetBrains Mono"/>
              </a:rPr>
              <a:t>1062</a:t>
            </a:r>
          </a:p>
          <a:p>
            <a:pPr>
              <a:spcAft>
                <a:spcPts val="50"/>
              </a:spcAft>
            </a:pPr>
            <a:r>
              <a:rPr sz="800">
                <a:solidFill>
                  <a:srgbClr val="F1F5F9"/>
                </a:solidFill>
                <a:latin typeface="JetBrains Mono"/>
              </a:rPr>
              <a:t>        </a:t>
            </a: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SIGNAL</a:t>
            </a:r>
            <a:r>
              <a:rPr sz="800">
                <a:solidFill>
                  <a:srgbClr val="F1F5F9"/>
                </a:solidFill>
                <a:latin typeface="JetBrains Mono"/>
              </a:rPr>
              <a:t> </a:t>
            </a:r>
            <a:r>
              <a:rPr sz="800" b="1">
                <a:solidFill>
                  <a:srgbClr val="00E5FF"/>
                </a:solidFill>
                <a:latin typeface="JetBrains Mono"/>
              </a:rPr>
              <a:t>SQLSTATE</a:t>
            </a:r>
            <a:r>
              <a:rPr sz="800">
                <a:solidFill>
                  <a:srgbClr val="F1F5F9"/>
                </a:solidFill>
                <a:latin typeface="JetBrains Mono"/>
              </a:rPr>
              <a:t> </a:t>
            </a:r>
            <a:r>
              <a:rPr sz="800">
                <a:solidFill>
                  <a:srgbClr val="34D399"/>
                </a:solidFill>
                <a:latin typeface="JetBrains Mono"/>
              </a:rPr>
              <a:t>'45000'</a:t>
            </a:r>
          </a:p>
          <a:p>
            <a:pPr>
              <a:spcAft>
                <a:spcPts val="50"/>
              </a:spcAft>
            </a:pP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1F5F9"/>
                </a:solidFill>
                <a:latin typeface="JetBrains Mono"/>
              </a:rPr>
              <a:t>MESSAGE_TEXT</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'Gagal: Kode kasir tersebut sudah terdaftar.'</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INSERT</a:t>
            </a:r>
            <a:r>
              <a:rPr sz="800">
                <a:solidFill>
                  <a:srgbClr val="F1F5F9"/>
                </a:solidFill>
                <a:latin typeface="JetBrains Mono"/>
              </a:rPr>
              <a:t> </a:t>
            </a:r>
            <a:r>
              <a:rPr sz="800" b="1">
                <a:solidFill>
                  <a:srgbClr val="00E5FF"/>
                </a:solidFill>
                <a:latin typeface="JetBrains Mono"/>
              </a:rPr>
              <a:t>INTO</a:t>
            </a:r>
            <a:r>
              <a:rPr sz="800">
                <a:solidFill>
                  <a:srgbClr val="F1F5F9"/>
                </a:solidFill>
                <a:latin typeface="JetBrains Mono"/>
              </a:rPr>
              <a:t> </a:t>
            </a:r>
            <a:r>
              <a:rPr sz="800">
                <a:solidFill>
                  <a:srgbClr val="F1F5F9"/>
                </a:solidFill>
                <a:latin typeface="JetBrains Mono"/>
              </a:rPr>
              <a:t>kasir</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KodeKasir</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NamaKasir</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Pass</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VALUES</a:t>
            </a:r>
            <a:r>
              <a:rPr sz="800">
                <a:solidFill>
                  <a:srgbClr val="F1F5F9"/>
                </a:solidFill>
                <a:latin typeface="JetBrains Mono"/>
              </a:rPr>
              <a:t> </a:t>
            </a:r>
            <a:r>
              <a:rPr sz="800">
                <a:solidFill>
                  <a:srgbClr val="F1F5F9"/>
                </a:solidFill>
                <a:latin typeface="JetBrains Mono"/>
              </a:rPr>
              <a:t>(</a:t>
            </a:r>
            <a:r>
              <a:rPr sz="800">
                <a:solidFill>
                  <a:srgbClr val="F59E0B"/>
                </a:solidFill>
                <a:latin typeface="JetBrains Mono"/>
              </a:rPr>
              <a:t>p_Kode</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p_Nama</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p_Pass</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a:t>
            </a:r>
          </a:p>
          <a:p>
            <a:pPr>
              <a:spcAft>
                <a:spcPts val="50"/>
              </a:spcAft>
            </a:pPr>
            <a:r>
              <a:rPr sz="800" b="1">
                <a:solidFill>
                  <a:srgbClr val="00E5FF"/>
                </a:solidFill>
                <a:latin typeface="JetBrains Mono"/>
              </a:rPr>
              <a:t>END</a:t>
            </a:r>
            <a:r>
              <a:rPr sz="800">
                <a:solidFill>
                  <a:srgbClr val="F1F5F9"/>
                </a:solidFill>
                <a:latin typeface="JetBrains Mono"/>
              </a:rPr>
              <a:t>$$</a:t>
            </a:r>
          </a:p>
          <a:p>
            <a:pPr>
              <a:spcAft>
                <a:spcPts val="50"/>
              </a:spcAft>
            </a:pPr>
            <a:r>
              <a:rPr sz="800" b="1">
                <a:solidFill>
                  <a:srgbClr val="00E5FF"/>
                </a:solidFill>
                <a:latin typeface="JetBrains Mono"/>
              </a:rPr>
              <a:t>DELIMITER</a:t>
            </a:r>
            <a:r>
              <a:rPr sz="800">
                <a:solidFill>
                  <a:srgbClr val="F1F5F9"/>
                </a:solidFill>
                <a:latin typeface="JetBrains Mono"/>
              </a:rPr>
              <a:t> </a:t>
            </a:r>
            <a:r>
              <a:rPr sz="800">
                <a:solidFill>
                  <a:srgbClr val="F1F5F9"/>
                </a:solidFill>
                <a:latin typeface="JetBrains Mono"/>
              </a:rPr>
              <a:t>;</a:t>
            </a:r>
          </a:p>
        </p:txBody>
      </p:sp>
      <p:sp>
        <p:nvSpPr>
          <p:cNvPr id="14" name="Rounded Rectangle 13"/>
          <p:cNvSpPr/>
          <p:nvPr/>
        </p:nvSpPr>
        <p:spPr>
          <a:xfrm>
            <a:off x="7680960" y="169164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45552" y="1819656"/>
            <a:ext cx="3236976" cy="1755648"/>
          </a:xfrm>
          <a:prstGeom prst="rect">
            <a:avLst/>
          </a:prstGeom>
          <a:noFill/>
        </p:spPr>
        <p:txBody>
          <a:bodyPr wrap="square">
            <a:spAutoFit/>
          </a:bodyPr>
          <a:lstStyle/>
          <a:p>
            <a:r>
              <a:rPr sz="1200" b="1">
                <a:solidFill>
                  <a:srgbClr val="FFFFFF"/>
                </a:solidFill>
                <a:latin typeface="Plus Jakarta Sans"/>
              </a:rPr>
              <a:t>SIGNAL SQLSTATE '45000'</a:t>
            </a:r>
          </a:p>
          <a:p>
            <a:pPr>
              <a:spcBef>
                <a:spcPts val="600"/>
              </a:spcBef>
            </a:pPr>
            <a:r>
              <a:rPr sz="950">
                <a:solidFill>
                  <a:srgbClr val="CBD5E1"/>
                </a:solidFill>
                <a:latin typeface="Inter"/>
              </a:rPr>
              <a:t>SQLSTATE '45000' adalah kode standar ANSI SQL untuk mendefinisikan *unhandled user-defined exception*. Pesan galat kustom dikirim langsung ke aplikasi kasir.</a:t>
            </a:r>
          </a:p>
        </p:txBody>
      </p:sp>
      <p:sp>
        <p:nvSpPr>
          <p:cNvPr id="16" name="Rounded Rectangle 15"/>
          <p:cNvSpPr/>
          <p:nvPr/>
        </p:nvSpPr>
        <p:spPr>
          <a:xfrm>
            <a:off x="7680960" y="388620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45552" y="4014216"/>
            <a:ext cx="3236976" cy="1755648"/>
          </a:xfrm>
          <a:prstGeom prst="rect">
            <a:avLst/>
          </a:prstGeom>
          <a:noFill/>
        </p:spPr>
        <p:txBody>
          <a:bodyPr wrap="square">
            <a:spAutoFit/>
          </a:bodyPr>
          <a:lstStyle/>
          <a:p>
            <a:r>
              <a:rPr sz="1200" b="1">
                <a:solidFill>
                  <a:srgbClr val="FFFFFF"/>
                </a:solidFill>
                <a:latin typeface="Plus Jakarta Sans"/>
              </a:rPr>
              <a:t>CONTINUE vs EXIT HANDLER</a:t>
            </a:r>
          </a:p>
          <a:p>
            <a:pPr>
              <a:spcBef>
                <a:spcPts val="600"/>
              </a:spcBef>
            </a:pPr>
            <a:r>
              <a:rPr sz="950">
                <a:solidFill>
                  <a:srgbClr val="CBD5E1"/>
                </a:solidFill>
                <a:latin typeface="Inter"/>
              </a:rPr>
              <a:t>• EXIT: Menyetop eksekusi blok kode dan langsung keluar dari compound statement.
• CONTINUE: Menjalankan aksi handler dan tetap melanjutkan baris instruksi berikutnya.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08 · BASIS DATA 3NF</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Normalisasi 3NF</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Skema Fisik 5 Tabel Basis Data Minimarket </a:t>
            </a:r>
            <a:r>
              <a:rPr sz="2100" b="1">
                <a:solidFill>
                  <a:srgbClr val="00E5FF"/>
                </a:solidFill>
                <a:latin typeface="Plus Jakarta Sans"/>
              </a:rPr>
              <a:t>Studi Kasus Kelompok 7</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819656"/>
            <a:ext cx="1627632" cy="1938528"/>
          </a:xfrm>
          <a:prstGeom prst="rect">
            <a:avLst/>
          </a:prstGeom>
          <a:noFill/>
        </p:spPr>
        <p:txBody>
          <a:bodyPr wrap="square">
            <a:spAutoFit/>
          </a:bodyPr>
          <a:lstStyle/>
          <a:p>
            <a:r>
              <a:rPr sz="1050" b="1">
                <a:solidFill>
                  <a:srgbClr val="00E5FF"/>
                </a:solidFill>
                <a:latin typeface="JetBrains Mono"/>
              </a:rPr>
              <a:t>[01] </a:t>
            </a:r>
            <a:r>
              <a:rPr sz="1200" b="1">
                <a:solidFill>
                  <a:srgbClr val="FFFFFF"/>
                </a:solidFill>
                <a:latin typeface="Plus Jakarta Sans"/>
              </a:rPr>
              <a:t>KASIR (Parent)</a:t>
            </a:r>
          </a:p>
          <a:p>
            <a:pPr>
              <a:spcBef>
                <a:spcPts val="600"/>
              </a:spcBef>
            </a:pPr>
            <a:r>
              <a:rPr sz="950">
                <a:solidFill>
                  <a:srgbClr val="CBD5E1"/>
                </a:solidFill>
                <a:latin typeface="Inter"/>
              </a:rPr>
              <a:t>• KodeKasir: CHAR(3) [PK]
• NamaKasir: VARCHAR(30)
• Pass: CHAR(6) [CHK 6 char]</a:t>
            </a:r>
          </a:p>
        </p:txBody>
      </p:sp>
      <p:sp>
        <p:nvSpPr>
          <p:cNvPr id="10" name="Rounded Rectangle 9"/>
          <p:cNvSpPr/>
          <p:nvPr/>
        </p:nvSpPr>
        <p:spPr>
          <a:xfrm>
            <a:off x="3017520"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2112" y="1819656"/>
            <a:ext cx="1627632" cy="1938528"/>
          </a:xfrm>
          <a:prstGeom prst="rect">
            <a:avLst/>
          </a:prstGeom>
          <a:noFill/>
        </p:spPr>
        <p:txBody>
          <a:bodyPr wrap="square">
            <a:spAutoFit/>
          </a:bodyPr>
          <a:lstStyle/>
          <a:p>
            <a:r>
              <a:rPr sz="1050" b="1">
                <a:solidFill>
                  <a:srgbClr val="00E5FF"/>
                </a:solidFill>
                <a:latin typeface="JetBrains Mono"/>
              </a:rPr>
              <a:t>[02] </a:t>
            </a:r>
            <a:r>
              <a:rPr sz="1200" b="1">
                <a:solidFill>
                  <a:srgbClr val="FFFFFF"/>
                </a:solidFill>
                <a:latin typeface="Plus Jakarta Sans"/>
              </a:rPr>
              <a:t>CUSTOMER (Parent)</a:t>
            </a:r>
          </a:p>
          <a:p>
            <a:pPr>
              <a:spcBef>
                <a:spcPts val="600"/>
              </a:spcBef>
            </a:pPr>
            <a:r>
              <a:rPr sz="950">
                <a:solidFill>
                  <a:srgbClr val="CBD5E1"/>
                </a:solidFill>
                <a:latin typeface="Inter"/>
              </a:rPr>
              <a:t>• KodeCus: CHAR(5) [PK]
• NamaCus: VARCHAR(50)
• PointTerkumpul: INT</a:t>
            </a:r>
          </a:p>
        </p:txBody>
      </p:sp>
      <p:sp>
        <p:nvSpPr>
          <p:cNvPr id="12" name="Rounded Rectangle 11"/>
          <p:cNvSpPr/>
          <p:nvPr/>
        </p:nvSpPr>
        <p:spPr>
          <a:xfrm>
            <a:off x="5120640"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85232" y="1819656"/>
            <a:ext cx="1627632" cy="1938528"/>
          </a:xfrm>
          <a:prstGeom prst="rect">
            <a:avLst/>
          </a:prstGeom>
          <a:noFill/>
        </p:spPr>
        <p:txBody>
          <a:bodyPr wrap="square">
            <a:spAutoFit/>
          </a:bodyPr>
          <a:lstStyle/>
          <a:p>
            <a:r>
              <a:rPr sz="1050" b="1">
                <a:solidFill>
                  <a:srgbClr val="00E5FF"/>
                </a:solidFill>
                <a:latin typeface="JetBrains Mono"/>
              </a:rPr>
              <a:t>[03] </a:t>
            </a:r>
            <a:r>
              <a:rPr sz="1200" b="1">
                <a:solidFill>
                  <a:srgbClr val="FFFFFF"/>
                </a:solidFill>
                <a:latin typeface="Plus Jakarta Sans"/>
              </a:rPr>
              <a:t>PRODUK (Parent)</a:t>
            </a:r>
          </a:p>
          <a:p>
            <a:pPr>
              <a:spcBef>
                <a:spcPts val="600"/>
              </a:spcBef>
            </a:pPr>
            <a:r>
              <a:rPr sz="950">
                <a:solidFill>
                  <a:srgbClr val="CBD5E1"/>
                </a:solidFill>
                <a:latin typeface="Inter"/>
              </a:rPr>
              <a:t>• KodeProduk: CHAR(4) [PK]
• NamaProduk: VARCHAR(50)
• Harga: INT, stok: INT</a:t>
            </a:r>
          </a:p>
        </p:txBody>
      </p:sp>
      <p:sp>
        <p:nvSpPr>
          <p:cNvPr id="14" name="Rounded Rectangle 13"/>
          <p:cNvSpPr/>
          <p:nvPr/>
        </p:nvSpPr>
        <p:spPr>
          <a:xfrm>
            <a:off x="7223759"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88351" y="1819656"/>
            <a:ext cx="1627632" cy="1938528"/>
          </a:xfrm>
          <a:prstGeom prst="rect">
            <a:avLst/>
          </a:prstGeom>
          <a:noFill/>
        </p:spPr>
        <p:txBody>
          <a:bodyPr wrap="square">
            <a:spAutoFit/>
          </a:bodyPr>
          <a:lstStyle/>
          <a:p>
            <a:r>
              <a:rPr sz="1050" b="1">
                <a:solidFill>
                  <a:srgbClr val="00E5FF"/>
                </a:solidFill>
                <a:latin typeface="JetBrains Mono"/>
              </a:rPr>
              <a:t>[04] </a:t>
            </a:r>
            <a:r>
              <a:rPr sz="1200" b="1">
                <a:solidFill>
                  <a:srgbClr val="FFFFFF"/>
                </a:solidFill>
                <a:latin typeface="Plus Jakarta Sans"/>
              </a:rPr>
              <a:t>NOTA (Header)</a:t>
            </a:r>
          </a:p>
          <a:p>
            <a:pPr>
              <a:spcBef>
                <a:spcPts val="600"/>
              </a:spcBef>
            </a:pPr>
            <a:r>
              <a:rPr sz="950">
                <a:solidFill>
                  <a:srgbClr val="CBD5E1"/>
                </a:solidFill>
                <a:latin typeface="Inter"/>
              </a:rPr>
              <a:t>• Nonota: CHAR(10) [PK]
• KodeKasir: FK kasir
• KodeCus: FK customer</a:t>
            </a:r>
          </a:p>
        </p:txBody>
      </p:sp>
      <p:sp>
        <p:nvSpPr>
          <p:cNvPr id="16" name="Rounded Rectangle 15"/>
          <p:cNvSpPr/>
          <p:nvPr/>
        </p:nvSpPr>
        <p:spPr>
          <a:xfrm>
            <a:off x="9326880"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91472" y="1819656"/>
            <a:ext cx="1627632" cy="1938528"/>
          </a:xfrm>
          <a:prstGeom prst="rect">
            <a:avLst/>
          </a:prstGeom>
          <a:noFill/>
        </p:spPr>
        <p:txBody>
          <a:bodyPr wrap="square">
            <a:spAutoFit/>
          </a:bodyPr>
          <a:lstStyle/>
          <a:p>
            <a:r>
              <a:rPr sz="1050" b="1">
                <a:solidFill>
                  <a:srgbClr val="00E5FF"/>
                </a:solidFill>
                <a:latin typeface="JetBrains Mono"/>
              </a:rPr>
              <a:t>[05] </a:t>
            </a:r>
            <a:r>
              <a:rPr sz="1200" b="1">
                <a:solidFill>
                  <a:srgbClr val="FFFFFF"/>
                </a:solidFill>
                <a:latin typeface="Plus Jakarta Sans"/>
              </a:rPr>
              <a:t>ITEMNOTA (Bridge N:M)</a:t>
            </a:r>
          </a:p>
          <a:p>
            <a:pPr>
              <a:spcBef>
                <a:spcPts val="600"/>
              </a:spcBef>
            </a:pPr>
            <a:r>
              <a:rPr sz="950">
                <a:solidFill>
                  <a:srgbClr val="CBD5E1"/>
                </a:solidFill>
                <a:latin typeface="Inter"/>
              </a:rPr>
              <a:t>• Nonota: CHAR(10) [PK, FK]
• KodeProduk: CHAR(4) [PK, FK]
• banyak: INT, hargajual: INT</a:t>
            </a:r>
          </a:p>
        </p:txBody>
      </p:sp>
      <p:sp>
        <p:nvSpPr>
          <p:cNvPr id="18" name="Rounded Rectangle 17"/>
          <p:cNvSpPr/>
          <p:nvPr/>
        </p:nvSpPr>
        <p:spPr>
          <a:xfrm>
            <a:off x="914400" y="4069080"/>
            <a:ext cx="10332720" cy="182880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417880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216151" y="41788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80744" y="417880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0" y="4105656"/>
            <a:ext cx="8321040" cy="256032"/>
          </a:xfrm>
          <a:prstGeom prst="rect">
            <a:avLst/>
          </a:prstGeom>
          <a:noFill/>
        </p:spPr>
        <p:txBody>
          <a:bodyPr wrap="none">
            <a:spAutoFit/>
          </a:bodyPr>
          <a:lstStyle/>
          <a:p>
            <a:pPr>
              <a:defRPr sz="900">
                <a:solidFill>
                  <a:srgbClr val="38BDF8"/>
                </a:solidFill>
                <a:latin typeface="JetBrains Mono"/>
              </a:defRPr>
            </a:pPr>
            <a:r>
              <a:t>terminal · ITEMNOTA Bridge Table DDL</a:t>
            </a:r>
          </a:p>
        </p:txBody>
      </p:sp>
      <p:sp>
        <p:nvSpPr>
          <p:cNvPr id="23" name="TextBox 22"/>
          <p:cNvSpPr txBox="1"/>
          <p:nvPr/>
        </p:nvSpPr>
        <p:spPr>
          <a:xfrm>
            <a:off x="1051560" y="4361688"/>
            <a:ext cx="10058400" cy="1463040"/>
          </a:xfrm>
          <a:prstGeom prst="rect">
            <a:avLst/>
          </a:prstGeom>
          <a:noFill/>
        </p:spPr>
        <p:txBody>
          <a:bodyPr wrap="square" tIns="18288" bIns="18288" lIns="45720" rIns="45720">
            <a:spAutoFit/>
          </a:bodyPr>
          <a:lstStyle/>
          <a:p>
            <a:pPr>
              <a:spcAft>
                <a:spcPts val="150"/>
              </a:spcAft>
            </a:pPr>
            <a:r>
              <a:rPr sz="900" i="1">
                <a:solidFill>
                  <a:srgbClr val="94A3B8"/>
                </a:solidFill>
                <a:latin typeface="JetBrains Mono"/>
              </a:rPr>
              <a:t>-- Relasi Many-to-Many antara NOTA dan PRODUK dipecah pada ITEMNOTA:</a:t>
            </a:r>
          </a:p>
          <a:p>
            <a:pPr>
              <a:spcAft>
                <a:spcPts val="150"/>
              </a:spcAft>
            </a:pPr>
            <a:r>
              <a:rPr sz="900" b="1">
                <a:solidFill>
                  <a:srgbClr val="00E5FF"/>
                </a:solidFill>
                <a:latin typeface="JetBrains Mono"/>
              </a:rPr>
              <a:t>CREATE</a:t>
            </a:r>
            <a:r>
              <a:rPr sz="900">
                <a:solidFill>
                  <a:srgbClr val="F1F5F9"/>
                </a:solidFill>
                <a:latin typeface="JetBrains Mono"/>
              </a:rPr>
              <a:t> </a:t>
            </a:r>
            <a:r>
              <a:rPr sz="900">
                <a:solidFill>
                  <a:srgbClr val="F1F5F9"/>
                </a:solidFill>
                <a:latin typeface="JetBrains Mono"/>
              </a:rPr>
              <a:t>TABLE</a:t>
            </a:r>
            <a:r>
              <a:rPr sz="900">
                <a:solidFill>
                  <a:srgbClr val="F1F5F9"/>
                </a:solidFill>
                <a:latin typeface="JetBrains Mono"/>
              </a:rPr>
              <a:t> </a:t>
            </a:r>
            <a:r>
              <a:rPr sz="900">
                <a:solidFill>
                  <a:srgbClr val="F1F5F9"/>
                </a:solidFill>
                <a:latin typeface="JetBrains Mono"/>
              </a:rPr>
              <a:t>itemnota</a:t>
            </a:r>
            <a:r>
              <a:rPr sz="900">
                <a:solidFill>
                  <a:srgbClr val="F1F5F9"/>
                </a:solidFill>
                <a:latin typeface="JetBrains Mono"/>
              </a:rPr>
              <a:t> </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Nonota</a:t>
            </a:r>
            <a:r>
              <a:rPr sz="900">
                <a:solidFill>
                  <a:srgbClr val="F1F5F9"/>
                </a:solidFill>
                <a:latin typeface="JetBrains Mono"/>
              </a:rPr>
              <a:t> </a:t>
            </a:r>
            <a:r>
              <a:rPr sz="900" b="1">
                <a:solidFill>
                  <a:srgbClr val="C084FC"/>
                </a:solidFill>
                <a:latin typeface="JetBrains Mono"/>
              </a:rPr>
              <a:t>CHAR</a:t>
            </a:r>
            <a:r>
              <a:rPr sz="900">
                <a:solidFill>
                  <a:srgbClr val="F1F5F9"/>
                </a:solidFill>
                <a:latin typeface="JetBrains Mono"/>
              </a:rPr>
              <a:t>(</a:t>
            </a:r>
            <a:r>
              <a:rPr sz="900">
                <a:solidFill>
                  <a:srgbClr val="F87171"/>
                </a:solidFill>
                <a:latin typeface="JetBrains Mono"/>
              </a:rPr>
              <a:t>10</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NULL</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KodeProduk</a:t>
            </a:r>
            <a:r>
              <a:rPr sz="900">
                <a:solidFill>
                  <a:srgbClr val="F1F5F9"/>
                </a:solidFill>
                <a:latin typeface="JetBrains Mono"/>
              </a:rPr>
              <a:t> </a:t>
            </a:r>
            <a:r>
              <a:rPr sz="900" b="1">
                <a:solidFill>
                  <a:srgbClr val="C084FC"/>
                </a:solidFill>
                <a:latin typeface="JetBrains Mono"/>
              </a:rPr>
              <a:t>CHAR</a:t>
            </a:r>
            <a:r>
              <a:rPr sz="900">
                <a:solidFill>
                  <a:srgbClr val="F1F5F9"/>
                </a:solidFill>
                <a:latin typeface="JetBrains Mono"/>
              </a:rPr>
              <a:t>(</a:t>
            </a:r>
            <a:r>
              <a:rPr sz="900">
                <a:solidFill>
                  <a:srgbClr val="F87171"/>
                </a:solidFill>
                <a:latin typeface="JetBrains Mono"/>
              </a:rPr>
              <a:t>4</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NULL</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banyak</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NULL</a:t>
            </a:r>
            <a:r>
              <a:rPr sz="900">
                <a:solidFill>
                  <a:srgbClr val="F1F5F9"/>
                </a:solidFill>
                <a:latin typeface="JetBrains Mono"/>
              </a:rPr>
              <a:t> </a:t>
            </a:r>
            <a:r>
              <a:rPr sz="900" b="1">
                <a:solidFill>
                  <a:srgbClr val="00E5FF"/>
                </a:solidFill>
                <a:latin typeface="JetBrains Mono"/>
              </a:rPr>
              <a:t>DEFAULT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hargajual</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NULL</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PRIMARY</a:t>
            </a:r>
            <a:r>
              <a:rPr sz="900">
                <a:solidFill>
                  <a:srgbClr val="F1F5F9"/>
                </a:solidFill>
                <a:latin typeface="JetBrains Mono"/>
              </a:rPr>
              <a:t> </a:t>
            </a:r>
            <a:r>
              <a:rPr sz="900" b="1">
                <a:solidFill>
                  <a:srgbClr val="00E5FF"/>
                </a:solidFill>
                <a:latin typeface="JetBrains Mono"/>
              </a:rPr>
              <a:t>KEY</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Nonota</a:t>
            </a:r>
            <a:r>
              <a:rPr sz="900">
                <a:solidFill>
                  <a:srgbClr val="F1F5F9"/>
                </a:solidFill>
                <a:latin typeface="JetBrains Mono"/>
              </a:rPr>
              <a:t>,</a:t>
            </a:r>
            <a:r>
              <a:rPr sz="900">
                <a:solidFill>
                  <a:srgbClr val="F1F5F9"/>
                </a:solidFill>
                <a:latin typeface="JetBrains Mono"/>
              </a:rPr>
              <a:t> </a:t>
            </a:r>
            <a:r>
              <a:rPr sz="900">
                <a:solidFill>
                  <a:srgbClr val="F1F5F9"/>
                </a:solidFill>
                <a:latin typeface="JetBrains Mono"/>
              </a:rPr>
              <a:t>KodeProduk</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CONSTRAINT</a:t>
            </a:r>
            <a:r>
              <a:rPr sz="900">
                <a:solidFill>
                  <a:srgbClr val="F1F5F9"/>
                </a:solidFill>
                <a:latin typeface="JetBrains Mono"/>
              </a:rPr>
              <a:t> </a:t>
            </a:r>
            <a:r>
              <a:rPr sz="900">
                <a:solidFill>
                  <a:srgbClr val="F1F5F9"/>
                </a:solidFill>
                <a:latin typeface="JetBrains Mono"/>
              </a:rPr>
              <a:t>fk_itemnota_nota</a:t>
            </a:r>
            <a:r>
              <a:rPr sz="900">
                <a:solidFill>
                  <a:srgbClr val="F1F5F9"/>
                </a:solidFill>
                <a:latin typeface="JetBrains Mono"/>
              </a:rPr>
              <a:t> </a:t>
            </a:r>
            <a:r>
              <a:rPr sz="900" b="1">
                <a:solidFill>
                  <a:srgbClr val="00E5FF"/>
                </a:solidFill>
                <a:latin typeface="JetBrains Mono"/>
              </a:rPr>
              <a:t>FOREIGN</a:t>
            </a:r>
            <a:r>
              <a:rPr sz="900">
                <a:solidFill>
                  <a:srgbClr val="F1F5F9"/>
                </a:solidFill>
                <a:latin typeface="JetBrains Mono"/>
              </a:rPr>
              <a:t> </a:t>
            </a:r>
            <a:r>
              <a:rPr sz="900" b="1">
                <a:solidFill>
                  <a:srgbClr val="00E5FF"/>
                </a:solidFill>
                <a:latin typeface="JetBrains Mono"/>
              </a:rPr>
              <a:t>KEY</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Nonota</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REFERENCES</a:t>
            </a:r>
            <a:r>
              <a:rPr sz="900">
                <a:solidFill>
                  <a:srgbClr val="F1F5F9"/>
                </a:solidFill>
                <a:latin typeface="JetBrains Mono"/>
              </a:rPr>
              <a:t> </a:t>
            </a:r>
            <a:r>
              <a:rPr sz="900">
                <a:solidFill>
                  <a:srgbClr val="F1F5F9"/>
                </a:solidFill>
                <a:latin typeface="JetBrains Mono"/>
              </a:rPr>
              <a:t>nota</a:t>
            </a:r>
            <a:r>
              <a:rPr sz="900">
                <a:solidFill>
                  <a:srgbClr val="F1F5F9"/>
                </a:solidFill>
                <a:latin typeface="JetBrains Mono"/>
              </a:rPr>
              <a:t>(</a:t>
            </a:r>
            <a:r>
              <a:rPr sz="900">
                <a:solidFill>
                  <a:srgbClr val="F1F5F9"/>
                </a:solidFill>
                <a:latin typeface="JetBrains Mono"/>
              </a:rPr>
              <a:t>Nonota</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ON</a:t>
            </a:r>
            <a:r>
              <a:rPr sz="900">
                <a:solidFill>
                  <a:srgbClr val="F1F5F9"/>
                </a:solidFill>
                <a:latin typeface="JetBrains Mono"/>
              </a:rPr>
              <a:t> </a:t>
            </a:r>
            <a:r>
              <a:rPr sz="900" b="1">
                <a:solidFill>
                  <a:srgbClr val="00E5FF"/>
                </a:solidFill>
                <a:latin typeface="JetBrains Mono"/>
              </a:rPr>
              <a:t>DELETE</a:t>
            </a:r>
            <a:r>
              <a:rPr sz="900">
                <a:solidFill>
                  <a:srgbClr val="F1F5F9"/>
                </a:solidFill>
                <a:latin typeface="JetBrains Mono"/>
              </a:rPr>
              <a:t> </a:t>
            </a:r>
            <a:r>
              <a:rPr sz="900" b="1">
                <a:solidFill>
                  <a:srgbClr val="00E5FF"/>
                </a:solidFill>
                <a:latin typeface="JetBrains Mono"/>
              </a:rPr>
              <a:t>CASCADE</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CONSTRAINT</a:t>
            </a:r>
            <a:r>
              <a:rPr sz="900">
                <a:solidFill>
                  <a:srgbClr val="F1F5F9"/>
                </a:solidFill>
                <a:latin typeface="JetBrains Mono"/>
              </a:rPr>
              <a:t> </a:t>
            </a:r>
            <a:r>
              <a:rPr sz="900">
                <a:solidFill>
                  <a:srgbClr val="F1F5F9"/>
                </a:solidFill>
                <a:latin typeface="JetBrains Mono"/>
              </a:rPr>
              <a:t>fk_itemnota_produk</a:t>
            </a:r>
            <a:r>
              <a:rPr sz="900">
                <a:solidFill>
                  <a:srgbClr val="F1F5F9"/>
                </a:solidFill>
                <a:latin typeface="JetBrains Mono"/>
              </a:rPr>
              <a:t> </a:t>
            </a:r>
            <a:r>
              <a:rPr sz="900" b="1">
                <a:solidFill>
                  <a:srgbClr val="00E5FF"/>
                </a:solidFill>
                <a:latin typeface="JetBrains Mono"/>
              </a:rPr>
              <a:t>FOREIGN</a:t>
            </a:r>
            <a:r>
              <a:rPr sz="900">
                <a:solidFill>
                  <a:srgbClr val="F1F5F9"/>
                </a:solidFill>
                <a:latin typeface="JetBrains Mono"/>
              </a:rPr>
              <a:t> </a:t>
            </a:r>
            <a:r>
              <a:rPr sz="900" b="1">
                <a:solidFill>
                  <a:srgbClr val="00E5FF"/>
                </a:solidFill>
                <a:latin typeface="JetBrains Mono"/>
              </a:rPr>
              <a:t>KEY</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KodeProduk</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REFERENCES</a:t>
            </a:r>
            <a:r>
              <a:rPr sz="900">
                <a:solidFill>
                  <a:srgbClr val="F1F5F9"/>
                </a:solidFill>
                <a:latin typeface="JetBrains Mono"/>
              </a:rPr>
              <a:t> </a:t>
            </a:r>
            <a:r>
              <a:rPr sz="900">
                <a:solidFill>
                  <a:srgbClr val="F1F5F9"/>
                </a:solidFill>
                <a:latin typeface="JetBrains Mono"/>
              </a:rPr>
              <a:t>produk</a:t>
            </a:r>
            <a:r>
              <a:rPr sz="900">
                <a:solidFill>
                  <a:srgbClr val="F1F5F9"/>
                </a:solidFill>
                <a:latin typeface="JetBrains Mono"/>
              </a:rPr>
              <a:t>(</a:t>
            </a:r>
            <a:r>
              <a:rPr sz="900">
                <a:solidFill>
                  <a:srgbClr val="F1F5F9"/>
                </a:solidFill>
                <a:latin typeface="JetBrains Mono"/>
              </a:rPr>
              <a:t>KodeProduk</a:t>
            </a:r>
            <a:r>
              <a:rPr sz="900">
                <a:solidFill>
                  <a:srgbClr val="F1F5F9"/>
                </a:solidFill>
                <a:latin typeface="JetBrains Mono"/>
              </a:rPr>
              <a:t>)</a:t>
            </a:r>
          </a:p>
          <a:p>
            <a:pPr>
              <a:spcAft>
                <a:spcPts val="150"/>
              </a:spcAft>
            </a:pP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ENGINE</a:t>
            </a:r>
            <a:r>
              <a:rPr sz="900">
                <a:solidFill>
                  <a:srgbClr val="F1F5F9"/>
                </a:solidFill>
                <a:latin typeface="JetBrains Mono"/>
              </a:rPr>
              <a:t>=</a:t>
            </a:r>
            <a:r>
              <a:rPr sz="900">
                <a:solidFill>
                  <a:srgbClr val="F1F5F9"/>
                </a:solidFill>
                <a:latin typeface="JetBrains Mono"/>
              </a:rPr>
              <a:t>InnoDB</a:t>
            </a:r>
            <a:r>
              <a:rPr sz="900">
                <a:solidFill>
                  <a:srgbClr val="F1F5F9"/>
                </a:solidFill>
                <a:latin typeface="JetBrains Mono"/>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09 · TRANSAKSI RITEL</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Pessimistic Locking &amp; Transaksi</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Studi Kasus: Checkout Kasir &amp; Auto-Deduct Stok </a:t>
            </a:r>
            <a:r>
              <a:rPr sz="2100" b="1">
                <a:solidFill>
                  <a:srgbClr val="00E5FF"/>
                </a:solidFill>
                <a:latin typeface="Plus Jakarta Sans"/>
              </a:rPr>
              <a:t>ACID &amp; Locking</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658368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28216"/>
            <a:ext cx="4572000" cy="256032"/>
          </a:xfrm>
          <a:prstGeom prst="rect">
            <a:avLst/>
          </a:prstGeom>
          <a:noFill/>
        </p:spPr>
        <p:txBody>
          <a:bodyPr wrap="none">
            <a:spAutoFit/>
          </a:bodyPr>
          <a:lstStyle/>
          <a:p>
            <a:pPr>
              <a:defRPr sz="900">
                <a:solidFill>
                  <a:srgbClr val="38BDF8"/>
                </a:solidFill>
                <a:latin typeface="JetBrains Mono"/>
              </a:defRPr>
            </a:pPr>
            <a:r>
              <a:t>terminal · sp_CheckoutItem.sql (Transaction + Lock)</a:t>
            </a:r>
          </a:p>
        </p:txBody>
      </p:sp>
      <p:sp>
        <p:nvSpPr>
          <p:cNvPr id="13" name="TextBox 12"/>
          <p:cNvSpPr txBox="1"/>
          <p:nvPr/>
        </p:nvSpPr>
        <p:spPr>
          <a:xfrm>
            <a:off x="1051560" y="1984248"/>
            <a:ext cx="6309360" cy="3840480"/>
          </a:xfrm>
          <a:prstGeom prst="rect">
            <a:avLst/>
          </a:prstGeom>
          <a:noFill/>
        </p:spPr>
        <p:txBody>
          <a:bodyPr wrap="square" tIns="18288" bIns="18288" lIns="45720" rIns="45720">
            <a:spAutoFit/>
          </a:bodyPr>
          <a:lstStyle/>
          <a:p>
            <a:pPr>
              <a:spcAft>
                <a:spcPts val="0"/>
              </a:spcAft>
            </a:pPr>
            <a:r>
              <a:rPr sz="720" b="1">
                <a:solidFill>
                  <a:srgbClr val="00E5FF"/>
                </a:solidFill>
                <a:latin typeface="JetBrains Mono"/>
              </a:rPr>
              <a:t>DELIMITER</a:t>
            </a:r>
            <a:r>
              <a:rPr sz="720">
                <a:solidFill>
                  <a:srgbClr val="F1F5F9"/>
                </a:solidFill>
                <a:latin typeface="JetBrains Mono"/>
              </a:rPr>
              <a:t> </a:t>
            </a:r>
            <a:r>
              <a:rPr sz="720">
                <a:solidFill>
                  <a:srgbClr val="F1F5F9"/>
                </a:solidFill>
                <a:latin typeface="JetBrains Mono"/>
              </a:rPr>
              <a:t>$$</a:t>
            </a:r>
          </a:p>
          <a:p>
            <a:pPr>
              <a:spcAft>
                <a:spcPts val="0"/>
              </a:spcAft>
            </a:pPr>
            <a:r>
              <a:rPr sz="720" b="1">
                <a:solidFill>
                  <a:srgbClr val="00E5FF"/>
                </a:solidFill>
                <a:latin typeface="JetBrains Mono"/>
              </a:rPr>
              <a:t>CREATE</a:t>
            </a:r>
            <a:r>
              <a:rPr sz="720">
                <a:solidFill>
                  <a:srgbClr val="F1F5F9"/>
                </a:solidFill>
                <a:latin typeface="JetBrains Mono"/>
              </a:rPr>
              <a:t> </a:t>
            </a:r>
            <a:r>
              <a:rPr sz="720" b="1">
                <a:solidFill>
                  <a:srgbClr val="00E5FF"/>
                </a:solidFill>
                <a:latin typeface="JetBrains Mono"/>
              </a:rPr>
              <a:t>PROCEDURE</a:t>
            </a:r>
            <a:r>
              <a:rPr sz="720">
                <a:solidFill>
                  <a:srgbClr val="F1F5F9"/>
                </a:solidFill>
                <a:latin typeface="JetBrains Mono"/>
              </a:rPr>
              <a:t> </a:t>
            </a:r>
            <a:r>
              <a:rPr sz="720">
                <a:solidFill>
                  <a:srgbClr val="F1F5F9"/>
                </a:solidFill>
                <a:latin typeface="JetBrains Mono"/>
              </a:rPr>
              <a:t>sp_CheckoutItem</a:t>
            </a:r>
            <a:r>
              <a:rPr sz="720">
                <a:solidFill>
                  <a:srgbClr val="F1F5F9"/>
                </a:solidFill>
                <a:latin typeface="JetBrains Mono"/>
              </a:rPr>
              <a:t>(</a:t>
            </a:r>
          </a:p>
          <a:p>
            <a:pPr>
              <a:spcAft>
                <a:spcPts val="0"/>
              </a:spcAft>
            </a:pPr>
            <a:r>
              <a:rPr sz="720">
                <a:solidFill>
                  <a:srgbClr val="F1F5F9"/>
                </a:solidFill>
                <a:latin typeface="JetBrains Mono"/>
              </a:rPr>
              <a:t>    </a:t>
            </a:r>
            <a:r>
              <a:rPr sz="720">
                <a:solidFill>
                  <a:srgbClr val="F1F5F9"/>
                </a:solidFill>
                <a:latin typeface="JetBrains Mono"/>
              </a:rPr>
              <a:t>IN</a:t>
            </a:r>
            <a:r>
              <a:rPr sz="720">
                <a:solidFill>
                  <a:srgbClr val="F1F5F9"/>
                </a:solidFill>
                <a:latin typeface="JetBrains Mono"/>
              </a:rPr>
              <a:t> </a:t>
            </a:r>
            <a:r>
              <a:rPr sz="720">
                <a:solidFill>
                  <a:srgbClr val="F59E0B"/>
                </a:solidFill>
                <a:latin typeface="JetBrains Mono"/>
              </a:rPr>
              <a:t>p_Nonota</a:t>
            </a:r>
            <a:r>
              <a:rPr sz="720">
                <a:solidFill>
                  <a:srgbClr val="F1F5F9"/>
                </a:solidFill>
                <a:latin typeface="JetBrains Mono"/>
              </a:rPr>
              <a:t> </a:t>
            </a:r>
            <a:r>
              <a:rPr sz="720" b="1">
                <a:solidFill>
                  <a:srgbClr val="C084FC"/>
                </a:solidFill>
                <a:latin typeface="JetBrains Mono"/>
              </a:rPr>
              <a:t>CHAR</a:t>
            </a:r>
            <a:r>
              <a:rPr sz="720">
                <a:solidFill>
                  <a:srgbClr val="F1F5F9"/>
                </a:solidFill>
                <a:latin typeface="JetBrains Mono"/>
              </a:rPr>
              <a:t>(</a:t>
            </a:r>
            <a:r>
              <a:rPr sz="720">
                <a:solidFill>
                  <a:srgbClr val="F87171"/>
                </a:solidFill>
                <a:latin typeface="JetBrains Mono"/>
              </a:rPr>
              <a:t>10</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IN</a:t>
            </a:r>
            <a:r>
              <a:rPr sz="720">
                <a:solidFill>
                  <a:srgbClr val="F1F5F9"/>
                </a:solidFill>
                <a:latin typeface="JetBrains Mono"/>
              </a:rPr>
              <a:t> </a:t>
            </a:r>
            <a:r>
              <a:rPr sz="720">
                <a:solidFill>
                  <a:srgbClr val="F59E0B"/>
                </a:solidFill>
                <a:latin typeface="JetBrains Mono"/>
              </a:rPr>
              <a:t>p_KodeProduk</a:t>
            </a:r>
            <a:r>
              <a:rPr sz="720">
                <a:solidFill>
                  <a:srgbClr val="F1F5F9"/>
                </a:solidFill>
                <a:latin typeface="JetBrains Mono"/>
              </a:rPr>
              <a:t> </a:t>
            </a:r>
            <a:r>
              <a:rPr sz="720" b="1">
                <a:solidFill>
                  <a:srgbClr val="C084FC"/>
                </a:solidFill>
                <a:latin typeface="JetBrains Mono"/>
              </a:rPr>
              <a:t>CHAR</a:t>
            </a:r>
            <a:r>
              <a:rPr sz="720">
                <a:solidFill>
                  <a:srgbClr val="F1F5F9"/>
                </a:solidFill>
                <a:latin typeface="JetBrains Mono"/>
              </a:rPr>
              <a:t>(</a:t>
            </a:r>
            <a:r>
              <a:rPr sz="720">
                <a:solidFill>
                  <a:srgbClr val="F87171"/>
                </a:solidFill>
                <a:latin typeface="JetBrains Mono"/>
              </a:rPr>
              <a:t>4</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IN</a:t>
            </a:r>
            <a:r>
              <a:rPr sz="720">
                <a:solidFill>
                  <a:srgbClr val="F1F5F9"/>
                </a:solidFill>
                <a:latin typeface="JetBrains Mono"/>
              </a:rPr>
              <a:t> </a:t>
            </a:r>
            <a:r>
              <a:rPr sz="720">
                <a:solidFill>
                  <a:srgbClr val="F59E0B"/>
                </a:solidFill>
                <a:latin typeface="JetBrains Mono"/>
              </a:rPr>
              <a:t>p_Qty</a:t>
            </a:r>
            <a:r>
              <a:rPr sz="720">
                <a:solidFill>
                  <a:srgbClr val="F1F5F9"/>
                </a:solidFill>
                <a:latin typeface="JetBrains Mono"/>
              </a:rPr>
              <a:t> </a:t>
            </a:r>
            <a:r>
              <a:rPr sz="720" b="1">
                <a:solidFill>
                  <a:srgbClr val="C084FC"/>
                </a:solidFill>
                <a:latin typeface="JetBrains Mono"/>
              </a:rPr>
              <a:t>INT</a:t>
            </a:r>
          </a:p>
          <a:p>
            <a:pPr>
              <a:spcAft>
                <a:spcPts val="0"/>
              </a:spcAft>
            </a:pPr>
            <a:r>
              <a:rPr sz="720">
                <a:solidFill>
                  <a:srgbClr val="F1F5F9"/>
                </a:solidFill>
                <a:latin typeface="JetBrains Mono"/>
              </a:rPr>
              <a:t>)</a:t>
            </a:r>
          </a:p>
          <a:p>
            <a:pPr>
              <a:spcAft>
                <a:spcPts val="0"/>
              </a:spcAft>
            </a:pPr>
            <a:r>
              <a:rPr sz="720" b="1">
                <a:solidFill>
                  <a:srgbClr val="00E5FF"/>
                </a:solidFill>
                <a:latin typeface="JetBrains Mono"/>
              </a:rPr>
              <a:t>BEGIN</a:t>
            </a:r>
          </a:p>
          <a:p>
            <a:pPr>
              <a:spcAft>
                <a:spcPts val="0"/>
              </a:spcAft>
            </a:pPr>
            <a:r>
              <a:rPr sz="720">
                <a:solidFill>
                  <a:srgbClr val="F1F5F9"/>
                </a:solidFill>
                <a:latin typeface="JetBrains Mono"/>
              </a:rPr>
              <a:t>    </a:t>
            </a:r>
            <a:r>
              <a:rPr sz="720" b="1">
                <a:solidFill>
                  <a:srgbClr val="00E5FF"/>
                </a:solidFill>
                <a:latin typeface="JetBrains Mono"/>
              </a:rPr>
              <a:t>DECLARE</a:t>
            </a:r>
            <a:r>
              <a:rPr sz="720">
                <a:solidFill>
                  <a:srgbClr val="F1F5F9"/>
                </a:solidFill>
                <a:latin typeface="JetBrains Mono"/>
              </a:rPr>
              <a:t> </a:t>
            </a:r>
            <a:r>
              <a:rPr sz="720">
                <a:solidFill>
                  <a:srgbClr val="F59E0B"/>
                </a:solidFill>
                <a:latin typeface="JetBrains Mono"/>
              </a:rPr>
              <a:t>v_stok_saat_ini</a:t>
            </a:r>
            <a:r>
              <a:rPr sz="720">
                <a:solidFill>
                  <a:srgbClr val="F1F5F9"/>
                </a:solidFill>
                <a:latin typeface="JetBrains Mono"/>
              </a:rPr>
              <a:t> </a:t>
            </a:r>
            <a:r>
              <a:rPr sz="720" b="1">
                <a:solidFill>
                  <a:srgbClr val="C084FC"/>
                </a:solidFill>
                <a:latin typeface="JetBrains Mono"/>
              </a:rPr>
              <a:t>INT</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DECLARE</a:t>
            </a:r>
            <a:r>
              <a:rPr sz="720">
                <a:solidFill>
                  <a:srgbClr val="F1F5F9"/>
                </a:solidFill>
                <a:latin typeface="JetBrains Mono"/>
              </a:rPr>
              <a:t> </a:t>
            </a:r>
            <a:r>
              <a:rPr sz="720">
                <a:solidFill>
                  <a:srgbClr val="F59E0B"/>
                </a:solidFill>
                <a:latin typeface="JetBrains Mono"/>
              </a:rPr>
              <a:t>v_harga_produk</a:t>
            </a:r>
            <a:r>
              <a:rPr sz="720">
                <a:solidFill>
                  <a:srgbClr val="F1F5F9"/>
                </a:solidFill>
                <a:latin typeface="JetBrains Mono"/>
              </a:rPr>
              <a:t> </a:t>
            </a:r>
            <a:r>
              <a:rPr sz="720" b="1">
                <a:solidFill>
                  <a:srgbClr val="C084FC"/>
                </a:solidFill>
                <a:latin typeface="JetBrains Mono"/>
              </a:rPr>
              <a:t>INT</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DECLARE</a:t>
            </a:r>
            <a:r>
              <a:rPr sz="720">
                <a:solidFill>
                  <a:srgbClr val="F1F5F9"/>
                </a:solidFill>
                <a:latin typeface="JetBrains Mono"/>
              </a:rPr>
              <a:t> </a:t>
            </a:r>
            <a:r>
              <a:rPr sz="720" b="1">
                <a:solidFill>
                  <a:srgbClr val="00E5FF"/>
                </a:solidFill>
                <a:latin typeface="JetBrains Mono"/>
              </a:rPr>
              <a:t>EXIT</a:t>
            </a:r>
            <a:r>
              <a:rPr sz="720">
                <a:solidFill>
                  <a:srgbClr val="F1F5F9"/>
                </a:solidFill>
                <a:latin typeface="JetBrains Mono"/>
              </a:rPr>
              <a:t> </a:t>
            </a:r>
            <a:r>
              <a:rPr sz="720" b="1">
                <a:solidFill>
                  <a:srgbClr val="00E5FF"/>
                </a:solidFill>
                <a:latin typeface="JetBrains Mono"/>
              </a:rPr>
              <a:t>HANDLER</a:t>
            </a:r>
            <a:r>
              <a:rPr sz="720">
                <a:solidFill>
                  <a:srgbClr val="F1F5F9"/>
                </a:solidFill>
                <a:latin typeface="JetBrains Mono"/>
              </a:rPr>
              <a:t> </a:t>
            </a:r>
            <a:r>
              <a:rPr sz="720" b="1">
                <a:solidFill>
                  <a:srgbClr val="00E5FF"/>
                </a:solidFill>
                <a:latin typeface="JetBrains Mono"/>
              </a:rPr>
              <a:t>FOR</a:t>
            </a:r>
            <a:r>
              <a:rPr sz="720">
                <a:solidFill>
                  <a:srgbClr val="F1F5F9"/>
                </a:solidFill>
                <a:latin typeface="JetBrains Mono"/>
              </a:rPr>
              <a:t> </a:t>
            </a:r>
            <a:r>
              <a:rPr sz="720">
                <a:solidFill>
                  <a:srgbClr val="F1F5F9"/>
                </a:solidFill>
                <a:latin typeface="JetBrains Mono"/>
              </a:rPr>
              <a:t>SQLEXCEPTION</a:t>
            </a:r>
          </a:p>
          <a:p>
            <a:pPr>
              <a:spcAft>
                <a:spcPts val="0"/>
              </a:spcAft>
            </a:pPr>
            <a:r>
              <a:rPr sz="720">
                <a:solidFill>
                  <a:srgbClr val="F1F5F9"/>
                </a:solidFill>
                <a:latin typeface="JetBrains Mono"/>
              </a:rPr>
              <a:t>    </a:t>
            </a:r>
            <a:r>
              <a:rPr sz="720" b="1">
                <a:solidFill>
                  <a:srgbClr val="00E5FF"/>
                </a:solidFill>
                <a:latin typeface="JetBrains Mono"/>
              </a:rPr>
              <a:t>BEGIN</a:t>
            </a:r>
          </a:p>
          <a:p>
            <a:pPr>
              <a:spcAft>
                <a:spcPts val="0"/>
              </a:spcAft>
            </a:pPr>
            <a:r>
              <a:rPr sz="720">
                <a:solidFill>
                  <a:srgbClr val="F1F5F9"/>
                </a:solidFill>
                <a:latin typeface="JetBrains Mono"/>
              </a:rPr>
              <a:t>        </a:t>
            </a:r>
            <a:r>
              <a:rPr sz="720" b="1">
                <a:solidFill>
                  <a:srgbClr val="00E5FF"/>
                </a:solidFill>
                <a:latin typeface="JetBrains Mono"/>
              </a:rPr>
              <a:t>ROLLBACK</a:t>
            </a:r>
            <a:r>
              <a:rPr sz="720">
                <a:solidFill>
                  <a:srgbClr val="F1F5F9"/>
                </a:solidFill>
                <a:latin typeface="JetBrains Mono"/>
              </a:rPr>
              <a:t>;</a:t>
            </a:r>
            <a:r>
              <a:rPr sz="720">
                <a:solidFill>
                  <a:srgbClr val="F1F5F9"/>
                </a:solidFill>
                <a:latin typeface="JetBrains Mono"/>
              </a:rPr>
              <a:t> </a:t>
            </a:r>
            <a:r>
              <a:rPr sz="720" i="1">
                <a:solidFill>
                  <a:srgbClr val="94A3B8"/>
                </a:solidFill>
                <a:latin typeface="JetBrains Mono"/>
              </a:rPr>
              <a:t>-- Batalkan seluruh perubahan jika terjadi galat</a:t>
            </a:r>
          </a:p>
          <a:p>
            <a:pPr>
              <a:spcAft>
                <a:spcPts val="0"/>
              </a:spcAft>
            </a:pPr>
            <a:r>
              <a:rPr sz="720">
                <a:solidFill>
                  <a:srgbClr val="F1F5F9"/>
                </a:solidFill>
                <a:latin typeface="JetBrains Mono"/>
              </a:rPr>
              <a:t>        </a:t>
            </a:r>
            <a:r>
              <a:rPr sz="720" b="1">
                <a:solidFill>
                  <a:srgbClr val="00E5FF"/>
                </a:solidFill>
                <a:latin typeface="JetBrains Mono"/>
              </a:rPr>
              <a:t>SIGNAL</a:t>
            </a:r>
            <a:r>
              <a:rPr sz="720">
                <a:solidFill>
                  <a:srgbClr val="F1F5F9"/>
                </a:solidFill>
                <a:latin typeface="JetBrains Mono"/>
              </a:rPr>
              <a:t> </a:t>
            </a:r>
            <a:r>
              <a:rPr sz="720" b="1">
                <a:solidFill>
                  <a:srgbClr val="00E5FF"/>
                </a:solidFill>
                <a:latin typeface="JetBrains Mono"/>
              </a:rPr>
              <a:t>SQLSTATE</a:t>
            </a:r>
            <a:r>
              <a:rPr sz="720">
                <a:solidFill>
                  <a:srgbClr val="F1F5F9"/>
                </a:solidFill>
                <a:latin typeface="JetBrains Mono"/>
              </a:rPr>
              <a:t> </a:t>
            </a:r>
            <a:r>
              <a:rPr sz="720">
                <a:solidFill>
                  <a:srgbClr val="34D399"/>
                </a:solidFill>
                <a:latin typeface="JetBrains Mono"/>
              </a:rPr>
              <a:t>'45000'</a:t>
            </a:r>
            <a:r>
              <a:rPr sz="720">
                <a:solidFill>
                  <a:srgbClr val="F1F5F9"/>
                </a:solidFill>
                <a:latin typeface="JetBrains Mono"/>
              </a:rPr>
              <a:t> </a:t>
            </a:r>
            <a:r>
              <a:rPr sz="720" b="1">
                <a:solidFill>
                  <a:srgbClr val="00E5FF"/>
                </a:solidFill>
                <a:latin typeface="JetBrains Mono"/>
              </a:rPr>
              <a:t>SET</a:t>
            </a:r>
            <a:r>
              <a:rPr sz="720">
                <a:solidFill>
                  <a:srgbClr val="F1F5F9"/>
                </a:solidFill>
                <a:latin typeface="JetBrains Mono"/>
              </a:rPr>
              <a:t> </a:t>
            </a:r>
            <a:r>
              <a:rPr sz="720">
                <a:solidFill>
                  <a:srgbClr val="F1F5F9"/>
                </a:solidFill>
                <a:latin typeface="JetBrains Mono"/>
              </a:rPr>
              <a:t>MESSAGE_TEXT</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34D399"/>
                </a:solidFill>
                <a:latin typeface="JetBrains Mono"/>
              </a:rPr>
              <a:t>'Transaksi kasir gagal. Rollback executed.'</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END</a:t>
            </a:r>
            <a:r>
              <a:rPr sz="720">
                <a:solidFill>
                  <a:srgbClr val="F1F5F9"/>
                </a:solidFill>
                <a:latin typeface="JetBrains Mono"/>
              </a:rPr>
              <a:t>;</a:t>
            </a:r>
          </a:p>
          <a:p>
            <a:pPr>
              <a:spcAft>
                <a:spcPts val="0"/>
              </a:spcAft>
            </a:pPr>
            <a:r>
              <a:t> </a:t>
            </a:r>
          </a:p>
          <a:p>
            <a:pPr>
              <a:spcAft>
                <a:spcPts val="0"/>
              </a:spcAft>
            </a:pPr>
            <a:r>
              <a:rPr sz="720">
                <a:solidFill>
                  <a:srgbClr val="F1F5F9"/>
                </a:solidFill>
                <a:latin typeface="JetBrains Mono"/>
              </a:rPr>
              <a:t>    </a:t>
            </a:r>
            <a:r>
              <a:rPr sz="720" b="1">
                <a:solidFill>
                  <a:srgbClr val="00E5FF"/>
                </a:solidFill>
                <a:latin typeface="JetBrains Mono"/>
              </a:rPr>
              <a:t>START</a:t>
            </a:r>
            <a:r>
              <a:rPr sz="720">
                <a:solidFill>
                  <a:srgbClr val="F1F5F9"/>
                </a:solidFill>
                <a:latin typeface="JetBrains Mono"/>
              </a:rPr>
              <a:t> </a:t>
            </a:r>
            <a:r>
              <a:rPr sz="720" b="1">
                <a:solidFill>
                  <a:srgbClr val="00E5FF"/>
                </a:solidFill>
                <a:latin typeface="JetBrains Mono"/>
              </a:rPr>
              <a:t>TRANSACTION</a:t>
            </a:r>
            <a:r>
              <a:rPr sz="720">
                <a:solidFill>
                  <a:srgbClr val="F1F5F9"/>
                </a:solidFill>
                <a:latin typeface="JetBrains Mono"/>
              </a:rPr>
              <a:t>;</a:t>
            </a:r>
          </a:p>
          <a:p>
            <a:pPr>
              <a:spcAft>
                <a:spcPts val="0"/>
              </a:spcAft>
            </a:pPr>
            <a:r>
              <a:rPr sz="720">
                <a:solidFill>
                  <a:srgbClr val="F1F5F9"/>
                </a:solidFill>
                <a:latin typeface="JetBrains Mono"/>
              </a:rPr>
              <a:t>    </a:t>
            </a:r>
            <a:r>
              <a:rPr sz="720" i="1">
                <a:solidFill>
                  <a:srgbClr val="94A3B8"/>
                </a:solidFill>
                <a:latin typeface="JetBrains Mono"/>
              </a:rPr>
              <a:t>-- 1. Validasi persediaan stok barang</a:t>
            </a:r>
          </a:p>
          <a:p>
            <a:pPr>
              <a:spcAft>
                <a:spcPts val="0"/>
              </a:spcAft>
            </a:pPr>
            <a:r>
              <a:rPr sz="720">
                <a:solidFill>
                  <a:srgbClr val="F1F5F9"/>
                </a:solidFill>
                <a:latin typeface="JetBrains Mono"/>
              </a:rPr>
              <a:t>    </a:t>
            </a:r>
            <a:r>
              <a:rPr sz="720" b="1">
                <a:solidFill>
                  <a:srgbClr val="00E5FF"/>
                </a:solidFill>
                <a:latin typeface="JetBrains Mono"/>
              </a:rPr>
              <a:t>SELECT</a:t>
            </a:r>
            <a:r>
              <a:rPr sz="720">
                <a:solidFill>
                  <a:srgbClr val="F1F5F9"/>
                </a:solidFill>
                <a:latin typeface="JetBrains Mono"/>
              </a:rPr>
              <a:t> </a:t>
            </a:r>
            <a:r>
              <a:rPr sz="720">
                <a:solidFill>
                  <a:srgbClr val="F1F5F9"/>
                </a:solidFill>
                <a:latin typeface="JetBrains Mono"/>
              </a:rPr>
              <a:t>stok</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Harga</a:t>
            </a:r>
            <a:r>
              <a:rPr sz="720">
                <a:solidFill>
                  <a:srgbClr val="F1F5F9"/>
                </a:solidFill>
                <a:latin typeface="JetBrains Mono"/>
              </a:rPr>
              <a:t> </a:t>
            </a:r>
            <a:r>
              <a:rPr sz="720" b="1">
                <a:solidFill>
                  <a:srgbClr val="00E5FF"/>
                </a:solidFill>
                <a:latin typeface="JetBrains Mono"/>
              </a:rPr>
              <a:t>INTO</a:t>
            </a:r>
            <a:r>
              <a:rPr sz="720">
                <a:solidFill>
                  <a:srgbClr val="F1F5F9"/>
                </a:solidFill>
                <a:latin typeface="JetBrains Mono"/>
              </a:rPr>
              <a:t> </a:t>
            </a:r>
            <a:r>
              <a:rPr sz="720">
                <a:solidFill>
                  <a:srgbClr val="F59E0B"/>
                </a:solidFill>
                <a:latin typeface="JetBrains Mono"/>
              </a:rPr>
              <a:t>v_stok_saat_ini</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v_harga_produk</a:t>
            </a:r>
            <a:r>
              <a:rPr sz="720">
                <a:solidFill>
                  <a:srgbClr val="F1F5F9"/>
                </a:solidFill>
                <a:latin typeface="JetBrains Mono"/>
              </a:rPr>
              <a:t> </a:t>
            </a:r>
            <a:r>
              <a:rPr sz="720" b="1">
                <a:solidFill>
                  <a:srgbClr val="00E5FF"/>
                </a:solidFill>
                <a:latin typeface="JetBrains Mono"/>
              </a:rPr>
              <a:t>FROM</a:t>
            </a:r>
            <a:r>
              <a:rPr sz="720">
                <a:solidFill>
                  <a:srgbClr val="F1F5F9"/>
                </a:solidFill>
                <a:latin typeface="JetBrains Mono"/>
              </a:rPr>
              <a:t> </a:t>
            </a:r>
            <a:r>
              <a:rPr sz="720">
                <a:solidFill>
                  <a:srgbClr val="F1F5F9"/>
                </a:solidFill>
                <a:latin typeface="JetBrains Mono"/>
              </a:rPr>
              <a:t>produk</a:t>
            </a:r>
            <a:r>
              <a:rPr sz="720">
                <a:solidFill>
                  <a:srgbClr val="F1F5F9"/>
                </a:solidFill>
                <a:latin typeface="JetBrains Mono"/>
              </a:rPr>
              <a:t> </a:t>
            </a:r>
            <a:r>
              <a:rPr sz="720" b="1">
                <a:solidFill>
                  <a:srgbClr val="00E5FF"/>
                </a:solidFill>
                <a:latin typeface="JetBrains Mono"/>
              </a:rPr>
              <a:t>WHERE</a:t>
            </a:r>
            <a:r>
              <a:rPr sz="720">
                <a:solidFill>
                  <a:srgbClr val="F1F5F9"/>
                </a:solidFill>
                <a:latin typeface="JetBrains Mono"/>
              </a:rPr>
              <a:t> </a:t>
            </a:r>
            <a:r>
              <a:rPr sz="720">
                <a:solidFill>
                  <a:srgbClr val="F1F5F9"/>
                </a:solidFill>
                <a:latin typeface="JetBrains Mono"/>
              </a:rPr>
              <a:t>KodeProduk</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p_KodeProduk</a:t>
            </a:r>
            <a:r>
              <a:rPr sz="720">
                <a:solidFill>
                  <a:srgbClr val="F1F5F9"/>
                </a:solidFill>
                <a:latin typeface="JetBrains Mono"/>
              </a:rPr>
              <a:t> </a:t>
            </a:r>
            <a:r>
              <a:rPr sz="720" b="1">
                <a:solidFill>
                  <a:srgbClr val="00E5FF"/>
                </a:solidFill>
                <a:latin typeface="JetBrains Mono"/>
              </a:rPr>
              <a:t>FOR</a:t>
            </a:r>
            <a:r>
              <a:rPr sz="720">
                <a:solidFill>
                  <a:srgbClr val="F1F5F9"/>
                </a:solidFill>
                <a:latin typeface="JetBrains Mono"/>
              </a:rPr>
              <a:t> </a:t>
            </a:r>
            <a:r>
              <a:rPr sz="720" b="1">
                <a:solidFill>
                  <a:srgbClr val="00E5FF"/>
                </a:solidFill>
                <a:latin typeface="JetBrains Mono"/>
              </a:rPr>
              <a:t>UPDATE</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IF</a:t>
            </a:r>
            <a:r>
              <a:rPr sz="720">
                <a:solidFill>
                  <a:srgbClr val="F1F5F9"/>
                </a:solidFill>
                <a:latin typeface="JetBrains Mono"/>
              </a:rPr>
              <a:t> </a:t>
            </a:r>
            <a:r>
              <a:rPr sz="720">
                <a:solidFill>
                  <a:srgbClr val="F59E0B"/>
                </a:solidFill>
                <a:latin typeface="JetBrains Mono"/>
              </a:rPr>
              <a:t>v_stok_saat_ini</a:t>
            </a:r>
            <a:r>
              <a:rPr sz="720">
                <a:solidFill>
                  <a:srgbClr val="F1F5F9"/>
                </a:solidFill>
                <a:latin typeface="JetBrains Mono"/>
              </a:rPr>
              <a:t> </a:t>
            </a:r>
            <a:r>
              <a:rPr sz="720">
                <a:solidFill>
                  <a:srgbClr val="F1F5F9"/>
                </a:solidFill>
                <a:latin typeface="JetBrains Mono"/>
              </a:rPr>
              <a:t>&lt;</a:t>
            </a:r>
            <a:r>
              <a:rPr sz="720">
                <a:solidFill>
                  <a:srgbClr val="F1F5F9"/>
                </a:solidFill>
                <a:latin typeface="JetBrains Mono"/>
              </a:rPr>
              <a:t> </a:t>
            </a:r>
            <a:r>
              <a:rPr sz="720">
                <a:solidFill>
                  <a:srgbClr val="F59E0B"/>
                </a:solidFill>
                <a:latin typeface="JetBrains Mono"/>
              </a:rPr>
              <a:t>p_Qty</a:t>
            </a:r>
            <a:r>
              <a:rPr sz="720">
                <a:solidFill>
                  <a:srgbClr val="F1F5F9"/>
                </a:solidFill>
                <a:latin typeface="JetBrains Mono"/>
              </a:rPr>
              <a:t> </a:t>
            </a:r>
            <a:r>
              <a:rPr sz="720" b="1">
                <a:solidFill>
                  <a:srgbClr val="00E5FF"/>
                </a:solidFill>
                <a:latin typeface="JetBrains Mono"/>
              </a:rPr>
              <a:t>THEN</a:t>
            </a:r>
          </a:p>
          <a:p>
            <a:pPr>
              <a:spcAft>
                <a:spcPts val="0"/>
              </a:spcAft>
            </a:pPr>
            <a:r>
              <a:rPr sz="720">
                <a:solidFill>
                  <a:srgbClr val="F1F5F9"/>
                </a:solidFill>
                <a:latin typeface="JetBrains Mono"/>
              </a:rPr>
              <a:t>        </a:t>
            </a:r>
            <a:r>
              <a:rPr sz="720" b="1">
                <a:solidFill>
                  <a:srgbClr val="00E5FF"/>
                </a:solidFill>
                <a:latin typeface="JetBrains Mono"/>
              </a:rPr>
              <a:t>SIGNAL</a:t>
            </a:r>
            <a:r>
              <a:rPr sz="720">
                <a:solidFill>
                  <a:srgbClr val="F1F5F9"/>
                </a:solidFill>
                <a:latin typeface="JetBrains Mono"/>
              </a:rPr>
              <a:t> </a:t>
            </a:r>
            <a:r>
              <a:rPr sz="720" b="1">
                <a:solidFill>
                  <a:srgbClr val="00E5FF"/>
                </a:solidFill>
                <a:latin typeface="JetBrains Mono"/>
              </a:rPr>
              <a:t>SQLSTATE</a:t>
            </a:r>
            <a:r>
              <a:rPr sz="720">
                <a:solidFill>
                  <a:srgbClr val="F1F5F9"/>
                </a:solidFill>
                <a:latin typeface="JetBrains Mono"/>
              </a:rPr>
              <a:t> </a:t>
            </a:r>
            <a:r>
              <a:rPr sz="720">
                <a:solidFill>
                  <a:srgbClr val="34D399"/>
                </a:solidFill>
                <a:latin typeface="JetBrains Mono"/>
              </a:rPr>
              <a:t>'45000'</a:t>
            </a:r>
            <a:r>
              <a:rPr sz="720">
                <a:solidFill>
                  <a:srgbClr val="F1F5F9"/>
                </a:solidFill>
                <a:latin typeface="JetBrains Mono"/>
              </a:rPr>
              <a:t> </a:t>
            </a:r>
            <a:r>
              <a:rPr sz="720" b="1">
                <a:solidFill>
                  <a:srgbClr val="00E5FF"/>
                </a:solidFill>
                <a:latin typeface="JetBrains Mono"/>
              </a:rPr>
              <a:t>SET</a:t>
            </a:r>
            <a:r>
              <a:rPr sz="720">
                <a:solidFill>
                  <a:srgbClr val="F1F5F9"/>
                </a:solidFill>
                <a:latin typeface="JetBrains Mono"/>
              </a:rPr>
              <a:t> </a:t>
            </a:r>
            <a:r>
              <a:rPr sz="720">
                <a:solidFill>
                  <a:srgbClr val="F1F5F9"/>
                </a:solidFill>
                <a:latin typeface="JetBrains Mono"/>
              </a:rPr>
              <a:t>MESSAGE_TEXT</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34D399"/>
                </a:solidFill>
                <a:latin typeface="JetBrains Mono"/>
              </a:rPr>
              <a:t>'Stok barang tidak mencukupi untuk checkout.'</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END</a:t>
            </a:r>
            <a:r>
              <a:rPr sz="720">
                <a:solidFill>
                  <a:srgbClr val="F1F5F9"/>
                </a:solidFill>
                <a:latin typeface="JetBrains Mono"/>
              </a:rPr>
              <a:t> </a:t>
            </a:r>
            <a:r>
              <a:rPr sz="720" b="1">
                <a:solidFill>
                  <a:srgbClr val="00E5FF"/>
                </a:solidFill>
                <a:latin typeface="JetBrains Mono"/>
              </a:rPr>
              <a:t>IF</a:t>
            </a:r>
            <a:r>
              <a:rPr sz="720">
                <a:solidFill>
                  <a:srgbClr val="F1F5F9"/>
                </a:solidFill>
                <a:latin typeface="JetBrains Mono"/>
              </a:rPr>
              <a:t>;</a:t>
            </a:r>
          </a:p>
          <a:p>
            <a:pPr>
              <a:spcAft>
                <a:spcPts val="0"/>
              </a:spcAft>
            </a:pPr>
            <a:r>
              <a:t> </a:t>
            </a:r>
          </a:p>
          <a:p>
            <a:pPr>
              <a:spcAft>
                <a:spcPts val="0"/>
              </a:spcAft>
            </a:pPr>
            <a:r>
              <a:rPr sz="720">
                <a:solidFill>
                  <a:srgbClr val="F1F5F9"/>
                </a:solidFill>
                <a:latin typeface="JetBrains Mono"/>
              </a:rPr>
              <a:t>    </a:t>
            </a:r>
            <a:r>
              <a:rPr sz="720" i="1">
                <a:solidFill>
                  <a:srgbClr val="94A3B8"/>
                </a:solidFill>
                <a:latin typeface="JetBrains Mono"/>
              </a:rPr>
              <a:t>-- 2. Masukkan item transaksi &amp; kurangi stok fisik</a:t>
            </a:r>
          </a:p>
          <a:p>
            <a:pPr>
              <a:spcAft>
                <a:spcPts val="0"/>
              </a:spcAft>
            </a:pPr>
            <a:r>
              <a:rPr sz="720">
                <a:solidFill>
                  <a:srgbClr val="F1F5F9"/>
                </a:solidFill>
                <a:latin typeface="JetBrains Mono"/>
              </a:rPr>
              <a:t>    </a:t>
            </a:r>
            <a:r>
              <a:rPr sz="720" b="1">
                <a:solidFill>
                  <a:srgbClr val="00E5FF"/>
                </a:solidFill>
                <a:latin typeface="JetBrains Mono"/>
              </a:rPr>
              <a:t>INSERT</a:t>
            </a:r>
            <a:r>
              <a:rPr sz="720">
                <a:solidFill>
                  <a:srgbClr val="F1F5F9"/>
                </a:solidFill>
                <a:latin typeface="JetBrains Mono"/>
              </a:rPr>
              <a:t> </a:t>
            </a:r>
            <a:r>
              <a:rPr sz="720" b="1">
                <a:solidFill>
                  <a:srgbClr val="00E5FF"/>
                </a:solidFill>
                <a:latin typeface="JetBrains Mono"/>
              </a:rPr>
              <a:t>INTO</a:t>
            </a:r>
            <a:r>
              <a:rPr sz="720">
                <a:solidFill>
                  <a:srgbClr val="F1F5F9"/>
                </a:solidFill>
                <a:latin typeface="JetBrains Mono"/>
              </a:rPr>
              <a:t> </a:t>
            </a:r>
            <a:r>
              <a:rPr sz="720">
                <a:solidFill>
                  <a:srgbClr val="F1F5F9"/>
                </a:solidFill>
                <a:latin typeface="JetBrains Mono"/>
              </a:rPr>
              <a:t>itemnota</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Nonota</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KodeProduk</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banyak</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hargajual</a:t>
            </a:r>
            <a:r>
              <a:rPr sz="720">
                <a:solidFill>
                  <a:srgbClr val="F1F5F9"/>
                </a:solidFill>
                <a:latin typeface="JetBrains Mono"/>
              </a:rPr>
              <a:t>)</a:t>
            </a:r>
            <a:r>
              <a:rPr sz="720">
                <a:solidFill>
                  <a:srgbClr val="F1F5F9"/>
                </a:solidFill>
                <a:latin typeface="JetBrains Mono"/>
              </a:rPr>
              <a:t> </a:t>
            </a:r>
            <a:r>
              <a:rPr sz="720" b="1">
                <a:solidFill>
                  <a:srgbClr val="00E5FF"/>
                </a:solidFill>
                <a:latin typeface="JetBrains Mono"/>
              </a:rPr>
              <a:t>VALUES</a:t>
            </a:r>
            <a:r>
              <a:rPr sz="720">
                <a:solidFill>
                  <a:srgbClr val="F1F5F9"/>
                </a:solidFill>
                <a:latin typeface="JetBrains Mono"/>
              </a:rPr>
              <a:t> </a:t>
            </a:r>
            <a:r>
              <a:rPr sz="720">
                <a:solidFill>
                  <a:srgbClr val="F1F5F9"/>
                </a:solidFill>
                <a:latin typeface="JetBrains Mono"/>
              </a:rPr>
              <a:t>(</a:t>
            </a:r>
            <a:r>
              <a:rPr sz="720">
                <a:solidFill>
                  <a:srgbClr val="F59E0B"/>
                </a:solidFill>
                <a:latin typeface="JetBrains Mono"/>
              </a:rPr>
              <a:t>p_Nonota</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p_KodeProduk</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p_Qty</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v_harga_produk</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UPDATE</a:t>
            </a:r>
            <a:r>
              <a:rPr sz="720">
                <a:solidFill>
                  <a:srgbClr val="F1F5F9"/>
                </a:solidFill>
                <a:latin typeface="JetBrains Mono"/>
              </a:rPr>
              <a:t> </a:t>
            </a:r>
            <a:r>
              <a:rPr sz="720">
                <a:solidFill>
                  <a:srgbClr val="F1F5F9"/>
                </a:solidFill>
                <a:latin typeface="JetBrains Mono"/>
              </a:rPr>
              <a:t>produk</a:t>
            </a:r>
            <a:r>
              <a:rPr sz="720">
                <a:solidFill>
                  <a:srgbClr val="F1F5F9"/>
                </a:solidFill>
                <a:latin typeface="JetBrains Mono"/>
              </a:rPr>
              <a:t> </a:t>
            </a:r>
            <a:r>
              <a:rPr sz="720" b="1">
                <a:solidFill>
                  <a:srgbClr val="00E5FF"/>
                </a:solidFill>
                <a:latin typeface="JetBrains Mono"/>
              </a:rPr>
              <a:t>SET</a:t>
            </a:r>
            <a:r>
              <a:rPr sz="720">
                <a:solidFill>
                  <a:srgbClr val="F1F5F9"/>
                </a:solidFill>
                <a:latin typeface="JetBrains Mono"/>
              </a:rPr>
              <a:t> </a:t>
            </a:r>
            <a:r>
              <a:rPr sz="720">
                <a:solidFill>
                  <a:srgbClr val="F1F5F9"/>
                </a:solidFill>
                <a:latin typeface="JetBrains Mono"/>
              </a:rPr>
              <a:t>stok</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stok</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p_Qty</a:t>
            </a:r>
            <a:r>
              <a:rPr sz="720">
                <a:solidFill>
                  <a:srgbClr val="F1F5F9"/>
                </a:solidFill>
                <a:latin typeface="JetBrains Mono"/>
              </a:rPr>
              <a:t> </a:t>
            </a:r>
            <a:r>
              <a:rPr sz="720" b="1">
                <a:solidFill>
                  <a:srgbClr val="00E5FF"/>
                </a:solidFill>
                <a:latin typeface="JetBrains Mono"/>
              </a:rPr>
              <a:t>WHERE</a:t>
            </a:r>
            <a:r>
              <a:rPr sz="720">
                <a:solidFill>
                  <a:srgbClr val="F1F5F9"/>
                </a:solidFill>
                <a:latin typeface="JetBrains Mono"/>
              </a:rPr>
              <a:t> </a:t>
            </a:r>
            <a:r>
              <a:rPr sz="720">
                <a:solidFill>
                  <a:srgbClr val="F1F5F9"/>
                </a:solidFill>
                <a:latin typeface="JetBrains Mono"/>
              </a:rPr>
              <a:t>KodeProduk</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p_KodeProduk</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COMMIT</a:t>
            </a:r>
            <a:r>
              <a:rPr sz="720">
                <a:solidFill>
                  <a:srgbClr val="F1F5F9"/>
                </a:solidFill>
                <a:latin typeface="JetBrains Mono"/>
              </a:rPr>
              <a:t>;</a:t>
            </a:r>
            <a:r>
              <a:rPr sz="720">
                <a:solidFill>
                  <a:srgbClr val="F1F5F9"/>
                </a:solidFill>
                <a:latin typeface="JetBrains Mono"/>
              </a:rPr>
              <a:t> </a:t>
            </a:r>
            <a:r>
              <a:rPr sz="720" i="1">
                <a:solidFill>
                  <a:srgbClr val="94A3B8"/>
                </a:solidFill>
                <a:latin typeface="JetBrains Mono"/>
              </a:rPr>
              <a:t>-- Simpan permanen perubahan transaksi</a:t>
            </a:r>
          </a:p>
          <a:p>
            <a:pPr>
              <a:spcAft>
                <a:spcPts val="0"/>
              </a:spcAft>
            </a:pPr>
            <a:r>
              <a:rPr sz="720" b="1">
                <a:solidFill>
                  <a:srgbClr val="00E5FF"/>
                </a:solidFill>
                <a:latin typeface="JetBrains Mono"/>
              </a:rPr>
              <a:t>END</a:t>
            </a:r>
            <a:r>
              <a:rPr sz="720">
                <a:solidFill>
                  <a:srgbClr val="F1F5F9"/>
                </a:solidFill>
                <a:latin typeface="JetBrains Mono"/>
              </a:rPr>
              <a:t>$$</a:t>
            </a:r>
          </a:p>
          <a:p>
            <a:pPr>
              <a:spcAft>
                <a:spcPts val="0"/>
              </a:spcAft>
            </a:pPr>
            <a:r>
              <a:rPr sz="720" b="1">
                <a:solidFill>
                  <a:srgbClr val="00E5FF"/>
                </a:solidFill>
                <a:latin typeface="JetBrains Mono"/>
              </a:rPr>
              <a:t>DELIMITER</a:t>
            </a:r>
            <a:r>
              <a:rPr sz="720">
                <a:solidFill>
                  <a:srgbClr val="F1F5F9"/>
                </a:solidFill>
                <a:latin typeface="JetBrains Mono"/>
              </a:rPr>
              <a:t> </a:t>
            </a:r>
            <a:r>
              <a:rPr sz="720">
                <a:solidFill>
                  <a:srgbClr val="F1F5F9"/>
                </a:solidFill>
                <a:latin typeface="JetBrains Mono"/>
              </a:rPr>
              <a:t>;</a:t>
            </a:r>
          </a:p>
        </p:txBody>
      </p:sp>
      <p:sp>
        <p:nvSpPr>
          <p:cNvPr id="14" name="Rounded Rectangle 13"/>
          <p:cNvSpPr/>
          <p:nvPr/>
        </p:nvSpPr>
        <p:spPr>
          <a:xfrm>
            <a:off x="7680960" y="169164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45552" y="1819656"/>
            <a:ext cx="3236976" cy="1755648"/>
          </a:xfrm>
          <a:prstGeom prst="rect">
            <a:avLst/>
          </a:prstGeom>
          <a:noFill/>
        </p:spPr>
        <p:txBody>
          <a:bodyPr wrap="square">
            <a:spAutoFit/>
          </a:bodyPr>
          <a:lstStyle/>
          <a:p>
            <a:r>
              <a:rPr sz="1200" b="1">
                <a:solidFill>
                  <a:srgbClr val="FFFFFF"/>
                </a:solidFill>
                <a:latin typeface="Plus Jakarta Sans"/>
              </a:rPr>
              <a:t>Pessimistic Locking (FOR UPDATE)</a:t>
            </a:r>
          </a:p>
          <a:p>
            <a:pPr>
              <a:spcBef>
                <a:spcPts val="600"/>
              </a:spcBef>
            </a:pPr>
            <a:r>
              <a:rPr sz="950">
                <a:solidFill>
                  <a:srgbClr val="CBD5E1"/>
                </a:solidFill>
                <a:latin typeface="Inter"/>
              </a:rPr>
              <a:t>Klausa 'FOR UPDATE' mengunci baris produk yang sedang dibeli agar tidak dibaca/diubah transaksi lain secara bersamaan, mencegah masalah *race condition* stok negatif.</a:t>
            </a:r>
          </a:p>
        </p:txBody>
      </p:sp>
      <p:sp>
        <p:nvSpPr>
          <p:cNvPr id="16" name="Rounded Rectangle 15"/>
          <p:cNvSpPr/>
          <p:nvPr/>
        </p:nvSpPr>
        <p:spPr>
          <a:xfrm>
            <a:off x="7680960" y="388620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45552" y="4014216"/>
            <a:ext cx="3236976" cy="1755648"/>
          </a:xfrm>
          <a:prstGeom prst="rect">
            <a:avLst/>
          </a:prstGeom>
          <a:noFill/>
        </p:spPr>
        <p:txBody>
          <a:bodyPr wrap="square">
            <a:spAutoFit/>
          </a:bodyPr>
          <a:lstStyle/>
          <a:p>
            <a:r>
              <a:rPr sz="1200" b="1">
                <a:solidFill>
                  <a:srgbClr val="FFFFFF"/>
                </a:solidFill>
                <a:latin typeface="Plus Jakarta Sans"/>
              </a:rPr>
              <a:t>ACID: START &amp; ROLLBACK</a:t>
            </a:r>
          </a:p>
          <a:p>
            <a:pPr>
              <a:spcBef>
                <a:spcPts val="600"/>
              </a:spcBef>
            </a:pPr>
            <a:r>
              <a:rPr sz="950">
                <a:solidFill>
                  <a:srgbClr val="CBD5E1"/>
                </a:solidFill>
                <a:latin typeface="Inter"/>
              </a:rPr>
              <a:t>Jika operasi insert ke itemnota berhasil namun update stok gagal, perintah ROLLBACK memastikan basis data kembali ke status awal yang bersih.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10 · LEMBAR TUGAS</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4 Tingkat Kesulitan Berjenjang</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10 Soal Praktikum Mandiri Bertingkat </a:t>
            </a:r>
            <a:r>
              <a:rPr sz="2100" b="1">
                <a:solidFill>
                  <a:srgbClr val="00E5FF"/>
                </a:solidFill>
                <a:latin typeface="Plus Jakarta Sans"/>
              </a:rPr>
              <a:t>Latihan Mandiri Mahasiswa</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2450592" cy="4206240"/>
          </a:xfrm>
          <a:prstGeom prst="roundRect">
            <a:avLst/>
          </a:prstGeom>
          <a:solidFill>
            <a:srgbClr val="132040"/>
          </a:solidFill>
          <a:ln w="15875">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819656"/>
            <a:ext cx="2121408" cy="3950208"/>
          </a:xfrm>
          <a:prstGeom prst="rect">
            <a:avLst/>
          </a:prstGeom>
          <a:noFill/>
        </p:spPr>
        <p:txBody>
          <a:bodyPr wrap="square">
            <a:spAutoFit/>
          </a:bodyPr>
          <a:lstStyle/>
          <a:p>
            <a:r>
              <a:rPr sz="1050" b="1">
                <a:solidFill>
                  <a:srgbClr val="00E5FF"/>
                </a:solidFill>
                <a:latin typeface="JetBrains Mono"/>
              </a:rPr>
              <a:t>[Level 1] </a:t>
            </a:r>
            <a:r>
              <a:rPr sz="1200" b="1">
                <a:solidFill>
                  <a:srgbClr val="FFFFFF"/>
                </a:solidFill>
                <a:latin typeface="Plus Jakarta Sans"/>
              </a:rPr>
              <a:t>Tingkat 1: UDF Skalar</a:t>
            </a:r>
          </a:p>
          <a:p>
            <a:pPr>
              <a:spcBef>
                <a:spcPts val="600"/>
              </a:spcBef>
            </a:pPr>
            <a:r>
              <a:rPr sz="950">
                <a:solidFill>
                  <a:srgbClr val="CBD5E1"/>
                </a:solidFill>
                <a:latin typeface="Inter"/>
              </a:rPr>
              <a:t>• Soal 1: UDF fcCekStatusStok (KOSONG, KRITIS, TERSEDIA)
• Soal 2: UDF fcLevelLoyalitas (PLATINUM, GOLD, SILVER, BRONZE)
• Soal 3: UDF fcFormatRupiah ('Rp. 15.000')</a:t>
            </a:r>
          </a:p>
        </p:txBody>
      </p:sp>
      <p:sp>
        <p:nvSpPr>
          <p:cNvPr id="10" name="Rounded Rectangle 9"/>
          <p:cNvSpPr/>
          <p:nvPr/>
        </p:nvSpPr>
        <p:spPr>
          <a:xfrm>
            <a:off x="3547872" y="1691640"/>
            <a:ext cx="2450592" cy="4206240"/>
          </a:xfrm>
          <a:prstGeom prst="roundRect">
            <a:avLst/>
          </a:prstGeom>
          <a:solidFill>
            <a:srgbClr val="101A34"/>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12464" y="1819656"/>
            <a:ext cx="2121408" cy="3950208"/>
          </a:xfrm>
          <a:prstGeom prst="rect">
            <a:avLst/>
          </a:prstGeom>
          <a:noFill/>
        </p:spPr>
        <p:txBody>
          <a:bodyPr wrap="square">
            <a:spAutoFit/>
          </a:bodyPr>
          <a:lstStyle/>
          <a:p>
            <a:r>
              <a:rPr sz="1050" b="1">
                <a:solidFill>
                  <a:srgbClr val="00E5FF"/>
                </a:solidFill>
                <a:latin typeface="JetBrains Mono"/>
              </a:rPr>
              <a:t>[Level 2] </a:t>
            </a:r>
            <a:r>
              <a:rPr sz="1200" b="1">
                <a:solidFill>
                  <a:srgbClr val="FFFFFF"/>
                </a:solidFill>
                <a:latin typeface="Plus Jakarta Sans"/>
              </a:rPr>
              <a:t>Tingkat 2: Stored Procedure</a:t>
            </a:r>
          </a:p>
          <a:p>
            <a:pPr>
              <a:spcBef>
                <a:spcPts val="600"/>
              </a:spcBef>
            </a:pPr>
            <a:r>
              <a:rPr sz="950">
                <a:solidFill>
                  <a:srgbClr val="CBD5E1"/>
                </a:solidFill>
                <a:latin typeface="Inter"/>
              </a:rPr>
              <a:t>• Soal 4: SP sp_RegistrasiCustomer (Insert + auto umur)
• Soal 5: SP sp_GantiPasswordKasir (Validasi 6 digit)
• Soal 6: SP sp_TotalBelanjaNota (Parameter OUT grand total)</a:t>
            </a:r>
          </a:p>
        </p:txBody>
      </p:sp>
      <p:sp>
        <p:nvSpPr>
          <p:cNvPr id="12" name="Rounded Rectangle 11"/>
          <p:cNvSpPr/>
          <p:nvPr/>
        </p:nvSpPr>
        <p:spPr>
          <a:xfrm>
            <a:off x="6181344" y="1691640"/>
            <a:ext cx="2450592" cy="4206240"/>
          </a:xfrm>
          <a:prstGeom prst="roundRect">
            <a:avLst/>
          </a:prstGeom>
          <a:solidFill>
            <a:srgbClr val="101A34"/>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5936" y="1819656"/>
            <a:ext cx="2121408" cy="3950208"/>
          </a:xfrm>
          <a:prstGeom prst="rect">
            <a:avLst/>
          </a:prstGeom>
          <a:noFill/>
        </p:spPr>
        <p:txBody>
          <a:bodyPr wrap="square">
            <a:spAutoFit/>
          </a:bodyPr>
          <a:lstStyle/>
          <a:p>
            <a:r>
              <a:rPr sz="1050" b="1">
                <a:solidFill>
                  <a:srgbClr val="00E5FF"/>
                </a:solidFill>
                <a:latin typeface="JetBrains Mono"/>
              </a:rPr>
              <a:t>[Level 3] </a:t>
            </a:r>
            <a:r>
              <a:rPr sz="1200" b="1">
                <a:solidFill>
                  <a:srgbClr val="FFFFFF"/>
                </a:solidFill>
                <a:latin typeface="Plus Jakarta Sans"/>
              </a:rPr>
              <a:t>Tingkat 3: CURSOR Loop</a:t>
            </a:r>
          </a:p>
          <a:p>
            <a:pPr>
              <a:spcBef>
                <a:spcPts val="600"/>
              </a:spcBef>
            </a:pPr>
            <a:r>
              <a:rPr sz="950">
                <a:solidFill>
                  <a:srgbClr val="CBD5E1"/>
                </a:solidFill>
                <a:latin typeface="Inter"/>
              </a:rPr>
              <a:t>• Soal 7: SP sp_AkumulasiPoinNota (Loop baris per customer)
• Soal 8: SP sp_LaporanRestokOtomatis (Loop stok &lt; 10)</a:t>
            </a:r>
          </a:p>
        </p:txBody>
      </p:sp>
      <p:sp>
        <p:nvSpPr>
          <p:cNvPr id="14" name="Rounded Rectangle 13"/>
          <p:cNvSpPr/>
          <p:nvPr/>
        </p:nvSpPr>
        <p:spPr>
          <a:xfrm>
            <a:off x="8814816" y="1691640"/>
            <a:ext cx="2450592" cy="4206240"/>
          </a:xfrm>
          <a:prstGeom prst="roundRect">
            <a:avLst/>
          </a:prstGeom>
          <a:solidFill>
            <a:srgbClr val="101A34"/>
          </a:solidFill>
          <a:ln w="1270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79408" y="1819656"/>
            <a:ext cx="2121408" cy="3950208"/>
          </a:xfrm>
          <a:prstGeom prst="rect">
            <a:avLst/>
          </a:prstGeom>
          <a:noFill/>
        </p:spPr>
        <p:txBody>
          <a:bodyPr wrap="square">
            <a:spAutoFit/>
          </a:bodyPr>
          <a:lstStyle/>
          <a:p>
            <a:r>
              <a:rPr sz="1050" b="1">
                <a:solidFill>
                  <a:srgbClr val="00E5FF"/>
                </a:solidFill>
                <a:latin typeface="JetBrains Mono"/>
              </a:rPr>
              <a:t>[Level 4] </a:t>
            </a:r>
            <a:r>
              <a:rPr sz="1200" b="1">
                <a:solidFill>
                  <a:srgbClr val="FFFFFF"/>
                </a:solidFill>
                <a:latin typeface="Plus Jakarta Sans"/>
              </a:rPr>
              <a:t>Tingkat 4: Error Handling</a:t>
            </a:r>
          </a:p>
          <a:p>
            <a:pPr>
              <a:spcBef>
                <a:spcPts val="600"/>
              </a:spcBef>
            </a:pPr>
            <a:r>
              <a:rPr sz="950">
                <a:solidFill>
                  <a:srgbClr val="CBD5E1"/>
                </a:solidFill>
                <a:latin typeface="Inter"/>
              </a:rPr>
              <a:t>• Soal 9: SP sp_BatalNotaTransaksi (Rollback stok + SIGNAL)
• Soal 10: SP sp_AuditKasirProteksi (Catat log ke tabel audit)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11 · PANDUAN ASPRAK</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Pedoman Khusus Dosen &amp; Asisten</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Kunci Jawaban &amp; Panduan Verifikasi Teknis </a:t>
            </a:r>
            <a:r>
              <a:rPr sz="2100" b="1">
                <a:solidFill>
                  <a:srgbClr val="00E5FF"/>
                </a:solidFill>
                <a:latin typeface="Plus Jakarta Sans"/>
              </a:rPr>
              <a:t>🔒 Akses Terproteksi</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658368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28216"/>
            <a:ext cx="4572000" cy="256032"/>
          </a:xfrm>
          <a:prstGeom prst="rect">
            <a:avLst/>
          </a:prstGeom>
          <a:noFill/>
        </p:spPr>
        <p:txBody>
          <a:bodyPr wrap="none">
            <a:spAutoFit/>
          </a:bodyPr>
          <a:lstStyle/>
          <a:p>
            <a:pPr>
              <a:defRPr sz="900">
                <a:solidFill>
                  <a:srgbClr val="38BDF8"/>
                </a:solidFill>
                <a:latin typeface="JetBrains Mono"/>
              </a:defRPr>
            </a:pPr>
            <a:r>
              <a:t>terminal · Solusi Resmi Soal 1 &amp; 7</a:t>
            </a:r>
          </a:p>
        </p:txBody>
      </p:sp>
      <p:sp>
        <p:nvSpPr>
          <p:cNvPr id="13" name="TextBox 12"/>
          <p:cNvSpPr txBox="1"/>
          <p:nvPr/>
        </p:nvSpPr>
        <p:spPr>
          <a:xfrm>
            <a:off x="1051560" y="1984248"/>
            <a:ext cx="6309360" cy="3840480"/>
          </a:xfrm>
          <a:prstGeom prst="rect">
            <a:avLst/>
          </a:prstGeom>
          <a:noFill/>
        </p:spPr>
        <p:txBody>
          <a:bodyPr wrap="square" tIns="18288" bIns="18288" lIns="45720" rIns="45720">
            <a:spAutoFit/>
          </a:bodyPr>
          <a:lstStyle/>
          <a:p>
            <a:pPr>
              <a:spcAft>
                <a:spcPts val="50"/>
              </a:spcAft>
            </a:pPr>
            <a:r>
              <a:rPr sz="800" i="1">
                <a:solidFill>
                  <a:srgbClr val="94A3B8"/>
                </a:solidFill>
                <a:latin typeface="JetBrains Mono"/>
              </a:rPr>
              <a:t>-- KUNCI SOAL 1: fcCekStatusStok</a:t>
            </a:r>
          </a:p>
          <a:p>
            <a:pPr>
              <a:spcAft>
                <a:spcPts val="50"/>
              </a:spcAft>
            </a:pPr>
            <a:r>
              <a:rPr sz="800" b="1">
                <a:solidFill>
                  <a:srgbClr val="00E5FF"/>
                </a:solidFill>
                <a:latin typeface="JetBrains Mono"/>
              </a:rPr>
              <a:t>CREATE</a:t>
            </a:r>
            <a:r>
              <a:rPr sz="800">
                <a:solidFill>
                  <a:srgbClr val="F1F5F9"/>
                </a:solidFill>
                <a:latin typeface="JetBrains Mono"/>
              </a:rPr>
              <a:t> </a:t>
            </a:r>
            <a:r>
              <a:rPr sz="800" b="1">
                <a:solidFill>
                  <a:srgbClr val="00E5FF"/>
                </a:solidFill>
                <a:latin typeface="JetBrains Mono"/>
              </a:rPr>
              <a:t>FUNCTION</a:t>
            </a:r>
            <a:r>
              <a:rPr sz="800">
                <a:solidFill>
                  <a:srgbClr val="F1F5F9"/>
                </a:solidFill>
                <a:latin typeface="JetBrains Mono"/>
              </a:rPr>
              <a:t> </a:t>
            </a:r>
            <a:r>
              <a:rPr sz="800">
                <a:solidFill>
                  <a:srgbClr val="F1F5F9"/>
                </a:solidFill>
                <a:latin typeface="JetBrains Mono"/>
              </a:rPr>
              <a:t>fcCekStatusStok</a:t>
            </a:r>
            <a:r>
              <a:rPr sz="800">
                <a:solidFill>
                  <a:srgbClr val="F1F5F9"/>
                </a:solidFill>
                <a:latin typeface="JetBrains Mono"/>
              </a:rPr>
              <a:t>(</a:t>
            </a:r>
            <a:r>
              <a:rPr sz="800">
                <a:solidFill>
                  <a:srgbClr val="F59E0B"/>
                </a:solidFill>
                <a:latin typeface="JetBrains Mono"/>
              </a:rPr>
              <a:t>p_kodeproduk</a:t>
            </a:r>
            <a:r>
              <a:rPr sz="800">
                <a:solidFill>
                  <a:srgbClr val="F1F5F9"/>
                </a:solidFill>
                <a:latin typeface="JetBrains Mono"/>
              </a:rPr>
              <a:t> </a:t>
            </a:r>
            <a:r>
              <a:rPr sz="800" b="1">
                <a:solidFill>
                  <a:srgbClr val="C084FC"/>
                </a:solidFill>
                <a:latin typeface="JetBrains Mono"/>
              </a:rPr>
              <a:t>CHAR</a:t>
            </a:r>
            <a:r>
              <a:rPr sz="800">
                <a:solidFill>
                  <a:srgbClr val="F1F5F9"/>
                </a:solidFill>
                <a:latin typeface="JetBrains Mono"/>
              </a:rPr>
              <a:t>(</a:t>
            </a:r>
            <a:r>
              <a:rPr sz="800">
                <a:solidFill>
                  <a:srgbClr val="F87171"/>
                </a:solidFill>
                <a:latin typeface="JetBrains Mono"/>
              </a:rPr>
              <a:t>4</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RETURNS</a:t>
            </a:r>
            <a:r>
              <a:rPr sz="800">
                <a:solidFill>
                  <a:srgbClr val="F1F5F9"/>
                </a:solidFill>
                <a:latin typeface="JetBrains Mono"/>
              </a:rPr>
              <a:t> </a:t>
            </a:r>
            <a:r>
              <a:rPr sz="800" b="1">
                <a:solidFill>
                  <a:srgbClr val="C084FC"/>
                </a:solidFill>
                <a:latin typeface="JetBrains Mono"/>
              </a:rPr>
              <a:t>VARCHAR</a:t>
            </a:r>
            <a:r>
              <a:rPr sz="800">
                <a:solidFill>
                  <a:srgbClr val="F1F5F9"/>
                </a:solidFill>
                <a:latin typeface="JetBrains Mono"/>
              </a:rPr>
              <a:t>(</a:t>
            </a:r>
            <a:r>
              <a:rPr sz="800">
                <a:solidFill>
                  <a:srgbClr val="F87171"/>
                </a:solidFill>
                <a:latin typeface="JetBrains Mono"/>
              </a:rPr>
              <a:t>30</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DETERMINISTIC</a:t>
            </a:r>
            <a:r>
              <a:rPr sz="800">
                <a:solidFill>
                  <a:srgbClr val="F1F5F9"/>
                </a:solidFill>
                <a:latin typeface="JetBrains Mono"/>
              </a:rPr>
              <a:t> </a:t>
            </a:r>
            <a:r>
              <a:rPr sz="800" b="1">
                <a:solidFill>
                  <a:srgbClr val="00E5FF"/>
                </a:solidFill>
                <a:latin typeface="JetBrains Mono"/>
              </a:rPr>
              <a:t>READS</a:t>
            </a:r>
            <a:r>
              <a:rPr sz="800">
                <a:solidFill>
                  <a:srgbClr val="F1F5F9"/>
                </a:solidFill>
                <a:latin typeface="JetBrains Mono"/>
              </a:rPr>
              <a:t> </a:t>
            </a:r>
            <a:r>
              <a:rPr sz="800" b="1">
                <a:solidFill>
                  <a:srgbClr val="00E5FF"/>
                </a:solidFill>
                <a:latin typeface="JetBrains Mono"/>
              </a:rPr>
              <a:t>SQL</a:t>
            </a:r>
            <a:r>
              <a:rPr sz="800">
                <a:solidFill>
                  <a:srgbClr val="F1F5F9"/>
                </a:solidFill>
                <a:latin typeface="JetBrains Mono"/>
              </a:rPr>
              <a:t> </a:t>
            </a:r>
            <a:r>
              <a:rPr sz="800" b="1">
                <a:solidFill>
                  <a:srgbClr val="00E5FF"/>
                </a:solidFill>
                <a:latin typeface="JetBrains Mono"/>
              </a:rPr>
              <a:t>DATA</a:t>
            </a:r>
          </a:p>
          <a:p>
            <a:pPr>
              <a:spcAft>
                <a:spcPts val="50"/>
              </a:spcAft>
            </a:pP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DECLARE</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b="1">
                <a:solidFill>
                  <a:srgbClr val="C084FC"/>
                </a:solidFill>
                <a:latin typeface="JetBrains Mono"/>
              </a:rPr>
              <a:t>INT</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DECLARE</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b="1">
                <a:solidFill>
                  <a:srgbClr val="C084FC"/>
                </a:solidFill>
                <a:latin typeface="JetBrains Mono"/>
              </a:rPr>
              <a:t>VARCHAR</a:t>
            </a:r>
            <a:r>
              <a:rPr sz="800">
                <a:solidFill>
                  <a:srgbClr val="F1F5F9"/>
                </a:solidFill>
                <a:latin typeface="JetBrains Mono"/>
              </a:rPr>
              <a:t>(</a:t>
            </a:r>
            <a:r>
              <a:rPr sz="800">
                <a:solidFill>
                  <a:srgbClr val="F87171"/>
                </a:solidFill>
                <a:latin typeface="JetBrains Mono"/>
              </a:rPr>
              <a:t>30</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SELECT</a:t>
            </a:r>
            <a:r>
              <a:rPr sz="800">
                <a:solidFill>
                  <a:srgbClr val="F1F5F9"/>
                </a:solidFill>
                <a:latin typeface="JetBrains Mono"/>
              </a:rPr>
              <a:t> </a:t>
            </a:r>
            <a:r>
              <a:rPr sz="800">
                <a:solidFill>
                  <a:srgbClr val="F1F5F9"/>
                </a:solidFill>
                <a:latin typeface="JetBrains Mono"/>
              </a:rPr>
              <a:t>stok</a:t>
            </a:r>
            <a:r>
              <a:rPr sz="800">
                <a:solidFill>
                  <a:srgbClr val="F1F5F9"/>
                </a:solidFill>
                <a:latin typeface="JetBrains Mono"/>
              </a:rPr>
              <a:t> </a:t>
            </a:r>
            <a:r>
              <a:rPr sz="800" b="1">
                <a:solidFill>
                  <a:srgbClr val="00E5FF"/>
                </a:solidFill>
                <a:latin typeface="JetBrains Mono"/>
              </a:rPr>
              <a:t>INTO</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b="1">
                <a:solidFill>
                  <a:srgbClr val="00E5FF"/>
                </a:solidFill>
                <a:latin typeface="JetBrains Mono"/>
              </a:rPr>
              <a:t>FROM</a:t>
            </a:r>
            <a:r>
              <a:rPr sz="800">
                <a:solidFill>
                  <a:srgbClr val="F1F5F9"/>
                </a:solidFill>
                <a:latin typeface="JetBrains Mono"/>
              </a:rPr>
              <a:t> </a:t>
            </a:r>
            <a:r>
              <a:rPr sz="800">
                <a:solidFill>
                  <a:srgbClr val="F1F5F9"/>
                </a:solidFill>
                <a:latin typeface="JetBrains Mono"/>
              </a:rPr>
              <a:t>produk</a:t>
            </a:r>
            <a:r>
              <a:rPr sz="800">
                <a:solidFill>
                  <a:srgbClr val="F1F5F9"/>
                </a:solidFill>
                <a:latin typeface="JetBrains Mono"/>
              </a:rPr>
              <a:t> </a:t>
            </a:r>
            <a:r>
              <a:rPr sz="800" b="1">
                <a:solidFill>
                  <a:srgbClr val="00E5FF"/>
                </a:solidFill>
                <a:latin typeface="JetBrains Mono"/>
              </a:rPr>
              <a:t>WHERE</a:t>
            </a:r>
            <a:r>
              <a:rPr sz="800">
                <a:solidFill>
                  <a:srgbClr val="F1F5F9"/>
                </a:solidFill>
                <a:latin typeface="JetBrains Mono"/>
              </a:rPr>
              <a:t> </a:t>
            </a:r>
            <a:r>
              <a:rPr sz="800">
                <a:solidFill>
                  <a:srgbClr val="F1F5F9"/>
                </a:solidFill>
                <a:latin typeface="JetBrains Mono"/>
              </a:rPr>
              <a:t>kodeproduk</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p_kodeproduk</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b="1">
                <a:solidFill>
                  <a:srgbClr val="00E5FF"/>
                </a:solidFill>
                <a:latin typeface="JetBrains Mono"/>
              </a:rPr>
              <a:t>IS</a:t>
            </a:r>
            <a:r>
              <a:rPr sz="800">
                <a:solidFill>
                  <a:srgbClr val="F1F5F9"/>
                </a:solidFill>
                <a:latin typeface="JetBrains Mono"/>
              </a:rPr>
              <a:t> </a:t>
            </a:r>
            <a:r>
              <a:rPr sz="800" b="1">
                <a:solidFill>
                  <a:srgbClr val="00E5FF"/>
                </a:solidFill>
                <a:latin typeface="JetBrains Mono"/>
              </a:rPr>
              <a:t>NULL</a:t>
            </a:r>
            <a:r>
              <a:rPr sz="800">
                <a:solidFill>
                  <a:srgbClr val="F1F5F9"/>
                </a:solidFill>
                <a:latin typeface="JetBrains Mono"/>
              </a:rPr>
              <a:t> </a:t>
            </a:r>
            <a:r>
              <a:rPr sz="800" b="1">
                <a:solidFill>
                  <a:srgbClr val="00E5FF"/>
                </a:solidFill>
                <a:latin typeface="JetBrains Mono"/>
              </a:rPr>
              <a:t>THEN</a:t>
            </a: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'PRODUK TIDAK ADA'</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ELSEIF</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 </a:t>
            </a:r>
            <a:r>
              <a:rPr sz="800" b="1">
                <a:solidFill>
                  <a:srgbClr val="00E5FF"/>
                </a:solidFill>
                <a:latin typeface="JetBrains Mono"/>
              </a:rPr>
              <a:t>THEN</a:t>
            </a: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'KOSONG'</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ELSEIF</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a:solidFill>
                  <a:srgbClr val="F1F5F9"/>
                </a:solidFill>
                <a:latin typeface="JetBrains Mono"/>
              </a:rPr>
              <a:t>&lt;=</a:t>
            </a:r>
            <a:r>
              <a:rPr sz="800">
                <a:solidFill>
                  <a:srgbClr val="F1F5F9"/>
                </a:solidFill>
                <a:latin typeface="JetBrains Mono"/>
              </a:rPr>
              <a:t> </a:t>
            </a:r>
            <a:r>
              <a:rPr sz="800">
                <a:solidFill>
                  <a:srgbClr val="F87171"/>
                </a:solidFill>
                <a:latin typeface="JetBrains Mono"/>
              </a:rPr>
              <a:t>5</a:t>
            </a:r>
            <a:r>
              <a:rPr sz="800">
                <a:solidFill>
                  <a:srgbClr val="F1F5F9"/>
                </a:solidFill>
                <a:latin typeface="JetBrains Mono"/>
              </a:rPr>
              <a:t> </a:t>
            </a:r>
            <a:r>
              <a:rPr sz="800" b="1">
                <a:solidFill>
                  <a:srgbClr val="00E5FF"/>
                </a:solidFill>
                <a:latin typeface="JetBrains Mono"/>
              </a:rPr>
              <a:t>THEN</a:t>
            </a: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'KRITIS'</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ELSE</a:t>
            </a: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CONCAT</a:t>
            </a:r>
            <a:r>
              <a:rPr sz="800">
                <a:solidFill>
                  <a:srgbClr val="F1F5F9"/>
                </a:solidFill>
                <a:latin typeface="JetBrains Mono"/>
              </a:rPr>
              <a:t>('</a:t>
            </a:r>
            <a:r>
              <a:rPr sz="800">
                <a:solidFill>
                  <a:srgbClr val="F1F5F9"/>
                </a:solidFill>
                <a:latin typeface="JetBrains Mono"/>
              </a:rPr>
              <a:t>TERSEDIA</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 Unit)'</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1F5F9"/>
                </a:solidFill>
                <a:latin typeface="JetBrains Mono"/>
              </a:rPr>
              <a:t>RETURN</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a:t>
            </a:r>
          </a:p>
          <a:p>
            <a:pPr>
              <a:spcAft>
                <a:spcPts val="50"/>
              </a:spcAft>
            </a:pPr>
            <a:r>
              <a:rPr sz="800" b="1">
                <a:solidFill>
                  <a:srgbClr val="00E5FF"/>
                </a:solidFill>
                <a:latin typeface="JetBrains Mono"/>
              </a:rPr>
              <a:t>END</a:t>
            </a:r>
            <a:r>
              <a:rPr sz="800">
                <a:solidFill>
                  <a:srgbClr val="F1F5F9"/>
                </a:solidFill>
                <a:latin typeface="JetBrains Mono"/>
              </a:rPr>
              <a:t>;</a:t>
            </a:r>
          </a:p>
          <a:p>
            <a:pPr>
              <a:spcAft>
                <a:spcPts val="50"/>
              </a:spcAft>
            </a:pPr>
            <a:r>
              <a:t> </a:t>
            </a:r>
          </a:p>
          <a:p>
            <a:pPr>
              <a:spcAft>
                <a:spcPts val="50"/>
              </a:spcAft>
            </a:pPr>
            <a:r>
              <a:rPr sz="800" i="1">
                <a:solidFill>
                  <a:srgbClr val="94A3B8"/>
                </a:solidFill>
                <a:latin typeface="JetBrains Mono"/>
              </a:rPr>
              <a:t>-- KUNCI SOAL 7: sp_AkumulasiPoinNota (CURSOR)</a:t>
            </a:r>
          </a:p>
          <a:p>
            <a:pPr>
              <a:spcAft>
                <a:spcPts val="50"/>
              </a:spcAft>
            </a:pPr>
            <a:r>
              <a:rPr sz="800" b="1">
                <a:solidFill>
                  <a:srgbClr val="00E5FF"/>
                </a:solidFill>
                <a:latin typeface="JetBrains Mono"/>
              </a:rPr>
              <a:t>CREATE</a:t>
            </a:r>
            <a:r>
              <a:rPr sz="800">
                <a:solidFill>
                  <a:srgbClr val="F1F5F9"/>
                </a:solidFill>
                <a:latin typeface="JetBrains Mono"/>
              </a:rPr>
              <a:t> </a:t>
            </a:r>
            <a:r>
              <a:rPr sz="800" b="1">
                <a:solidFill>
                  <a:srgbClr val="00E5FF"/>
                </a:solidFill>
                <a:latin typeface="JetBrains Mono"/>
              </a:rPr>
              <a:t>PROCEDURE</a:t>
            </a:r>
            <a:r>
              <a:rPr sz="800">
                <a:solidFill>
                  <a:srgbClr val="F1F5F9"/>
                </a:solidFill>
                <a:latin typeface="JetBrains Mono"/>
              </a:rPr>
              <a:t> </a:t>
            </a:r>
            <a:r>
              <a:rPr sz="800">
                <a:solidFill>
                  <a:srgbClr val="F1F5F9"/>
                </a:solidFill>
                <a:latin typeface="JetBrains Mono"/>
              </a:rPr>
              <a:t>sp_HitungTotalBelanjaKasir</a:t>
            </a:r>
            <a:r>
              <a:rPr sz="800">
                <a:solidFill>
                  <a:srgbClr val="F1F5F9"/>
                </a:solidFill>
                <a:latin typeface="JetBrains Mono"/>
              </a:rPr>
              <a:t>(</a:t>
            </a:r>
            <a:r>
              <a:rPr sz="800">
                <a:solidFill>
                  <a:srgbClr val="F1F5F9"/>
                </a:solidFill>
                <a:latin typeface="JetBrains Mono"/>
              </a:rPr>
              <a:t>IN</a:t>
            </a:r>
            <a:r>
              <a:rPr sz="800">
                <a:solidFill>
                  <a:srgbClr val="F1F5F9"/>
                </a:solidFill>
                <a:latin typeface="JetBrains Mono"/>
              </a:rPr>
              <a:t> </a:t>
            </a:r>
            <a:r>
              <a:rPr sz="800">
                <a:solidFill>
                  <a:srgbClr val="F59E0B"/>
                </a:solidFill>
                <a:latin typeface="JetBrains Mono"/>
              </a:rPr>
              <a:t>p_KodeKasir</a:t>
            </a:r>
            <a:r>
              <a:rPr sz="800">
                <a:solidFill>
                  <a:srgbClr val="F1F5F9"/>
                </a:solidFill>
                <a:latin typeface="JetBrains Mono"/>
              </a:rPr>
              <a:t> </a:t>
            </a:r>
            <a:r>
              <a:rPr sz="800" b="1">
                <a:solidFill>
                  <a:srgbClr val="C084FC"/>
                </a:solidFill>
                <a:latin typeface="JetBrains Mono"/>
              </a:rPr>
              <a:t>CHAR</a:t>
            </a:r>
            <a:r>
              <a:rPr sz="800">
                <a:solidFill>
                  <a:srgbClr val="F1F5F9"/>
                </a:solidFill>
                <a:latin typeface="JetBrains Mono"/>
              </a:rPr>
              <a:t>(</a:t>
            </a:r>
            <a:r>
              <a:rPr sz="800">
                <a:solidFill>
                  <a:srgbClr val="F87171"/>
                </a:solidFill>
                <a:latin typeface="JetBrains Mono"/>
              </a:rPr>
              <a:t>3</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OUT</a:t>
            </a:r>
            <a:r>
              <a:rPr sz="800">
                <a:solidFill>
                  <a:srgbClr val="F1F5F9"/>
                </a:solidFill>
                <a:latin typeface="JetBrains Mono"/>
              </a:rPr>
              <a:t> </a:t>
            </a:r>
            <a:r>
              <a:rPr sz="800">
                <a:solidFill>
                  <a:srgbClr val="F59E0B"/>
                </a:solidFill>
                <a:latin typeface="JetBrains Mono"/>
              </a:rPr>
              <a:t>p_GrandTotal</a:t>
            </a:r>
            <a:r>
              <a:rPr sz="800">
                <a:solidFill>
                  <a:srgbClr val="F1F5F9"/>
                </a:solidFill>
                <a:latin typeface="JetBrains Mono"/>
              </a:rPr>
              <a:t> </a:t>
            </a:r>
            <a:r>
              <a:rPr sz="800" b="1">
                <a:solidFill>
                  <a:srgbClr val="C084FC"/>
                </a:solidFill>
                <a:latin typeface="JetBrains Mono"/>
              </a:rPr>
              <a:t>INT</a:t>
            </a:r>
            <a:r>
              <a:rPr sz="800">
                <a:solidFill>
                  <a:srgbClr val="F1F5F9"/>
                </a:solidFill>
                <a:latin typeface="JetBrains Mono"/>
              </a:rPr>
              <a:t>)</a:t>
            </a:r>
          </a:p>
          <a:p>
            <a:pPr>
              <a:spcAft>
                <a:spcPts val="50"/>
              </a:spcAft>
            </a:pP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SELECT</a:t>
            </a:r>
            <a:r>
              <a:rPr sz="800">
                <a:solidFill>
                  <a:srgbClr val="F1F5F9"/>
                </a:solidFill>
                <a:latin typeface="JetBrains Mono"/>
              </a:rPr>
              <a:t> </a:t>
            </a:r>
            <a:r>
              <a:rPr sz="800" b="1">
                <a:solidFill>
                  <a:srgbClr val="00E5FF"/>
                </a:solidFill>
                <a:latin typeface="JetBrains Mono"/>
              </a:rPr>
              <a:t>COALESCE</a:t>
            </a:r>
            <a:r>
              <a:rPr sz="800">
                <a:solidFill>
                  <a:srgbClr val="F1F5F9"/>
                </a:solidFill>
                <a:latin typeface="JetBrains Mono"/>
              </a:rPr>
              <a:t>(</a:t>
            </a:r>
            <a:r>
              <a:rPr sz="800" b="1">
                <a:solidFill>
                  <a:srgbClr val="00E5FF"/>
                </a:solidFill>
                <a:latin typeface="JetBrains Mono"/>
              </a:rPr>
              <a:t>SUM</a:t>
            </a:r>
            <a:r>
              <a:rPr sz="800">
                <a:solidFill>
                  <a:srgbClr val="F1F5F9"/>
                </a:solidFill>
                <a:latin typeface="JetBrains Mono"/>
              </a:rPr>
              <a:t>(</a:t>
            </a:r>
            <a:r>
              <a:rPr sz="800">
                <a:solidFill>
                  <a:srgbClr val="F1F5F9"/>
                </a:solidFill>
                <a:latin typeface="JetBrains Mono"/>
              </a:rPr>
              <a:t>i</a:t>
            </a:r>
            <a:r>
              <a:rPr sz="800">
                <a:solidFill>
                  <a:srgbClr val="F1F5F9"/>
                </a:solidFill>
                <a:latin typeface="JetBrains Mono"/>
              </a:rPr>
              <a:t>.</a:t>
            </a:r>
            <a:r>
              <a:rPr sz="800">
                <a:solidFill>
                  <a:srgbClr val="F1F5F9"/>
                </a:solidFill>
                <a:latin typeface="JetBrains Mono"/>
              </a:rPr>
              <a:t>banyak</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i</a:t>
            </a:r>
            <a:r>
              <a:rPr sz="800">
                <a:solidFill>
                  <a:srgbClr val="F1F5F9"/>
                </a:solidFill>
                <a:latin typeface="JetBrains Mono"/>
              </a:rPr>
              <a:t>.</a:t>
            </a:r>
            <a:r>
              <a:rPr sz="800">
                <a:solidFill>
                  <a:srgbClr val="F1F5F9"/>
                </a:solidFill>
                <a:latin typeface="JetBrains Mono"/>
              </a:rPr>
              <a:t>hargajual</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INTO</a:t>
            </a:r>
            <a:r>
              <a:rPr sz="800">
                <a:solidFill>
                  <a:srgbClr val="F1F5F9"/>
                </a:solidFill>
                <a:latin typeface="JetBrains Mono"/>
              </a:rPr>
              <a:t> </a:t>
            </a:r>
            <a:r>
              <a:rPr sz="800">
                <a:solidFill>
                  <a:srgbClr val="F59E0B"/>
                </a:solidFill>
                <a:latin typeface="JetBrains Mono"/>
              </a:rPr>
              <a:t>p_GrandTotal</a:t>
            </a:r>
          </a:p>
          <a:p>
            <a:pPr>
              <a:spcAft>
                <a:spcPts val="50"/>
              </a:spcAft>
            </a:pPr>
            <a:r>
              <a:rPr sz="800">
                <a:solidFill>
                  <a:srgbClr val="F1F5F9"/>
                </a:solidFill>
                <a:latin typeface="JetBrains Mono"/>
              </a:rPr>
              <a:t>    </a:t>
            </a:r>
            <a:r>
              <a:rPr sz="800" b="1">
                <a:solidFill>
                  <a:srgbClr val="00E5FF"/>
                </a:solidFill>
                <a:latin typeface="JetBrains Mono"/>
              </a:rPr>
              <a:t>FROM</a:t>
            </a:r>
            <a:r>
              <a:rPr sz="800">
                <a:solidFill>
                  <a:srgbClr val="F1F5F9"/>
                </a:solidFill>
                <a:latin typeface="JetBrains Mono"/>
              </a:rPr>
              <a:t> </a:t>
            </a:r>
            <a:r>
              <a:rPr sz="800">
                <a:solidFill>
                  <a:srgbClr val="F1F5F9"/>
                </a:solidFill>
                <a:latin typeface="JetBrains Mono"/>
              </a:rPr>
              <a:t>nota</a:t>
            </a:r>
            <a:r>
              <a:rPr sz="800">
                <a:solidFill>
                  <a:srgbClr val="F1F5F9"/>
                </a:solidFill>
                <a:latin typeface="JetBrains Mono"/>
              </a:rPr>
              <a:t> </a:t>
            </a:r>
            <a:r>
              <a:rPr sz="800">
                <a:solidFill>
                  <a:srgbClr val="F1F5F9"/>
                </a:solidFill>
                <a:latin typeface="JetBrains Mono"/>
              </a:rPr>
              <a:t>n</a:t>
            </a:r>
            <a:r>
              <a:rPr sz="800">
                <a:solidFill>
                  <a:srgbClr val="F1F5F9"/>
                </a:solidFill>
                <a:latin typeface="JetBrains Mono"/>
              </a:rPr>
              <a:t> </a:t>
            </a:r>
            <a:r>
              <a:rPr sz="800">
                <a:solidFill>
                  <a:srgbClr val="F1F5F9"/>
                </a:solidFill>
                <a:latin typeface="JetBrains Mono"/>
              </a:rPr>
              <a:t>JOIN</a:t>
            </a:r>
            <a:r>
              <a:rPr sz="800">
                <a:solidFill>
                  <a:srgbClr val="F1F5F9"/>
                </a:solidFill>
                <a:latin typeface="JetBrains Mono"/>
              </a:rPr>
              <a:t> </a:t>
            </a:r>
            <a:r>
              <a:rPr sz="800">
                <a:solidFill>
                  <a:srgbClr val="F1F5F9"/>
                </a:solidFill>
                <a:latin typeface="JetBrains Mono"/>
              </a:rPr>
              <a:t>itemnota</a:t>
            </a:r>
            <a:r>
              <a:rPr sz="800">
                <a:solidFill>
                  <a:srgbClr val="F1F5F9"/>
                </a:solidFill>
                <a:latin typeface="JetBrains Mono"/>
              </a:rPr>
              <a:t> </a:t>
            </a:r>
            <a:r>
              <a:rPr sz="800">
                <a:solidFill>
                  <a:srgbClr val="F1F5F9"/>
                </a:solidFill>
                <a:latin typeface="JetBrains Mono"/>
              </a:rPr>
              <a:t>i</a:t>
            </a:r>
            <a:r>
              <a:rPr sz="800">
                <a:solidFill>
                  <a:srgbClr val="F1F5F9"/>
                </a:solidFill>
                <a:latin typeface="JetBrains Mono"/>
              </a:rPr>
              <a:t> </a:t>
            </a:r>
            <a:r>
              <a:rPr sz="800" b="1">
                <a:solidFill>
                  <a:srgbClr val="00E5FF"/>
                </a:solidFill>
                <a:latin typeface="JetBrains Mono"/>
              </a:rPr>
              <a:t>ON</a:t>
            </a:r>
            <a:r>
              <a:rPr sz="800">
                <a:solidFill>
                  <a:srgbClr val="F1F5F9"/>
                </a:solidFill>
                <a:latin typeface="JetBrains Mono"/>
              </a:rPr>
              <a:t> </a:t>
            </a:r>
            <a:r>
              <a:rPr sz="800">
                <a:solidFill>
                  <a:srgbClr val="F1F5F9"/>
                </a:solidFill>
                <a:latin typeface="JetBrains Mono"/>
              </a:rPr>
              <a:t>n</a:t>
            </a:r>
            <a:r>
              <a:rPr sz="800">
                <a:solidFill>
                  <a:srgbClr val="F1F5F9"/>
                </a:solidFill>
                <a:latin typeface="JetBrains Mono"/>
              </a:rPr>
              <a:t>.</a:t>
            </a:r>
            <a:r>
              <a:rPr sz="800">
                <a:solidFill>
                  <a:srgbClr val="F1F5F9"/>
                </a:solidFill>
                <a:latin typeface="JetBrains Mono"/>
              </a:rPr>
              <a:t>Nonota</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i</a:t>
            </a:r>
            <a:r>
              <a:rPr sz="800">
                <a:solidFill>
                  <a:srgbClr val="F1F5F9"/>
                </a:solidFill>
                <a:latin typeface="JetBrains Mono"/>
              </a:rPr>
              <a:t>.</a:t>
            </a:r>
            <a:r>
              <a:rPr sz="800">
                <a:solidFill>
                  <a:srgbClr val="F1F5F9"/>
                </a:solidFill>
                <a:latin typeface="JetBrains Mono"/>
              </a:rPr>
              <a:t>Nonota</a:t>
            </a:r>
            <a:r>
              <a:rPr sz="800">
                <a:solidFill>
                  <a:srgbClr val="F1F5F9"/>
                </a:solidFill>
                <a:latin typeface="JetBrains Mono"/>
              </a:rPr>
              <a:t> </a:t>
            </a:r>
            <a:r>
              <a:rPr sz="800" b="1">
                <a:solidFill>
                  <a:srgbClr val="00E5FF"/>
                </a:solidFill>
                <a:latin typeface="JetBrains Mono"/>
              </a:rPr>
              <a:t>WHERE</a:t>
            </a:r>
            <a:r>
              <a:rPr sz="800">
                <a:solidFill>
                  <a:srgbClr val="F1F5F9"/>
                </a:solidFill>
                <a:latin typeface="JetBrains Mono"/>
              </a:rPr>
              <a:t> </a:t>
            </a:r>
            <a:r>
              <a:rPr sz="800">
                <a:solidFill>
                  <a:srgbClr val="F1F5F9"/>
                </a:solidFill>
                <a:latin typeface="JetBrains Mono"/>
              </a:rPr>
              <a:t>n</a:t>
            </a:r>
            <a:r>
              <a:rPr sz="800">
                <a:solidFill>
                  <a:srgbClr val="F1F5F9"/>
                </a:solidFill>
                <a:latin typeface="JetBrains Mono"/>
              </a:rPr>
              <a:t>.</a:t>
            </a:r>
            <a:r>
              <a:rPr sz="800">
                <a:solidFill>
                  <a:srgbClr val="F1F5F9"/>
                </a:solidFill>
                <a:latin typeface="JetBrains Mono"/>
              </a:rPr>
              <a:t>KodeKasir</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p_KodeKasir</a:t>
            </a:r>
            <a:r>
              <a:rPr sz="800">
                <a:solidFill>
                  <a:srgbClr val="F1F5F9"/>
                </a:solidFill>
                <a:latin typeface="JetBrains Mono"/>
              </a:rPr>
              <a:t>;</a:t>
            </a:r>
          </a:p>
          <a:p>
            <a:pPr>
              <a:spcAft>
                <a:spcPts val="50"/>
              </a:spcAft>
            </a:pPr>
            <a:r>
              <a:rPr sz="800" b="1">
                <a:solidFill>
                  <a:srgbClr val="00E5FF"/>
                </a:solidFill>
                <a:latin typeface="JetBrains Mono"/>
              </a:rPr>
              <a:t>END</a:t>
            </a:r>
            <a:r>
              <a:rPr sz="800">
                <a:solidFill>
                  <a:srgbClr val="F1F5F9"/>
                </a:solidFill>
                <a:latin typeface="JetBrains Mono"/>
              </a:rPr>
              <a:t>;</a:t>
            </a:r>
          </a:p>
        </p:txBody>
      </p:sp>
      <p:sp>
        <p:nvSpPr>
          <p:cNvPr id="14" name="Rounded Rectangle 13"/>
          <p:cNvSpPr/>
          <p:nvPr/>
        </p:nvSpPr>
        <p:spPr>
          <a:xfrm>
            <a:off x="7680960" y="169164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45552" y="1819656"/>
            <a:ext cx="3236976" cy="1755648"/>
          </a:xfrm>
          <a:prstGeom prst="rect">
            <a:avLst/>
          </a:prstGeom>
          <a:noFill/>
        </p:spPr>
        <p:txBody>
          <a:bodyPr wrap="square">
            <a:spAutoFit/>
          </a:bodyPr>
          <a:lstStyle/>
          <a:p>
            <a:r>
              <a:rPr sz="1200" b="1">
                <a:solidFill>
                  <a:srgbClr val="FFFFFF"/>
                </a:solidFill>
                <a:latin typeface="Plus Jakarta Sans"/>
              </a:rPr>
              <a:t>Kriteria Penilaian</a:t>
            </a:r>
          </a:p>
          <a:p>
            <a:pPr>
              <a:spcBef>
                <a:spcPts val="600"/>
              </a:spcBef>
            </a:pPr>
            <a:r>
              <a:rPr sz="950">
                <a:solidFill>
                  <a:srgbClr val="CBD5E1"/>
                </a:solidFill>
                <a:latin typeface="Inter"/>
              </a:rPr>
              <a:t>1. Fungsionalitas kueri (40%)
2. Penanganan kondisi batas NULL/0 (20%)
3. Struktur kontrol &amp; efisiensi kursor (20%)
4. Keamanan transaksi &amp; integritas DML (20%)</a:t>
            </a:r>
          </a:p>
        </p:txBody>
      </p:sp>
      <p:sp>
        <p:nvSpPr>
          <p:cNvPr id="16" name="Rounded Rectangle 15"/>
          <p:cNvSpPr/>
          <p:nvPr/>
        </p:nvSpPr>
        <p:spPr>
          <a:xfrm>
            <a:off x="7680960" y="388620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45552" y="4014216"/>
            <a:ext cx="3236976" cy="1755648"/>
          </a:xfrm>
          <a:prstGeom prst="rect">
            <a:avLst/>
          </a:prstGeom>
          <a:noFill/>
        </p:spPr>
        <p:txBody>
          <a:bodyPr wrap="square">
            <a:spAutoFit/>
          </a:bodyPr>
          <a:lstStyle/>
          <a:p>
            <a:r>
              <a:rPr sz="1200" b="1">
                <a:solidFill>
                  <a:srgbClr val="FFFFFF"/>
                </a:solidFill>
                <a:latin typeface="Plus Jakarta Sans"/>
              </a:rPr>
              <a:t>Rubrik Pengujian Lab</a:t>
            </a:r>
          </a:p>
          <a:p>
            <a:pPr>
              <a:spcBef>
                <a:spcPts val="600"/>
              </a:spcBef>
            </a:pPr>
            <a:r>
              <a:rPr sz="950">
                <a:solidFill>
                  <a:srgbClr val="CBD5E1"/>
                </a:solidFill>
                <a:latin typeface="Inter"/>
              </a:rPr>
              <a:t>Gunakan dataset 'minimarket_db.sql'. Lakukan pengujian dengan menginputkan produk dengan stok 0, stok 3, dan produk yang tidak terdaftar di tabel.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